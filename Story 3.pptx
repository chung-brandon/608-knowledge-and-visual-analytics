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Ex2.xml" ContentType="application/vnd.ms-office.chartex+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Ex3.xml" ContentType="application/vnd.ms-office.chartex+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59" r:id="rId5"/>
    <p:sldId id="263" r:id="rId6"/>
    <p:sldId id="26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209" autoAdjust="0"/>
  </p:normalViewPr>
  <p:slideViewPr>
    <p:cSldViewPr snapToGrid="0">
      <p:cViewPr varScale="1">
        <p:scale>
          <a:sx n="63" d="100"/>
          <a:sy n="63" d="100"/>
        </p:scale>
        <p:origin x="14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xlsx"/></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_rels/chartEx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Sheet1!$A$2:$A$26</cx:f>
        <cx:lvl ptCount="25">
          <cx:pt idx="0">MS</cx:pt>
          <cx:pt idx="1">LA</cx:pt>
          <cx:pt idx="2">AL</cx:pt>
          <cx:pt idx="3">NM</cx:pt>
          <cx:pt idx="4">AK</cx:pt>
          <cx:pt idx="5">TN</cx:pt>
          <cx:pt idx="6">AR</cx:pt>
          <cx:pt idx="7">MT</cx:pt>
          <cx:pt idx="8">WY</cx:pt>
          <cx:pt idx="9">MO</cx:pt>
          <cx:pt idx="10">OK</cx:pt>
          <cx:pt idx="11">SC</cx:pt>
          <cx:pt idx="12">GA</cx:pt>
          <cx:pt idx="13">AZ</cx:pt>
          <cx:pt idx="14">KY</cx:pt>
          <cx:pt idx="15">NV</cx:pt>
          <cx:pt idx="16">IN</cx:pt>
          <cx:pt idx="17">ID</cx:pt>
          <cx:pt idx="18">WV</cx:pt>
          <cx:pt idx="19">CO</cx:pt>
          <cx:pt idx="20">NC</cx:pt>
          <cx:pt idx="21">KS</cx:pt>
          <cx:pt idx="22">OH</cx:pt>
          <cx:pt idx="23">TX</cx:pt>
          <cx:pt idx="24">UT</cx:pt>
        </cx:lvl>
      </cx:strDim>
      <cx:numDim type="colorVal">
        <cx:f>Sheet1!$B$2:$B$26</cx:f>
        <cx:nf>Sheet1!$B$1</cx:nf>
        <cx:lvl ptCount="25" formatCode="General" name="Mortality Rate">
          <cx:pt idx="0">29.399999999999999</cx:pt>
          <cx:pt idx="1">28.300000000000001</cx:pt>
          <cx:pt idx="2">25.600000000000001</cx:pt>
          <cx:pt idx="3">25.300000000000001</cx:pt>
          <cx:pt idx="4">23.5</cx:pt>
          <cx:pt idx="5">22</cx:pt>
          <cx:pt idx="6">21.899999999999999</cx:pt>
          <cx:pt idx="7">21.5</cx:pt>
          <cx:pt idx="8">21.5</cx:pt>
          <cx:pt idx="9">21.399999999999999</cx:pt>
          <cx:pt idx="10">19.899999999999999</cx:pt>
          <cx:pt idx="11">19.100000000000001</cx:pt>
          <cx:pt idx="12">18.600000000000001</cx:pt>
          <cx:pt idx="13">18.5</cx:pt>
          <cx:pt idx="14">18.399999999999999</cx:pt>
          <cx:pt idx="15">18.399999999999999</cx:pt>
          <cx:pt idx="16">18.300000000000001</cx:pt>
          <cx:pt idx="17">17.899999999999999</cx:pt>
          <cx:pt idx="18">16.800000000000001</cx:pt>
          <cx:pt idx="19">16.600000000000001</cx:pt>
          <cx:pt idx="20">16.399999999999999</cx:pt>
          <cx:pt idx="21">16.300000000000001</cx:pt>
          <cx:pt idx="22">15</cx:pt>
          <cx:pt idx="23">14.9</cx:pt>
          <cx:pt idx="24">14.800000000000001</cx:pt>
        </cx:lvl>
      </cx:numDim>
    </cx:data>
  </cx:chartData>
  <cx:chart>
    <cx:title pos="t" align="ctr" overlay="0">
      <cx:tx>
        <cx:rich>
          <a:bodyPr spcFirstLastPara="1" vertOverflow="ellipsis" horzOverflow="overflow" wrap="square" lIns="0" tIns="0" rIns="0" bIns="0" anchor="ctr" anchorCtr="1"/>
          <a:lstStyle/>
          <a:p>
            <a:pPr algn="ctr" rtl="0">
              <a:defRPr/>
            </a:pPr>
            <a:r>
              <a:rPr lang="en-US" sz="1862" b="0" i="0" u="none" strike="noStrike" baseline="0" dirty="0">
                <a:solidFill>
                  <a:prstClr val="black">
                    <a:lumMod val="65000"/>
                    <a:lumOff val="35000"/>
                  </a:prstClr>
                </a:solidFill>
                <a:latin typeface="Calibri" panose="020F0502020204030204"/>
              </a:rPr>
              <a:t>State Firearms Mortality Rate </a:t>
            </a:r>
            <a:r>
              <a:rPr lang="en-US" sz="1862" b="0" i="0" u="none" strike="noStrike" baseline="0" dirty="0">
                <a:solidFill>
                  <a:prstClr val="black">
                    <a:lumMod val="65000"/>
                    <a:lumOff val="35000"/>
                  </a:prstClr>
                </a:solidFill>
                <a:effectLst/>
                <a:latin typeface="Calibri" panose="020F0502020204030204"/>
                <a:ea typeface="Calibri" panose="020F0502020204030204" pitchFamily="34" charset="0"/>
                <a:cs typeface="Calibri" panose="020F0502020204030204" pitchFamily="34" charset="0"/>
              </a:rPr>
              <a:t>(per 100k persons) -</a:t>
            </a:r>
            <a:r>
              <a:rPr lang="en-US" sz="1862" b="0" i="0" u="none" strike="noStrike" baseline="0" dirty="0">
                <a:solidFill>
                  <a:prstClr val="black">
                    <a:lumMod val="65000"/>
                    <a:lumOff val="35000"/>
                  </a:prstClr>
                </a:solidFill>
                <a:latin typeface="Calibri" panose="020F0502020204030204"/>
              </a:rPr>
              <a:t> 2023</a:t>
            </a:r>
          </a:p>
        </cx:rich>
      </cx:tx>
    </cx:title>
    <cx:plotArea>
      <cx:plotAreaRegion>
        <cx:plotSurface>
          <cx:spPr>
            <a:solidFill>
              <a:schemeClr val="bg1"/>
            </a:solidFill>
          </cx:spPr>
        </cx:plotSurface>
        <cx:series layoutId="regionMap" uniqueId="{A52278CA-D1E7-484F-A8B9-DD39113537FB}">
          <cx:tx>
            <cx:txData>
              <cx:f>Sheet1!$B$1</cx:f>
              <cx:v>Mortality Rate</cx:v>
            </cx:txData>
          </cx:tx>
          <cx:dataLabels>
            <cx:visibility seriesName="0" categoryName="0" value="1"/>
          </cx:dataLabels>
          <cx:dataId val="0"/>
          <cx:layoutPr>
            <cx:geography cultureLanguage="en-US" cultureRegion="US" attribution="Powered by Bing">
              <cx:geoCache provider="{E9337A44-BEBE-4D9F-B70C-5C5E7DAFC167}">
                <cx:binary>3HxpU9zI0u5fcfjzFVN7qU6ceSNG6o1uaAPGGPuLoo1BKqmk0r79+ptiM/RwmGO/jhvB7SCMaXV1
KeupzHxyKf37qv/Xlbnele/61GTVv676P99HdZ3/648/qqvoOt1VB6m+Km1lb+qDK5v+YW9u9NX1
H9/LXaez8A+CMPvjKtqV9XX//n/+Dd8WXtsje7Wrtc1Om+tyOLuuGlNXr1x78dK73fdUZzNd1aW+
qvGf7zdf3r+7zmpdD+dDfv3n+2fX37/7Y/9b/jbjOwM3VTffYSyVB5xI4gpO1O3Lff/O2Cy8v+y4
/IC4UkqKKbp98Ye5t7sUxm/gRpqrZHh496U7ur2f3ffv5XVVgTC3v5+OfHb/d+Jd2SarpxULYfH+
fP8p0/X193cf6119Xb1/pyvr333At5MQnz7eSv3H8zX/n3/vvQHrsPfOE1j2F+2fLv0NlWO4id+G
CjmQBLnS5XegKLWHijoQXBDECLlDRTzMfYfKsa6q6SfP9cOF/x6YZ4P3sJmEfIPYfDp/bRl+UmPU
ASVUSkH43dqT59hgjA+EdAkhYg+VT/Uueu0+XtaTu1F7OEwCvUEcjv56Tf6fxAEdKBcjJAS+V5Ln
OCh84CoMOLjo7jp7mPtOR45soyu9y3YPb//3GvJk6B4uk4BvEJe/jl5bhJ/EBWyXEGCZiHwOiCsO
XIYoJeje1YBRuzOYd4D8ZXbfdukvwPE4cA+MSao3CMbxbzRWTB7AinOsJLszVvQ5JhiBJ2EcE0H3
1OPYZvUvKcfjwD00JrHeIBrb44dd+pJ9+EnVYAeMYCoxE/8BDXGAkUsVcvHDrHe6sb3u3h1f9/rK
Prz/0t287ECejt3DZBLuDWLy1+a1Vfg5TAQ7wIwxicgPN/GUAGNODohULgM38zDro72qkl8zV7fj
9rCYhHqDWJxvH1blpR35c1hQDh4CnANy3RepFXgQyigRGMjx7WtPS86vswxijOvr127pZSV5MnQP
l0nAN4jLX2evLcJP4sKASikXUXwfj+wFiYocMKow5/wet70g8a8y2WXVrnrtjl6G5cfIPVQm8d4g
KpvfGSS6B8xlkigpH7XhqeVS7gF1EQbY7lEDPvaUb21+EZOHcXuITKK9QUQ+f3lYlf+9/WLkAEIN
AQbqZT3BCLItHNwNRI53McnD3Hce5fNgIdMTPrz50g29rCaPA/cwmYR7g5gcf3htCX7SdoEWCAmG
iUGsOL32wvXJdkF6S2JyH0bu2a4pG2KbUr92Ry+D8mPkHiqTeG8QlQ+/kXWBp+cuZUzc51AQePJn
tgsUBYgwQlI+BvdPbdeHxOwi+yvB4o+Re6hM4r1BVD76r+3Mn9QVeqAQVRCj3OsKfY6Ki4AHMAhO
8L2u7CW4Ptqmjt75u9Ia/St5lf3xewhNor5BhJZ//UaECITrLnGZukdoT29cegDBDIVo/56JAYJP
9WZ5bctQ7x7e/O89zOPAPUwm4d4gJn99fW0JflJr2AFRFPKMmN3Zqr28121CGJIsClL2tx4IMHuK
yV+lHu2vqMvjwD1MJuHeICb+7/X6ELBwDhWS2yXf9y8YgQNi0qViT0F8a2y5+/4LaZYfI/fgmOR6
g3BsLx626UtW4idVBGomXADvpfe8dy+AxFhAQYtTqHjd2a09Fdlet7vvv2C1HsbtITKJ9gYROfyd
qRZ1oMCJM/chZN939QLqvhjIF6Trb197tPgw+/5rtZPHgXuYTMK9QUy2wEnujPlv0BKwSVRR+agl
e45EqgPsgpIIcZ8+3qNfW1v+r+jX/vg9hCZR3yBCh7PfhxBjkFJRSBJ2T4D/ZscY2DGA0EX7+vId
4pXXbuTlGPLwbtgeEpNIbxCJz7/To7hAhAmXLr4vJu7pCoQqAiotUEr5Eco8JV2fr6v63YUGMpz9
Ch3eG76HzyToG8Tnw+q1DfpzHp+hAwYJYSg8vuzxXagSI1AUCpWX29ceD/sQ6V9Ql7tRe2hMYr1B
NM4vfx8aFB8wQV0GkfvdagO/epZuAX4GhXnIJP/oAnuqLefX/a9k7++H7eExCfYG8Hj9Fp/6/Gef
/Nn+OwWJLsolxOyPerCHDKTwIUxR98HlXpl+rzPuP9/Wy/5lb/gzSf4ftd3955a8x77F2a7ezW8b
Hp905b1+9VZcaMDcG/oaV7tbu8Pvf77HioOCPPZRTt+xF7E/r2f9GHO9q+o/3zvubVeFQAIYtiDA
GICpdeBx4JIChoCFEoIwCfUyrgDQbCJu0IspYC8IRSRTiEChUwKHqKaUGlyiBwgD+VMu2EzlQgbo
scX0xJohtNnjctz//S5r0hOrs7r68z13Iemd331uulcOZgB+KOISg5FmEJrB9avdGRQf4OP4/xS6
ICwnDTvkxnX9hjvttszqdjkGUb82YcFXo2PjwbddN3zntpJHPGFF6IGB6c6sbZDXVLmzM9Kg44Qz
tR2zgJ6LONahJ3KRzcKKyW1k2upsiFt9nlbcLJOm1YdpKPBXmwfu3MQyXrtEzOuhKr61VRyvesct
tafjri+9qsnHK5Qnjq+DUBA/6BPysax0slaZyTaBpGbZ0MqjfZ0dW060r0yQzpw4jda4rbrDTKdp
6qeOoDPihHKdFk1uvMD0H2zummVuXHU0VGEbe1L05LR3GrWVOkHHeNDoeKCD03qtpcWCSGyW2JLw
EiuttthJTnAvmuOA4PMRDXaGRdB4WcGU46Eipzd0GCKvSwfhu7jNiF+mZX2iBsw8HEs6p4z3lVca
3Sy5Qfn3roNJaEkTr9ClWWaNTT4VLBaF1xsWL/O0j1eqqutZx7p0huSA/RqT5rN1dfChbqLutLZ6
vFJDN1xmZUNPw8QdVnSIy62gcX8KnaTaR4ToRRHwZoN6UXxLadPP2iyUi7w17VLiBMQI+95jSWZW
bdYRr0hY891R1NMlH3yq8g3JwkMWOP280QZ5CbLZrOLBcZrk6aHjOocmkcksLOz4mbVlsSyKlt+E
KrZeFdd6UwvWLQVSwSFJo/QEj3IkC+XEyToaqsCZ0zFuNjkb4otw0OqLLEQ6j7XI10Euuo952xXn
KmD6eEQCHXcV6luvKan+HNSsOoobZD4yy/JlCvlT5XWFRSveGxl7iaH0dBykPg5DNi4GKY3xnNyV
Z5nOcetldeFC9zVtj0Sn0YkqYa/YsBaBH4/MXDV9n28DIcxq6Bu6EXVulmku9JfGlfqyyCO8zcKc
n6auGVd9NPRb5LR0QzpuV2Vjww81s9V5PFLl92llDlOnOcyzoAs8lXF3S4qcfMkUFsdFyJJDjU2+
imPDUi9NKrPoWMQ/mLzbkKhjsB2LcuWget5EITSbNi4avKFP8JzkgdwVtLvmRZ8ehkPeeumQ8kNb
BGwh3dydDTIjF5QlV0NH89B3Qka+SDc7ty0dL6oqH5YjytCpjYTIvD4KnDV3KhR5CmrM26jFHPud
I4pdFZTxiQyTwniMUnWlAzdaZi0MCkdtPrkapX5LnXKO2iTdxCGA2FGqD0VjxMxlJv0oaVV/gzCr
Lb06wee1zQ5D0om17YpllrnCH4VMM0+bODmlGJszHpiVGLp6LYIxO2RJamdV3iReA8byS22VPpQ8
DRaDpsVMVnXvBVkfn+UVYtdjX1ifJnHkj9GQeHHOk0uJnP6TzHLnNCep9QFQibwySsisEDg/ccp+
0RlRbIqydWNfqQWv43QZVB06dl1lloU5bYOgvXSCzs4SQfFpjEK6yqASX/mmQ+02Q215ResB7oSh
WYd6ubS46+etwY0zjyR1L2s5FLmXo9For5ODnWfjEH4YK5ssnb4etTcMXPpl2wvlu05nvTAY5k02
VpU32qZxZ0q1n8JxYLFnEpXPTBkWYOYqbTyVl2gT5kV+PGQBmmPsXMYkKV0vDEc610ZJDywA8lWZ
Cd84+nPidujQoArNLYoLj8SJ/WZENG4CG6lTnrrisKp4n3pj6NSnunaSmZSZz7O82olY9ssYcfcE
VSKt/TylaNu6FvlukI7GI64R85RadaHAa2xHFkWfS5fpo3Rsv6qxFivwiKM/xFW7rUKmYSt18VEV
i8yvB0cdpQ0rT+o4KI5j1BUXTqDNtkrSfG5xFS6wsuFsJFE+51VBPyddSlaiBinLwLWLqI/J9SjD
5rjjKt8xWkzOpRnZZZQa/akmuDWe0Ila0FiFy2aMkrkdws53cBCdYKzBiCvGvTYs+o+ogaXPIj7O
hqHO51VP3A2UaXg8642NPlAZd7DRcOcrh/ECkG3G5RDSZpnpvj5M1Jh/Mk2w1DiP58kQjCdJS9k8
b1uUe0ONxthvnIx5POwXorDtFrchWSscJl+7giSzjgjXazG4Ww0qvqkCkq8kdnvrJUWpviRC6Fma
dejSBGWwAssUHQY1mQ1E8JOxiZ2rHAKxdV67ziINZfUB68wccuYEC8HC6tQMnfsp7NxggVGBPkat
RjCdDBx/GByxoJEst+VQfMuqcbhCYwPmvynrsfJMz8JlTzs8G6lLPVI5G54h0tZeVuq+8Brb8dTx
cNYgDRZNo1Oo+pbg++M4PG84EBEvbgoz+BlV9WkRFmZlI1Bpr89lknhjVXaZJwO3uFFlnhy2JiIe
6zvnSJN0PrhZetK2WbKqefOFlzz0wNYWkec2XfMtqcUXrqMdCpobacYvru3PMjymvjN2OcxXpIdl
Jod5WehzUoT5Oo+kPG/zhFwkcZddUSX6z2UAA9tMOLDV9VCXyToPQYpmnRdV0dZLI/piFMdAtbJQ
eCNJEJ9rYms2F1ZHRz2kMGZN1zfuSVEXg7isRHDT6IG6K9N2AJwzRCRfOO3Y+oFFy2YA1rNMo9we
67xw7JccDChwL9XOcB8kiyIZwnTtOkk5q7qYzIDkJRscDtkaWhjkFz7w4iuSQRifBH1kNjLiuDxv
ojEKlmZMzJj5fdWNtvLCmsff3aivnE+8CHo+x1EbZJ51dGIPC6npLHPQsCyVzRatqD5XMuy8sg/N
DA2AZB2yz71DupXQufSHtG628Ml+oYwEOmmitS7ZUaOIG3rIsdxLQvAyjmydFXCRT9kYmXkkiFyD
B3E+Ro4Oj3ppsB9meNi2UVhsS0BzPdadV0e627FEDetSCcermNMscdYPXtZMdIuOpPEUp+VG68Mk
WCRSDLPWBvXKNZT5SeHqZQVdCP4QsNN0jKpZXDjh4cjC+rAJgmBdpkSvaxQeCWyMjyTOj6JA1LMh
lMXXhgrjuz0flrpo9SKuKzV3QhTMS23svAtY3ns2SsCRBXnlc4B51aCceLUh6ZKjAN2wJgAanSe5
7rWnXIq/CzcT7ucKNZmsrhomi4R/CgoGjMPXhdGp8Z4ednrG/q9sPpQ6jO7PmD3++T/nNoWf29NP
P96cjqj9+Ov44Wzbq5+CMvDUqlTtf2gK4h6/68c5qylyejx0tReK3Z2G+w9x2qsX/7sgjkynEF6L
4s4iODz27rAyu+z7Q6plio7uB96HchIfYDixgAWFoO15KAeXoB2CIQV1EuFO0dp9IAd9YDACM1e4
WDAEJ4UeAzkGXwftXxBhUgxvP4j/DEYIW18I4qAZ5nkQx1x4UQSdl4xBiEnlFOQ9DeLKsClTpezK
kVXmxUNkP6qE1HoeuioFK8Qvu7Rtj42TazCy+aUJuXOIOrkltjGJD9qQzPKKpaeqTbMT06ALHqBQ
e7kp4oVlnTsbG4cellganw2OXMRD33luJbe5aROP9Pgk7rtyp2h6LDpzTJ1uGdR5MKtLrvymS7ln
2gb8SKlvGtTobQrr6Bcyz7wmswVYBnf0ek46T6NxYxU6Ebiiniq7ne273uNJOR8Y0Lay1jcV0MFZ
SsNhLq27lbRfdlrmfh5mNyrJjjvcnoEZizymmwUjyXEzjCcsHjYohE+VsQOcVu+GvLYzW4xXvE7W
psVXVorLYqgW1gQGwrSIfgZVXOnSFV6HQNltFYxe5rhbXNPLpDU7iUa8QGF3hsrkeFqBOgUyxhJz
E+eZ41dhHS+ogZiQph0w1FBGXtu15yHtztysh4CQiPCwNOqqCxK1xBFbheGwSRpiD0djtO90FSwM
Qj7jek2ihvh90p+LaDjrcuAtNFmHvdmVRbyzI9/KiJbCE6yaMxCoY/rG1sMJM4DVQOtFofLCc1iy
HsEMeX0dpV5GwtgjFhaKRGXgBbysPUVQNAcaVAMFae2mzvUwD51pLaN01+Ch89AwJl7d2cGf5soZ
fMApxhMIwk5q0i3BwWywG4JnbdEml9bx2yS6oQY+xrE+TpJ+QwCclWuV8GINElo2XIxBHXimFmam
FXVmSQUTtdqNZ5Fi41HJ47UdxouSFYEX8f48RXzWD1nnZ1FZzwIL5cm2U3ND+ivXjpuWhNqPo1Jv
k0Je6h59cwv6QXUa+6LDi4HUq5E35aro2/MR8hta5zVsVLoKU8DIQa7xkxpoS9OMG2GHaN51gKeC
c7FrJWEn9GNdewVJqQeBxUUW4itFu9pL+zIDb2jWWLbnRdmcs97cpAhsPhK2njVpf04DHHmJrvOF
IVbNR+FEPpBLyFdM644zsYUs0qUtshi4GN/m0LewqKdxIKcX9RK2IhWXWpbDSvSwHR3cb3Pi5F/j
wFG+jKNhVjpBe0oFbDvTh4E/FIz7g6rbVSGHdl1Y3h5WqXAP+9ZxPiTRYObFmKcfMicfFgiyNOs0
KiqfOIbCAeTq69CW4gi7SR7CrrG6YLMyifJ4ptKCzmQydrtA2tLxwpwYsYxZkV0kWXCR9o5oZiOr
gL6BV/UhityyLPla0qH1k97M+0gM/kj1LK+Hcl6wPsKzEqqdsaf7Mly7to49IYutcaKTzDLwsA67
sA4O/arhfN42fNdnQ3mVZeD0MyeO5hCnea4cYi8flVikOm1mZLDBCa557YUZbP8xJlcW29yrijT3
ohb5kOzBCyot4DaACjQjbMMiwGjWE+Z+YEg2y57AphsSeSkdsW1I0R0GbXnjdOWGiWT9xOm8YMch
FZg/ScWBFYeMn3Knti7oU5V4uv7EiutYsCbuErtirZN4tClqP3D7LdD84zHA4o4N3J18fmE28Dx/
m02BQ6OcQUesKyaf8mQ2xbomE5ALWIWg6rMMJ2tiaOQJCgb9dbncv88EJ89caKyFnlsoA+3N1EnZ
0zjI7YrUyU4FYA0ncxzjDnJJlVfZQ/gfWrw+J5zI2ZeOUhccOHWxmn4/ly6kmYrcKshWQ80jiAnb
c9uDYjuUrTqHG3+S15hxU1Zg3V6fmkLB6u9zQ48XtKxCMkSyaT2erGyehN0YQ0SyqtKSzmKbuidD
IKLJXGxiGycrpPqrrurbRdK17TpuK9BblVFIPQxXkQhgu46bJmzB61K+Uip1/Lgp58TtNp0A8+0K
kvsJg71q4+NMlIuUt2d9Gl4gHqUz0bNt4xrH761VS85t/iXkXPjMBfPwuqQvbCEKzdSEYwFtVHAC
/bmgxGiVWsKyVUSqBbPoBKnxJB3L4h9WlL+0ogzTiVq5DLbS3oqqDuJbuAh7VRl2WPX9yYA1myMD
RjgTKp5VbnJchzg9Ne1wImuUnkYh+FA2hjdFC3Z5oipxAgQCk34TOhWk3Lrm3FFiS8t2Gblg7nmu
Uz8MI7EsetJfhpwMyzQk+bzXg940qKzOsqS/6Etw+w3RbF1rFzJaorYblumbQHPhZZBhhNjItcve
iW8CO164YbMY6wqcd05X0cBXUZRpP0zHwKN5v0mkY3zSjCeQBIKYmcB3K9f5WvJk8CUGjvU6YC9Y
GCizukrC2UJJoOHnOWCjdGzBHJqtxg7f0okeLBvPifCcjq5en2sqHOxZMwpFDAZoQes2J9P1J1pQ
kkFLw4ZsxZP2jFV6ndp/Mpi3mrQ3hxSYwKE9+BdiyL05dFQktUEoW1nV5otK98RnwXg1WXo90mFZ
l8E6IWylHLLtAhXNZWbWTh98hhLDN1e0mUdSSD66JqarNgYnHimwTvmQHmMc3oyio3MZ6GRlqBi9
mNPOa9BYHRkt5q2bf3JreFtULuTCBz34hgNvwZjWfqGKfEFKEnlUFWTZ9HntIaJveAZbsNDJcdsn
64SHg++KGAgq7oD9YkhFZJH2W1Sf2YxEc0ZH6FR/LE6d3K3M03IPe0FjAQto9kJgh6ELjzwHJSN5
3dshzVbYQKDQRqn24fkfwOCdBGSOYAUgxR/PzOBuUy5yP6hK5I04/VDHsJeDJJs7ImsWXTBCPC6w
nTURuuzinM5cJEcvacU2aKTwm4BvI0XiGS/BEuUW8qMyHi4Q6a7GCnla6o89BXaoChC4dPplEqGL
AYiYlwdRvqSmW6q8Owu5aLy4hP3JcjB8lWg7D7Jq8SwNjFoSPl5AirOFo62vLdILSgI+Y3phaBoh
eG+NurCQpu7abNW52QwoTu/JDm6HocYL8vAfEIEW4L/riQteGMwaxmRqwnsOScHoQAlrslVJqmyO
RWVnbhCvA/BUCgM+o4UtOQ4QILVTMi2OgQGG5lgkQAAbGwjPZir3ddoWcyXGFLLlFaTcBvdbleAj
p3U/GJVWfqSA7feZpTOaV1dpPJ71ZtikcnLGsM1CmuyCbmKpHYFiBzoummwW95b4QFfnbR27ixog
vQ0vR9bTmebwQQVJMOHUMCLv2kUeNLVnxjo67N3+5DYIgvS7nXV1YtdZ053rGgJJNwkbfywg1ONj
d17WIfIGpqC40J6TBJ8UjoZUELA1LJuZzpJhNv3HSeGdoJ02ZN60C8zKaj6pUdXzrZXduQinAIJD
hdAVueObAtgSCuLjvkjcmczh06XDL4uYg4rVQXGkeH9VTmW0BhY4NvpYU4hZVA9UnBl2GUftWUeZ
8KnlUAFL104br8e0KLwyBAWua7OGoHiZBuBZdNjCxgTtEF19bDD/GlVdtk4w37ZVO6OkHPwpMOrH
Ui+7orSQKuZbU7NLUup/8sfiBfUGrsO5QhyO8VO05yfNQGMo5/J0VcnhKqvaswqB32shzAo4qPXE
v25DbVsrvKgVML1bnc+iejF0VecVMQwrUjpL6iyeq0TN3LakcmbqsPCh7z2bq74ZVgZXDgRoSVp4
kKifF5kJrwrHqOO8VNFsDMEv1mOkjjKwWP4o6ZY4YGPierhoKdAtVNLcF0g3fh/WiWdcYNYhBIbg
DyNqAZAQaLaMm/O6BQtakvqsdCEkVY05bpvmjPFGLy2kW+e6TOis6MZNGnXncZC6sxQ7o8ftcCWq
MV+UeX0mITpYJVpsW3AiEGQ251T0JxObr+WDf71vTLg3sHf19ac5rqcpr/+fM2zPmkKeJcoYeN5H
G/u3Lom93pIf7RXgueFr7jolhDhQklIBnXyQYMOQLHvolIBD3gfwYAo4DK4o9CiIif7d59cg8Qbx
i4SuGOhRhizaQ5cEdg+gXxmaziDCkdB6Bk8g+ZkE23P+Oc0IsYuCNkIIJKDMCT0Xz7iMwXGZ4S7h
1y4O6kZBkZXlQNxQ3urxgvMmT3bMKXm1yCCFNLBZTSAB1fuODdC3MCsZ5A8sAa61VhEfmlminKxY
dSo11bHhae4Mnk16nn/jSQ1Gd+ZAjTmmfiglw9cSHHZzZiD8NzvX5XlwRVNaiG0oNHQYeCnWFdwK
y3mZfogwqjtouTC8THJvKrikRxioJdxymKZ42EDWIotvnKq1MOYJpC9wC2izfML3mFBIEahyCQYd
LVNcucfFJPiqJhKRew3F0CwuVnUKpnRlWFuVcjVCOkx3/qhzo28MCjQJFq9Pf+uWf3BBmH86uwme
EopLgBTczHOMxpi6FfTh6O8xTmii/dpSDvGsUsSBJGbZdyEki8oI6hWQ5GHOmGcnHfheoOaYTUxv
XYsoqxLP2oKWeKu4W8C1129yzz4jOPkDz71BHI5AABFw96PSREQFbA1osYmqxIGbG9NOiq95xbPm
dHDchsFzbB7V7AVMXpoPTr7cNZRNzeLP10RCwwJwDtRsx7TkBLpIwqiIPWQTza0HHTQhnLT4mfmg
zojh3AZ0pkOOmkHG+/l8tAswzlodb4M4bJ2PWRIPiECeyECvS1YVEkR+fcLnXA0Eg2ZFSK4rKuDI
1aTnzyeETK4D2UvqfBdO2cJUIRR5ZbEwLqspgsJjLcTXBMov9eHr8+5t9mlepuDEPTz5i0CtZn/e
vBksJDep+z0cQImFB7VbU11GLIDGGK+LdaM/ZAE8UxAiisjC88H+Qezn2Y1JbMgqQFWBQNEZnmu1
v49C3moH9RH97kgjC+rzDgm+A8vk1Id2hLhrqx1s8TFNiqH5mFQIjZFXRdrAory+EM93GNwJJ5Cv
gva16Sl0hNM9AGqhIcMJKb+rQI0ZL5e2yFPoT3CCtFLDcnDLHlB5fcq/Cw+HgwQcGIYgZjqjurep
IxkFBvZV+Z2JDszmYsBixMmCl11Tsbl2Aya+QrsNgf1eCXh621eLII2p5q22KO/+YSPgPdcAC6Cg
8HJr+aBTBVpgnu/AUI0xtBTUzrdIlzJ1VpBbnyxM2tsInl3YdDEbGbDzaiC51ytC4a64RlHzETqH
IDecObjMPipogyqzWcFtSc7SVmfVt9fXbHJQT4wjNPdBeQjyfJCOAqdI9xWz6QK3RMXYf+tLyHQj
DzUJgsVCfUc5FERKCtqak6SYlAay+9MvnYfNzy4WnO6S0H4MjRyQxvl7s6FbkApa/IT9lhnugFOM
wR1AJNkOqB74hgYcHGkFtaxkl8Y8AxdV5mmJoVzgxA6Q1SIC9zW50iGCUZkeTbthfZLb9B/s9PRA
n731gkWSkIYFOg1cWuw5fGhjyHKVjfQbtFcIB7rP6io3zUkx1jrP/K4YgO76jkxbuGaHIrUDBDbj
4Hzs8jz4v4x9a3OdOtb0L6IKgbjoK+yL73Hs2JP4iypOMgiBQBJIAn7909iZeieeqpx3auq4sr29
QUJaWqtXd+/LidleNmirgROI3NSg5qgGUEM5+ipZHPUPuWIN6AdJyhacMUkkVzJcxRvr8aldywMq
jb8//w9VJiJVTkqGvmVMcPZkOKb/XKZYmYPxg9cvRTZmMqt1XO4HAueOMVuDgbcfR3x9j569o/id
ewsnmvASv1rCnObm5EL6zxuafozi8BxDdpcxFMDQNP0PB7VbuklxMeoXbbGLzDGdupLeJkSk63U6
uRXTwbjvt2cllnUtKidsMAJACchiD43ZeHRhFUUNZiM35Xdlm+8Z10K9AkrQuWx/POOU7vXO6guA
pdrKbnve+rxD/Rv3/Z4FtJh9PCBU0wIvpmivA/FQy4Jnl2ZyxY9pi5u5POhsSqdTXrj92XVL0yJj
M2+XZ2UTAQICvQQwPugAYNCYqo2GPdmadaa678uUD4CGwHgj/pGm4zbfWNtxW/W9sgnaZg1Xy0UD
XkvzbSgHTp997AkWWVE2SNy8GUbkfH9fGx9DOGa/2KFquDAUOZrRH5ZGylf0sJjuX4DzTLapliQu
9FSFUY79JboQAYHi71f8GI3Aa6YAVnBuw/8MjbMPVwSmNImg0vAt3dy+GIOje/hLpqLD4Z17k+Uv
XILQYaqQuHlqbtEsKbBO/34be33wxy5PQQxAuYyuPPr6FGXHn5tiS70zwIDVs6KDmtNqHsF//jUa
YRCNRDcNBPSxYmzvPTA+RBwtsrFBT31O/IhmUxF6X81JY657XuYAtGxfrtUUSO4fQK+K29pk2zJe
YxGBPiljyltdUY7UEJtdxFiHoxfILi657OZ953vIZj/tdop6rdLOpos//33EH+NaiZ4I6L37qDHa
FEXWnyPuci6GYKbiybshRlWQWeC014nf9nUL4zNKLwQJC5bt0rEUP5r5rVSIcr0v6RT9qYQ/8iXf
l3RiWuSVF61O0j1EGiB75GR6r6f2vGVrh13Hg9qLFLKWCruzIAbb6O9DSv7Ez+B7BIAZxyaiGp4g
uOwfQrVJB7WNckiAxooUe2vWzX4Dc5S6feu+7WM0plbcGyjt+xZHrNxDitUGB00kCOoiAmYPXhpN
B8O2nskCrf/Q7/Ng1jAC1DQL3tWKdB8iiFf5dOqiwqYnXVqfTvWK8wLD/YehfcgyMTRAkPDgwFaJ
M4p878+nNYPPW/RuXJ/Sxu+RarYGS2vrt3b8McdllwwgDILE8Fwkw34+qmgkeCBLrnqwIzaVk7k5
oaPuwhOyVIvpCIVMsfpSvyGaDG3EsMRo6PUe3RzC5kWb6ICwNiMjwQXbmcf4F4pWgqlQDcVUzHMh
ornOeiexJXaQF/96n589FO4+ef//JQUebw45Es6vvX8INPZjqkvCRvM1N9EXr4oR0eE9vU1Eufiu
RqkumuGfwsKH42i/JNBY2ADiWEID42MlG8sRKaReii+TI1gh8zrPWFA4+zE/VGo6ZkceohHM/bxP
V0x4D8IcUhYEPcxSsEs/3xdoC3B5AiO9RDDAhvQPFmofnAAqwsaflwEH1e/HBrhrwFQufTlgr2AX
7Y+j6Zb9QUSyJfjBVsn8QzyqEXeSdR3Opi6f98L/77NNWfpnTMTg90MAQQKsJZi7fKxskA5O4LUt
6xch1rznFboDQOt4AJx6lycbtevRCJvrEmSRhEngc2BNmqu4d+mSVRrZTnRtGxXRW67Ab65NGJfm
RwyZwEXgjuaHrgAs+JPKfrMPaswVTNU30odP1JN42Q6lHBhgWsDidEKjIWQlBClGcPBbcxUrcgPS
KGGHYbCM1HKZHRr3aO2aTVZi8JYudbN0HpvBbzasfbVEmaTyxBLi6GPezytt6nghoIWeNQuCcORv
HBTAWYAN3tfF1odtA06ApagvF/BzXWUmLfOTZ0WTHkBhXbYvIR+T9tnRvuGHlII+XEPSwca1AhA9
sQNrk9DVTdY3F0WSzgcoEABScjbE8ZkEIpITWpCliI+6GxV9WjPfdNETG+Nl+bLMSzrfRtM8RA84
MQr3MwMxwj5thW+GsdLjSMT0mS1b3515C7jotI20VGPFujFNRF3YbTLlK1GyHH6CUTr6BdT0eTW/
mJtDiOuuDxORFzMfTFYeUAdkYG5wFXVgn5Ai6rozcPZk6sUvUQ4pgOJ6IWlp6e2Wjh5LeiN20gIc
k3jO4+MwUK2LS8d4K/qbIVs60xylb9BAuQkZb9r2xKkKLnvgQ5Kay1xS0ZQnrJUcKhfttxjHej+V
bWBVE9HczAfBLdrnl6GZIgHMvFU4beqOBYoA63Xrsq9j5PJsusTiCBGvQ4q0hdw5jayLgcmRolf8
qU/AOsg/ze8vRm3b43eQoVJcDqxXal43Z1iC7ntudZNckCWKCvBXZda54rwMkoB+mYGIgXMxzqIW
w2nSDIfK94WvkK7UMhMsaz6tQQdd3IOAI0N/Kro0SvRl51ZW+k+5TLOWVYaxHZMoLJgI3XPRcB5t
15T2E2YqWg1C9i2ithHZdZRyW/Q3pDUQf9xLGWTJjwHMuqk5ji26VbZGyNpvafVRHyfHuBFraw7Q
RklbHoY5jrLha9IkA66nZM/Yk2tKY2qLOhgzm5SuxQlSk1zsH4L7R8pSGcP2nJ6KCaOvoWIZ0vwk
RdhnLO3nDj/GScyAc1Sxh3zq56YsahbmEQtgG5BvnGdmFd6n34cq5mzD9BlZ4H84SyaOq/WC7JAQ
affHQzQVSfYv0i/7PA+USYBzkYssHkU0dKWgv4xBQWNOtm2RadWhJGth6rYUmYvwBKkz7nmWg2sH
zFcktvEswOcny20pi/2WWzxpvT3mWFm4QopfmVcIlvYFlttof/LZGuE1dMf2qfGe4K04YksTcA9+
mHDZ+vd4rE1T8woEU+C1bNFj/gipG2dpTQMDAFTpQhDMxe/Vw7eJ4SMLGe2D4/P6NhkOq8bWv3Nc
lm3Z/q90yjpQxlsbPf6e6uj97f+Z5Pf3ASkAkbFItMINkCES/hUtDd3aczukKwZtkg3fZVE1Sdq0
8SMK8GZkVfb+oMbNz1hqqLydbS4HwlaeVaQTfs0/MeVGzJJPVI+3JBoYm60Bc3DPoOpa96S3UfjC
COzRoonNK3ufwRFkUYzQvI9JJC1qNHR5B/DrLlZX7tV5/P5o35dHzrse85ODkokfWdHvg1/yVWCd
NsTulxFU5HhxHU1ciKctaqmbrzDSdJ/e94W0gROPu8Qg908hrZ3wd1DUplhd0yz2W3+fUND6N/xj
7NORFscIjPxOXm4g4C/63OyIVnwMLfQI/oa94ZR6gu7utfVFYl5J3gxYPlOGjBWDtx7J7qcJzYH9
AxO//6AetFrMyBDv20Ft2X7/g8sbEZ5c3/RNexqaEotdmJRADwQ+Y0Hm6/R9rbRyYnNx/j3lTIJh
F4NjkqLTXOEEGHFxqdsO57wnEBTET8jcZOkPEAHMoI7EU8Nx8UyKESXT3Gtgmz0AA0A2eEzCXRZj
s29nh/MVr3Wry9G87ZAsLutVyqZ+GS+gQ4shiOwZ7ZWv+AQxzyVhxOH9YjYTfiBpzPo76CTx3/UN
pM7iQAAVGTRH+jvfzRygQLASVyeiGf1zPvAFVQBft33tQy2TA3VfUpMgwpRW9A4yT4UjVh2XaOBs
uswYjqrlW5wvEvGm6cex6y5+4/Ny7oWVJyd61Ls/VjpBYHahpcB0nNO3PWNGiOzw2MEm49tzKsox
zE+QvYmQX8zvQ19YM2GKQLPZOowIrKwpO+ZbTBDlZkv36SPAxzGZwKv2Jf6On5ZTFzADxCX7eOcW
7OmosljgeL9pAYVGaLFvwJXhntcNDKStds3VbaqJxTvylew1rM/cBETtHWTZSNZbfnKDsTy5bLjZ
8BnbO/TGUZYDNTTZLmw4c9Kh9FUKtRNUTz2AiexaoWuAkc40tOhqQNA5I1SmOV9x5k0rIo08odbb
J8+16Q4VJA58zeFe9kODP7drj1F+C0jPoOQLIHSAGMtSuYOUo8Nxd1t0PM3nzxQw1sqPC5dQopzy
oLN+OgC6AMpfFQCB8hfagMkOGjHOajz8LaIbRpUPaj82VMb35WYTC77Y4X0m5TwCiU7buE39Vdig
zCs+d5sL0aNFMg1UYdOG5S+ItwBpowDi5goKabyPgYNCjeD/u23Rt8hXkVmDbRb0S85WYcgr6LV5
f5fnRq8cPO9xmqN/g+MrF37EiZb2WTX1wL9BCehJYZ+BSIZu/hI3RjZNzbM1FctDKJDbmJ/Mt94k
3yZeApo4W6iTFaujZJu6Z/ClEzpWDqcDVKYzISNyyqLImCMOq1xJltQeL0LRApoIWn3L4fdI3p+l
0RIAcQ3Hq3Uf1lu46Xu/xz+2Nns0Qfa/b952Uvs7hjf0nstkfy0jcYR3rM26v5GnQCcUuK/D3tto
e66xlRtki/xum1eijxIbdd+VTO2/+b1kkVMiErEM3TO0AN7w8D2cRk1tlxW9fTDibFzeOwFZzwiq
+wD0nK4bZ8llMJByC6Rl2w4HTmj64Ac0YogWZouxvmmM/sMdcMv9ztFTwp/+vlBmGY40kDnwsN8r
tqGVWwESwKAd/dy9B6zuHWg0+HIPrIaoNzsIOdncUnpQjTIj+N4md9GjazONMc8BbVF/1SbNnsYJ
uuAahe/323JvGy4aO5wjIDu4fZPrZO/bHoaw7Guy4NBktVUmpkGpo5A9duPpfUKAA+9BryvzPcWi
E4nktUhSKJj+Afj6UNADy0F8wApOENyg/f8IK4sZdFXg1cmjGMccd100zYLdEEaEWRPRfQdBT7Hv
Lt+a/d7/obr7s7bbL5/vjZOYwY8F1//QnrNuGaEqKABVvYdGCQwYd4E6ADvp75f6AKBjN8XoOuJa
gKzw3zemyn+x/0IJvRVHKvmfNRJ3oKPWRnNKPxUMPStE5FzsD9W1Ek94pJbikf0Ojn+/lz9hviyG
TSn+v9tlgV+AdZ78CaNwnyaAb2XziO/GQBhrM7Ln49NUoiu5jUid/2me//eCME8BcJCXLAG4yD7g
ip2wMelVzB/MMuCgaDqc+JcFWOQ7rPm2s/8+QLLDdv+vvbOPENjt7uGQlAlBO+rDBZde0maY+/zh
d8QIYttB+zVP1yw7LXQq/UlqvtnPLsAN4KAc1NUvFNzX6DGaNorz6B/u6M+VjjtCKbV/6Q48KjLw
DD+2xVYWRxAzp+YB7J59UwXkddjji+s44npb+haPQFC394chn9hPRBOJ/UZAJjRuq71BZX/KIBjO
4mpBaIHixGiDt2N/cHIH5STqyTq897P0e5j9+yD27fBfs7pLqQC/YcGAj0IBwH2A38K6La3dsu4C
HCLbZXWhVJG+5FBA/OOK+d9LgRcASm6Obz1ATfRxZyqeqNU1eXPxfnL6DMU8hp2Ai/VPHdsPrSB8
OhgaYIAmaNEjbUUg+HM7DPEsuFw0+xFLoKq/V0GSd3tmY1NQni98gNBV1bGiNimqwvYA5sHsi8lU
z+mwFE8yxNizf5/t3xSR/5pwQG6Ygjejwb2/Dc3cn3cWx2hvQK88ne0GQcx0TLJlb+o7eHu68d/T
NqAvXI9TA4iSVYpvKLqqOWtmoq5x6MFApanHTgNAuUkoSvj4XvGsacaLFUdsNt7xpe3IstY8Qefm
22SMQjVhJQjs5qh6tyVzHY9xPqlDaTMgVjfpQsY0h1/HW1usy5HTp5/4oIhZbrtGeAYqj/N5SwAt
SFBILpCvF6069JHUWCK/z/kiwp9B9/N+OiPRLRFz87do8J6xd2+zGYRKEAFRYe2nafBJhLxwTEqk
2xC5YLqRqeSuuEunfu/cRe+BRKPHiOcW65LAKqCbZkUgU5sgJ2gPuS566ar/IAcGpw/Id+/5wFsi
ggZVwPxuptzPwsJ4ADRI0bs8OepyxCVVh+TcX8UA/dum7uFagbIEsHgv+6cU2SNL7/J1ZlRfyjyO
9pp68hZwJQwY9nKGhXWCE4PonAJ6CSCjAFhfSTGXI68jOGKEWFUmBaspuWeQqBXh2Bgwys2XbGV+
G78Att8bQ0il4iS/G+cJWPyXVgO0bWA8QNGVPwlrCJG1Isjd/r2igpvKqyxfQvJCsmWdyzugT1x/
HhiTXXKUwxTFKCjxZWLLXMOLBy3p4zCueLaHsCSbXaFFRIHva2Q4JCvrla483HQwXZk2GLXI0KIo
ZaVFe7EV8XSmMbjCr3msulUcOEXeOlSqGJT9OgDAiBx8cvK9c/U7kzVoKzf5TakQ/uRpEH2eOCSj
b+kK8OM93VqHeY/d70ujf0uqhqLvUPlYBmKJhogyzhUBfacZC9xG0nVJFbrIM7Bp7Vg+6oFFPRRQ
WZNVomnCY7a2IH+ubYDpAPXpRQut9KWyi78AIDA+FBaeOgvLBDxvwKYH9OrtF45FfUGbDAJx7D7x
Kq3uvzZxOx4WRjhKuj6dz6gZgcwkQ3Zd6vhl7LAdh6Dz3T1FHwoYPODpxpE9yWKhRzm27tMm+zk+
4gicj+Uapz1WbK5+CO0eE0L1taVRc638NEOxAyQXfI7mwo+OQQgYys+FFgbtcd3+hHCQH3qhG3CH
h+GQcWauyi1Rp5UPaKYOUM7ho8t1qKkcilPAR16WKGte7TK6M+gD/KdhHXyIFtJv1cpkdhIyHh81
PJy2qgfSMVVROjZPYdnK7300ZKiInfoSyqQ9xskcX0ELLFqI5KP0hgLtOtl5whfSyIJ/BgbXgvYz
p+wnQccEZQHR5MEnUrQnvQ7RkUxqfpg8Rd2OUHCYYCZzlU4WxOJMhbLmBeOi/Nr6hK2XaOS7H1NC
JTmOTs+oFlol1go02vJXOWcFXI54ZK8UQ1f/QMksPy8+7VBuqPE6m2ZioCAT4/dYThq6ehpfTznZ
VyjP9lZk48PVgqzwNi46fwkQObpqu1QkIPO3/U8SQjpU21ZCtDiD7/gtaBN+mSha6qQl2/dpkmOC
xrwGrXHbJqxc0cNWCcQj6w56C91ylbsGVlEx0e3dSgoEYlQmtQ9pn15BotDrK7sYe0q0S66zXi0V
ANPnLMBXAoL8O0qwffzk5gMQOjgNNIvyxSFbx/RIi3m404Lab6uGjErG6BI3U+WgL+26umibTFeR
S+l3NHjHKk364QwdMQQ2sZo/L2ToPk9inTvoPOfmyYjVfLWLVjA6WtxSc2K1rCTuD43LEtAVNt4i
tpouZbhnySSgHtu8/C6VhgSzidXzAGVkpbUnnxmw+EudWFgf2Jhf0Xag36cyX24kYHMP9J46XJTP
FXeRQWHn4DZQRmNb9aRj322EnPpQIs2RVSYnc5+HvDsh0Od5zdqtuJjJKO5BdwFFIgj7lIyDPnu3
kLPUPv9uU/4UUG4+bUZt5dloulbSqObXigk5i7lw7ohsan2cLct4ZalB47NrIE0R3l/mrNNng3SO
VLAFYU9smNlrCtnSF2n5+Apfiu2XwwI/+GJMbin68+cYJ8XBLGZ+RJoWVVkY/E1kp+5lgyEURByE
g+AEVPZOrDHFWbYgIsWyLQGrZF1+AYUKr/U0yHMHPe4TKFIp7t8nVyQe0pPM0+kb4C1zz6DzvSBr
zx6VstAqTNIclwIhF9Wkau8GGs9X1tFwP8CS6IstS/oj7TyCQ2JWf0dXhc0DaOgTSWd3vdgiXLYB
6hPAH+Vw5rmiB1SZYH4CPWCXW2T5DefCft6SUjyVIE5+M1s5f8GB31xgsxW3G4lmUIHy9tQznt2g
UUzSelasP5TbChlfDErXCQ45430HJPu+WUZtahAs4pMN0nzTs6MNatQN0mZG3TX4Ph2KbDVCG74x
hZitlmNadOUFQeus9nqjn0rfpAC4bfQz4gmoXDdrRreWwW9jQU1wKByQ4fKmy1JfzMd4tF0PKQbT
/CZEurkHWNHfRdBiPfez/Y6/aYCXtuR5UshgpCvk3cIkWIyZJu0VG3Xy4iLuQt2LAPszX7inNvHe
nAUUorRmghTXlI+2PLFYDQyS4VIf0A6lkKigbXwo2aaKSm4QGFQq5cPdGKFtfr1GpsBc53GY7Y1h
Hv0SslgCezZq1Kd0odHnYmAtpAGLFeNRQNrzIJvWqyM6p6u4VjAkaQ+RHWDCsXJOonPhp2l7gNLS
OnHeU4/4wMwCX/cOszaGZtdYlbnta1Igc6kz5bi/Beggpzp1pPkSig1C9jHu8xuw3jg5BIIUEfZk
WT4/wzBmKy3iCFQEGdSbcTOAnXPh57y4ypIlHuQXSMx44uG7ZWLmrhIEu/iypADW4Qy1DvYg/JS5
RxY1nQSRpemZraDPbuC4EFG2PLYpyCdQ39P+87hCuHAOqNcknEdMEt8EJpehTizg8NuiRzg9gGe2
HUYARFcS1g41vhutu5qjdZnkpx7WPGxLMf1DvCh4wSSq28lOOskg3ZqpLGFjksu8T4BTTyP2Q4ku
Ye3ICu8cSmDTcrPLuvNKDUBL621ezFClakX/pHAQrA4tzcZjE7Jw27VAGw9yaZeLtIGu+JCXsSiA
LElLLrsG1jyVdlmxVklAEzmfk/kuythS1EpyOlUF7VIgWoC+nomO7E+/+yalVq/JeRw5SY+NFwm8
DpDCiWis0eIGoytUhcgf1oiOBRIzV65tXyOSznjDGEfwU/mBIGTK/Ch0r2GcZMjCjp0qSCGOOlnG
LLslkc/dE3qiil9IU9Lvjfcv2yaap0bol4bpTFYoE9RjAEXiyEtuzzEOjxhBIrfoIhXbdb8m/R1s
5tzJC8tqbfSmKwiQYdukVKYe7QBfM2vzFXZkLUV89bP6MTd8OxUjfOZMs/BbNOrKuCaw3jGHDYcN
vWeTSB8L8HDsofWATLAesGDA1G7DT4jVu8/aDFN5nIqiuZnGYXx0Zpqbo1ugO7oE+NoUVaQWdqlG
CduvwfSnDt5+oF7H5MhmMV53PItuk26hENig9zc2E3rADGXRIUm4/z44qNy3JUn6Ki5wCB9i5g2c
HUg+wl6rDPOltrtDHUzPltp0jaxpPnldQZsGT6gRvEJ3OeUY3HEFVvy4cdv+5Ggfm7NEm+pgsSkD
5GudvcMpj8O/zTvYPEjkF7gF/oBTpz253Q3EDVo8wzWSvADAWk7gvrDzGDN1KnQh7yMZ29qrXHyN
B/XUSxCqGhRupyLh8tsYknmssnQcv6Uxt1cuSTkc1+wiy7oFxgjfwASDhl3PibaLr1GEp58kypIr
H0j7oxNp8dLxhnztSBpuPBqgh0yb8TIF8voMDBuuW4hpi65SGZvbnPMUeSuC474I6Q/Y0KFIXwe1
n9pLMr2OvoxaGBK06CcCkx3zyyEb2rGe4IMFp4l+g+OJKYIkddojjlR51MrsttdT8iqEgCIqgSEJ
bFz6QpR1h8+tgSJhTYhVZ5cqd0lxQAnve4tcq2uulB7nf2lUbaLudJrGLzh4g4VOsgz+Ipq7/DBr
GV20Jkue9vb7iWy+c1W7RvpTli3y1UHLiuMBledpdBykopFn6Q06YPZar+BmQPWGlOZmgQ/nK1xl
lraegNb5qvX98mOeV+wVbErUaU4DDPwJLw78Eo0tfxykT6+A9cI9IrTLhmQe7Mtf8LHx/ASzjfma
rqjfqgjpyHzouYmyY2QUqLPx5rPneer7b4X2S91N6XTo48jEdy4U5BFNqpKBXIMcrsrnIPpzQFJ1
heg3hONihJBI5RhST5AhovEuFYFE0KTuhLYV7iH6aDUcLysQO7CIapibCEk7f2rAfDBMdbXskKTB
cgZlLNy4VtMmyKnTgW9fh8kN3acEJn7TAVUF7xDSWD5ucJYhrunXcxQncqCfcpfysuqIadPvPdiX
0VD7qFwkP6Hv1C3wShVjPrIa1fZCNawnhJpcXeDAzdaDQBuo7CsHUjRdD4Nfuequ15ID0oH/BQow
fd97oFZptYAtzdzJOm3ar03TwTzqELBV0I2ASigdbOXhe5jPpwa52nDphIvUvycD74HsKEAjUsMx
M2hZPfI4QQvjrME3moeDXWkUy3vpdIfnQCOwjpwEIRhQugdbHMP/pSJWxJjHSQ7rgWmxZF8zmyXi
8R3zjPSO28892xHGhPBFX0Nwu3fA0Xbf2wnYh1vxs6E8XvIz6Mkb9pshMAz55nQQkaiGEgBchMqW
y5DjiEA4np+dAKBQ3sxIKOGuKVm80to1kzPdeUOTCE8LRx48FuAq6QavDhkEf+twnToMb6tayKqT
qQZ3JFX8MZ0h+c/hzgYNcnoVO2fgF3JI2xk5DmqHxpy0LmGRA7Yb3B1B5rlNwIlC6q4ZIuYKa5Np
Lum5nQu1rhpgpgcg2ULDbV0f6LEZFtr2Rx1AXGHADoaxvNmQ+pVHHvU5RzPJc6ZdRahh9FisW0rP
aJ+pZ126/ikCSWWGPQ9EcRV12DtHkDbUz3jokGWBRC4sHArzCXJLb0H3WKotMejhbblb38jqVwzC
1PsMJNMLwKntzRjztO4SeNVKsq7qqFMFzpNn6KfqqH+UbAnFpUEKV1TpoFcKrXDohrOdY5ABl1LD
ew9M5O6n3mLeIbRSxasc56g7zOm2PkxtBFfLJkT9ERkoKkQudZadbU5ndYAwc3mNNr6suiJNMOSh
7NouO4R2GH5YKNVh8Ss9SoNhi6Bwjq0k4oh0wk4XTsA94GcTLTvigow6GeqtE80J+jHPYWDoSAmO
S2LYUPOYjuORrvF0Qaax+Nb7ngKwLHjSjDUAxRbK07VYpzu4WMYwh4kzN38FgwDsA1BBQVarQY0w
MIF1JAE9B+DWXYPKW1XUIA+/XdC3WuC/0xXHosvhItBMIxjhLoNGARQ1rcCASFY3HcohY+jsRLOA
jyqMP7diaaIqBUXtwux+WrUDYPa6oe+PtcHZZxfFI8YJuSo8R2FsgYd9oIyX7ChBUfgVgQME8FDq
5iZCGJ5eUFwG8bmQyu5ZV5q0F8hg8itLi6x9RYiE7UHqqXwYQ8pvwTZsfjaWYObLsC1gfXEHZGTb
2qXSbRyeYGnn7oPtBYYAeR2arIUaEU0LBc5/l7EHAviwOMC6N1wSgBbtIYBi8q+QUugbs26iFwOV
Eiw/mz0a3oynORnir7mdSMUK0PmE7TcQ3adtrSAjWu+g9UzaQ+ImD21UD9/QirWe+csmtyB5TcMG
VmXDobkvA+t3hgGq4VrDnDE5odGCdiW+mradDo2HTQ0wGsgGYEGoC7D00mb3e2yGdbpNnXY3DUw9
y0OcNRp2ZeBJfAlLMYO8O8PvsUJTvXihVpQN/IkE/WSiPeOd4JsPL6BoXdsK+noGVkdnWnHAgS5B
YAJccr8pIADVlmudHzsPntohjVV73MyCv4HPynQJ9oXSB5/qf4dJDMeET0sd5mz9ViBa+Gt4VFuY
tBpfPkyZnR0ul2UGBUELFEgl423a8+S6FHBQBtuGr6qyhLPrKBLJ69rD83qJ9HQPypusQaVKvkNc
4gaI6wq21m02SVsXcP9aDy6sEqactpw5PILbskf8tWkP251kzU5zHjJYqAq93AG56mBaQke1Vr1W
5FvLQByoFPgMdyOIGvGxCNmKooAlEAcYHmfqqIgUX7pssaHGuYmsDvn5/7F3Js1xG2m3/i93DwcS
MxZ3cYGaySrOkzYIkpIwJ2YkgF//PZDd3bL83Xb0viMcHXZLJItVQCLzPec8Z5OYbeOt75tzo0zF
GNo0qujiwWh5bTArxME4FG9mV1avbV9VQZJKZo8YE/EbxSOXfNG+xZrSY/ZWkxZq7DzO7UBKpmPu
8kXGg3ZsM27qTZvmLrDrvjr1dkNkonXza+YC7kGLdO+ZiXHqchnEzkdtwH+dLL27H9vZOOZdtaIK
Rhi37Nb0EgeKZMTjdp136MxEOpvFB+wUlKk/7aVtjMU9Kd500zLcAnvVWVbYmPawZfsiruRcJVjs
lHhNonl69aNeBHU36CQQ7XwLATr6jjtX31i21T95bPf3worER4WR+1XnS+xAm3jjcM6/El3xIBVo
6b4ee+46b3jH59vf1oM+A/vpK11wHyy3fqzl7GiEVe55HoAeGLwO7oaLx4OvvlaN0b5kDDs23sRB
pYEID1MvEdWz5hXWQ5aYVhlaTPWPdS0F+U8Mi7lpfs4D0/92m9fMg9oPHlB5OW6QkgkDvXKircr6
vrW6yrJhgCQNq3wHxwqLT9uQy0Zrn+asbNAa0O2qG2vGkTLvlUHkwdiYlT6Bg9CHBODEET/03D9F
6aTsT1taVX7IKq/srTCyWr3XQA3YlmpZvHJMIWht2AwyX6SOvsG/Jha2jUCuoYXkTqtPx2GemGIG
jjHZO8uSyvviSNmvZLY6L6aCdcxO4MSxz0Pu32izE8f4QiysSrh62cZjTprJaHPT4AYH7TuPSV19
0xttdrsN2i5+t21XqzlPsLqkcY7pBgja6sXmGmyQQeIsXvTmbjS9niNMak5O2z5XnorGbIOe6XHu
I3mTTtkly6pugFStHM8RW702h675GPJlFHPAdwGyhzxqsSULljphZThEK014pT3P629iObEObDqJ
p9FtXgYtXgw7ALYNRy3AUu4605XWdxyYrzLo6YUTTrrvuePu38tzfxZ0UQ0xLOhIh2vwlHTvGtz/
GefDqMzrdcz238qqXgWN8XdLhmnLFl23cxNrwEE16rBgwyQFCNL9zQv4s6i+vgB0bbKm8DJRCRGF
/vwCUnsmyhOn7tf89xdQ/m6UKHO/4IrTKnSx30Xs/9Ic/teCsn9RGeCHYOf4Z0jjLziH8J2QPseU
f9Ul/aiS+PFVf8AchLB+EyYBFn1NBa/lFv+AOWjgmn6zdBwC3EQ/EmAEen6ipQo03LWimVw+UfJ/
Ah1MEBAm35A+LVCnIKzEfwJ0+EUDZ9sLIgCS6+oIAb1j/OAk/WRPAQzOTHYYpotUJslgxZMwqEyc
w2HuqvHO0ez5lE3wpLe6nveg5a3xKbc6MNadL5uXn969298F7p+pTOLP99aPV2MBLFgvcX2F/60R
p59ejSXnOveTYaQCQIpLnFOhEQxuxYF+GqHaww21hjd3rLU0aEuvb0K8QTwK8Bm7Fk9PV371+16/
4XskbGyLQjzhp/DEfnbs6JvA5jz9zb34A971k1K/vn8WQRH8LRi6dPhFv7zilNEEPrz+gpE/jmHO
LcXTaPHU2IGzrwClz5PINim4bva/DlujOdfNPaytGc7jWPVf4U13Iky12t4wiq44DZWJjlYG+QyH
b5Ult/nAZJkDTrdBFPGfu6S5IrpgQ33pNOectslY7v/95/DXj4ElRnf5IJyV8vvjl/7pY3BnjQNM
XXQX8rr+cxV7AsJ4DlM+qOUw3aqp9R/qSBSv//7H/nlhswFJr+FLCso4vq//s76sn34sw67YqrtY
XqS3iAvG7OGCgI/VPUqe//1PWpfInz+19Sf55JpWmxPRHu+X66yWGPsaZusX5FrrnWQOHSNR781G
kNfJVm/wDIemPntViBCnyr+7aH51KfFbkrOEBIcjDJbKrz8eo03KAwTFZiVdk/AG4pnTwVrsSQt0
Ww4AVTDrfPR7VTQ/Wkcq9xsTBIIe/mxdTw4zgNBUGdP9DIX9iamxYW4Sb56/1dpYb3QN2SG0keDa
gw2wbfg7T9NfPyiIHSwb2IFIpPEs/PMHpTuDLW070s5iiMr3lI1zHFAB0wPrN2dCtCeVpPkH3nC0
1qXBQ8tDPQ05hrjfe3dZqnBOYpctWDZ+S3Fefh1tOPN/wxDFWvXrh0x4jYuIwiHStdyda8Drp8vJ
ab1Ux0ZtnqGx1pHvbXo/WfZrrMjf9eMw4Pts9LuxnO0BOEVCtYSQ+85o631h1QSai6a8r6HSgD0r
VPyisrI6zh0bq9pu6id0Mm8TYQwNh4qOHxKCJkejKOvkRdVax0GKPXccCz8LOPFjIjKAzB3QU4p7
I4tv4dObU1AMoF3hcD32RqmZGwdibyDS2WBtsIZlCXTlZddFYntvkc70NgGufb2w/fFDpSfsYrnm
U2pmWg5HCjDaRihb2yzZ9Fl3aJEDrlROjmXv7qKuGY5AOYzHJoHfs49cTaQBtOvowydHxghTNtqX
oURHrxm/HrFd10fR+MXXdKwd7nuzzB9SP5rcYGTveGqjdggh69fs5g3/Br1g2rJnbXZCTGLcFjj0
EOwUmZtwNJJoW3Zmy1TUv6FFJdY3uIf7A48aA3QxhiH29m7xOpV6cmW0fv1gM5HaD36mGfhSy+Xd
c6p2S7tNtuzG3It3Gpvqd0br6jsWqNoOMSzBpJOxMca7qc+oN1FKbed4HLxdW0UJ2C6zPEj+Kl5L
q614o1HQgwz4ocZcRGHtquxpCay+iEKz12TJwCbfxqsr706ZwtqkXYtbJuNK6ndmr/yOggd3unYY
IBQRXsKmL8sANQax62sSJfAr3zqlTevwwG9ZyqtPYy6z3myZZQ5DrV/6vMdTxHCqWfbYp/oIH0qK
FSEziupBB0JwzGbTHMKBzwDuLroaA5QEbXMjIxCqeOJz1WyJ7cd62Ba9iG6SRndwFuSzq5LNPBV+
f+10vckVpSKaQVQ48CzcQVrOopuRW8eJw4YWHC44E+rAThZp6wdsuhm5bCfUiVCLfJjtwRxhhcZs
FhGUSHwAGlTBuEW57SJ2BTs6Hsol9BabFVMa1COFZdJqBXaFOe5umYZhMa7i1PuuDaOb6hu9MnrM
N97gXWwUwOgkTbd37SyUU9cs86HTWd0Qq+LExSXejUuz89tOpru5cMr5oHddWYe2wQAgdCd7LvYt
GTHwiY5lvGh1uYgN4+Ac+Gte6toN8oiGG6KX8iUrS788mq3fF9sc//H9MvQm4jqjNHGVqKRzKdVI
jKTfR+1YywcexuaJk42R7wa4eXJb9UW8bD0xLRxIsrlW59LDP7PVuFVanFliOLVQu4pNHJnxsHHB
/9TwHTv2JxIm0/KNQ6ZP3w8voNyQlk2ao9BTYOcpY7QQ8xIg6bRKIwjzUc6pWLW1T5xOZVZo4oFe
GERki3alR4W1E3WEg8BNfLfeChgg1TFJhYq3uW8lpPP5e8HayyW5fGK8oZNKGfqiVwBU5bw+E9zg
PjIuYgEdkgbeCAr1cS6UMVyc2geZLTnXnu1B8kiKsTzyBT5DdHNHtlHIN5QQmZwa8l7TrlP2kl4R
r+4frcyw3+0pYiDqCS5ech743Lads6S8eJxd+AFNcuUhR8NtSrbvrVCKnUUWZ+MDxzb1UbcJ+FFX
xdHWA1aERutFfB+7qEh3ynYUF7Qn07rrels8ih6FIVDUkHhhTyZu2pIkytJDi4SHlO4ys7xJNdd/
lnqzXpxZ1nR7t+iS7naard4L9Ubx2SRK8sIqPBfiiieY/8zhmqu7ZJVsN+Axp+rYd35k3GYtrpp7
0H++dZysTA3nfurXzSf9VrcQF8HwVZTtqGNVLQvigFH2C8YQd/3l15euWJ94XQyWLpYt+S2GhiBI
kORVvoR+PnLr1AVFKneS6COi6cCuIObPWFONXiY3jbBmZh1mneh83ISrh3OpJcwNqV5pkAmxoZvb
eWzw0fHfiNr8RiwgiCTrPrmX5TOyiX/CcJx6AenBnOsC9fldSTQAtIxsvjf7Se+uYra52VVVkxV7
8Hha7Dupi0vjx80bMAvo4iQLUuNUebE/XEErYWY1t26DuInPeV8bvK2rdD9/5kVu305Dx1i3gTyU
vyinjLsDcmn5nXTUuoZQ75FsOAd4tDDhRut2NUSYF02Pyl2p6pjxscUyN7cquU9xPV6hSWX2xjZa
g9hGYVs8jhLDf6bMYIzh3ktuk0WLTP9oyUo030oW5PlEqTf3Bk4XrpHMRmDZIbmMWx4yqrkS7WA4
YeQX/ciT1hx1tt5N9qX1sRFqM9v00+L3rfiKrW3ugMwBtcc1Y/CtplKsZiiFW/lY87FQksTAhhTy
OPbnaXYRE0aAk57bHaySocZhUavJET26W6jay6sKZvVkXWs9A/tt0shyvIqJ0SahZ3dl8shOpPuq
41/F6eim3RjkEDUZE6vRa3gKzM0DrYQifRUVPUNjgBknn5/qHi8F3wwD0DYhxByftKhWH0lMAxvR
xc6hTw23993UadGyb9HQ0226DFykqdFn5u1EI459KZ16FerrUXfOFo0MUwhQU3Vbha8AS64n6TRk
0FiydnRdsRWTObWbscCQs19IoPNSrSl2N3OECAGpFFn8hdGpeMySlmuNJ53/zLVedrfShz++G4za
J7xVJhgcpuGNdK7yRJDno/tko+SrjcLbbGG1KmAINFHno0jGXNHbOjX5NDk4zNN1aoJXvXbbOjFv
caUUzpGoPHpTOk1afM5brVabskPeowutHPpzQTUix0jicLsu8fIE26uuH+kJ4L6fHezLEEoS93ek
7n8nKX8zSTHYBbL//v+PUm7ygjbwEibGv8Yvf3zRH5MUWkItsCaubZiAu8wfLaF/FIhS6fQbYxSH
rgDOVeBBmMn9o0DUXf/kB9CHAMq/pijmb46wV1obP2T9uv+sPHTtQv35QCnW3mZGAL7gFQjzx7zm
57NGy+OUKhPRnCw0v41pFbs+Gdkqlr13ZycyqZixxxqSSpcs9jZv0YSfkrVvquAIjrV4wlxFExV7
lDTaE/82qaiam+KKNTbNbntHtl+ojKHNanHkKRFxcdWvXVf+2nqFJTQtT8baheWsrVj9mMnrrF6r
siSj3PP4e4HWLPbg+McwXoAh7MpRtf7bSHjEO+Bb4nbuG7q4RjXRyzUbVHSB+0musx+9XSaAcBn6
ce2l72OvJa8DSYjyULUVNw/D/ty57lFiYaxopH0QjfU8TaagVFik1KVI4Iq6O4+ncH2puo5fl6FH
64aunDMrOvSId+20LQnGaOVJ2pz0WHsMgnc2qQK3RDoxFlx49JTyfiKYzyUbbszivq42wzi6IhQJ
ZRWfShU0ebG7g8lMiE129oIFGogJxT5DC9kncAaJk1d6RArCCfUR/3biLY0lNjY4kyXMHdgSOBjQ
FxOSHh7C45J9XSKG+XaOs5Ec6WaMq5QgqEH4eY+bKGovbtmvJUKyvdXRKAPEEzNQo9VywEjkMdG0
cY8P13hgjzCkgdnp2AOFVHfAPuyd49fzu1tn+VYVQxHOq30+rTqSs16ZX7daau6hNJTsKvphn8ux
YbAvKwC+YzEcPZQTd0jyXVlK+nWcJL6xDbZ9Y1JMzO7jfIMn2wwyUvCHbvGjO+AE5Usktb4OclZT
HpZjzS7ZeYK/Ed+ZcdPdqmR07wr8Dm8cN6ZNjMv9xKI63XE9VLt5rNLnopuiW5pb5hfMcoy51TDg
DsGBhG8wdeluyaNnFDWT7k9HuwEzP/WkGTV/N0IKuo6cqNjDsUs5r7ptPj/XjcdmloH9U4Mp+wEf
eC5wZjPnJ93dmBPUwNadQqpvlqNsDccJ/L4rt7gw+iO+9JYxSR4/m3VlXvmLy5RK1LZ6BJPZzYFX
t1EG3KMtvgtlOQAQ3MWeAtqD5TY3KjzvZBRvQZy5x1bZj1njbrpssMzAMif3Grk4jqnnWQqJ1D+M
N0McGzCSSJValo9kmc181gPB9DsSDPK57Sa5HyO3/lBG8iKaduSg5nknPmmq+di6hnNXe+cFOeMu
crrkJIluPsbCXF4HcynLnU/24jOraKvUCPlg3mlM9wR/yd/B2/k2+k10ELbebJMpBzIfuRn1Vt7w
qjtZ8TLnS/piqj4lZdt4+UujSX+jcu4w0OS4+AjNbX1X9bu0dq6Amjlh6aXFPmvN+YbnsH1SU7cq
vTMae8DXajciw7i12AtwGxtM9a0kLrXKrhMEgBitdBSw1JlOoL9QgdltLK2Z2QQPdagilazvS09E
uEgwLOghtDh1wsdGEH22jWeLM+5Nr7VP6dI+ZLXmfp3sigAHrjudAIAyXTs06iV7dNvMuipRAK91
zPeBk3XRBmP70bc69zwzc+DWGLqHpfCKjd3q1aczYBWpqfS7NSN/+Vine1DUtWLiEKPqK4QmC68j
dUBOUxgW85Fm3iyLH58tQwxvPRMUuDwkozlB4rEQYoGug5UODOQ76mj6bT0nhd3YXBtDpLacWyb8
rYP5ypwjPZiaa3jBpNR8bUx0zFq5w56t7yknYlOU6BfRTBpDCYGxB0tLdZdnHXv1uhf0Ng2TAJae
MvQuopQhcFISFTpwJp0wMVicc4jumw9jH3kf9Hpyyh5SHH7kuil9wqk931Ne6V1Xo7TfBxvCuu9E
rQMZa82pDLo53cZCRnisvKQLDGXpZxcS4SOO2+7isplHhBtMtREmKf2goy6TwpaR7rNZeNeoGdgg
0y7nErWxo+rTJ0h5eS+UMx9jLeJUl3RxGGcRQIO89vd9Y01sbdcOaqYMn1AG7O+VZn1N68YAxUy0
hU6mVWn3s23D/p2bXMvPakq8s2/m+TWnHEqQsuUTABEuQb2oAmuaniq9fZiIJIWeaDGqrIdNUBrJ
LhXC3uvp4t81oq0oZzASoCTslw+xllyKnMkQ7qFo08pWvOAAtPZZbOs77vfPbJHePUBOFSZNgffc
FawgSVufVJZjuW4juzjbFfMsu5PjuZJ6fMDjszojSqffW8yy7rhyy43UfXWbzlX7leOXBoWiFgXb
Hst7jp3IOvEK542hoGZWdk0sg8NRSS5Ps3cF/UxHIdHkdYZcm7nTU9ID+FkRcqt9P0zDxhqm/s1o
W0ZZHi1No5t/6TvxkaHxhguPx+tRlfEQOJ1Kbi2vodSM2tzNVCZE0Myp+y4Qk7e4nIeHDEDudmRW
x1jGy3eWV3l4yrToIR1Fd3F0t99DNWh4FWl7M8ZQ0rYZDBFqRI3Sw2OQaEc1XLWplYS2VB+tbhVf
mkkNu5io81ewLGI7Y/cBZu99SbziW5un3dHEm8CZMM8hu/Jvke36AYFc5zCmvX7U6XbejKnA2YIZ
/3rBe/fpE8lm7Uy0fW9LLbDQc+8wr5gno8uID/VZA2oprrcUpfoH06q6nTux89JIkO9RKsartKTA
ji7Wutn0QtM29LX1dM9UnPuoBvzk7AdCxCoe0yEW4TAnzkGNjEpS+7xYqsbMQ6pCr31jVwn7s9Hr
uwHlF9SqxPebLXuWaC2YMS1QvzMzPiYDkcI9BYSm44fRqwtlC3cuuTi/a/aLKoeAmIba6Im897Ci
nrJqiRlpQA9rECqo3JVILEly6pYiBhRFc2Cpafd+N6l94Qwk0OaMWl+zvNNyeTu3aUIfGlGgpcJP
6RQzfYWD2GAmK/ZdX1ebfqnlBo3fI+Y/iL2k0ZpF2DVvtH5irOJr7mNv4ZhasqgKSbp8ayJH29o4
GAIKw8rASGubB1nONEmaw50yBLXWOLu2LuOuoOooLUUURB4cwZ9RcRCM9iBCHRvfcSpb/5BJrF5x
uninsp/vCO99geD19OOA8N+z1N+cpYSu/9uj1P8r3j/e/3yS+v1L/jhIeRYdnZ4FcVQIQpek8/8p
SXvebxbbAHMVqIhN/DjH/OMgZXOQ4qDke+jEHLV81DmCxH3yf/+Pqf9moGX5ZPAcLOm4fv4TSfrX
BDjfZQ3xC05yUAf/Ym/IRG1YnWlpdBVRcBOk2bwcBh72jz8dL/8XrfkXDWsF9HvuemrjpzHQ+rXJ
YBFdOzMF0tgXW+KR7S8GNjYON6UCZfw3ghlv6M+nw/Vn8SCFlM6AjUj7j1avn5QoPous80czOsyi
8m90px3PxNHNk7Xo0y0TL1q1//0vZ4q//nroqBxxdU7DAqztLwrnlHd2w+46OqQU+jGkbKr+mjhi
TNiLgJWNWK78Z2wJprHTaVjD51/AEt87JAjkvrGpprFHnhLBMEnsWFnaHvxqQnaf/Vb/kOAACC51
/h6no79Xa6VL6cwGz+NJnrC4UT+WQxwutLZ/EpxeT3B+qXRm4HKJ5j69WDFU640Zy2SPtFEe07iD
psim/s4ApvONeO/ynORW++zW8Vkf5nSr3IJpNtGxw2KY+dniVO+FScbaZHRD+X0xl+pmQRN9MvQ0
CyRT8p3dJBJrYDmi0El10KsIPPFCC5U36kD/4ZnS8EyWAXGou3JFX11YjuELMad/14tYOxTOGk5p
NXVoZlxQ7D/8iLpSzag+O49CCUqGJoKOS8Li3iiUFFrcdzoK4luaa/RnbaakdZkAurMCufTm24Y9
d9eJrLOdK12OaYpuIy3UE3Ds2DlL+TG0bv2Wgap7yaitvffxOyVIfZ3/NfNgLzLUb5EpSvYLObn3
dNq1o4dPECpG8pEnBY9McpbFjV4QZKCXNGYeBt/xasav/uzNC2TdKG2Ju6yx02whKGoRuLiBlnSf
TKkeRhND4AQU0bYTevsGZ3TcVZPe77wRI0gwAan82pZlsmei8Tm3Wb2J4bxcxb43sGVaKN3bdrw5
iYyKc1OUywsCrXZnIjJc6wtMoaCbRE5WZ9TpNk2zSA+0CniOk9rHCEPIYVSy25pzml/rWTx8jTun
/8jFnBXbJWbwsdX61D/xFnSgEZ3Ppi9CRcDjIgv2yrSCfGWLq/BdWlcRjznmh/GT3+EmbKKaA2ft
4V8jIRTyTGUPZlh6CKvRCdy6v8q0liPf1NND5uhe9g7Gg3O85n4xowFlvXJmcpZOcx+pwrh2UBBs
dvgi8DzX4tLm7plwSVIyYBGsF+O3qXS1nd1q/Rky7fKxNo2FfLL2R00q9wZdBnbH0vf3jd1r9DCx
+2z8dDvYy6s2tJQEMaHZGvPSUTO1LFvlO+pBSn8IUZPH3Vxad5JTvGtGlXFIc8ItFnWrI5WJ0kk5
QUVo20icA8iCIpi92siCBVv5Jo/L3N4ygp7zcC4aZ7n2VDFPx8LXKW8IE0J7ehBp2Oqe804x3kDD
GDoV80ZUzWaYxy57tNrMi/sigC7ljerRnftkyznbjYkj48RHM4R+FNhIkWwLPCn3alwc93XSLFiX
gF8Mcjue6vRNWmizt+syFAALsl4P+CxXS3w/UgYHFbNOx/jiNMQZg6pspbqNyf14FM06TZdc+RFN
naQOImW/GTVpUKo8ZKRRUNtOvvGcQdaydw1JfverOxF5CZIebOMp5zQ/tA95yQAYG6rf5W+aXecP
dD2n+1aXLMNV6dqHUe+LZzeatRU1ZURzoAbHPNnTWOkBEzQ1BLaW+Hsb/fAEEKK5ZiBgH1DwdRer
OAV4m3LxxaOBNJLRsbr+3y5Dj4d5HtSnY0i8QFLIekcC0DxWBfyEYMD6xLCLTse60+UJa6i/pUZ5
HQk2ETkDIkzVVWNZHBVdBl47sbajFW1KaqWmEUp2ujcF5PpxAUeR/4XcaInmo8mHpYNXG7CFHrBi
c0i4m0yr/mZhL7zmhaTxjlbAinSTXy4bwH1Fsm3hPB/RwPybwk6d96LE+A3+coQa3bnsP1W+msOA
AsoQGDZ/Zmt9+Z3Rf/Fs6v10W+SZA712KauHuEwQL5j4DYLFI6cJl8aKzX93gbJP+/lvdoFA93Tj
p13BX8yJ5xQGCf/UdfqnofrvX/ePvaD3G5gkYbHno4tH2A7f8o+hui9+c/D7/uhk/+c0/acJuv6b
YBO42hMt4E4u9pv/oFjqF6/Oas9BILB+GMBo5PwVtjzovZf0YxIfCU0tZ71syW5kiv2GhadVbMC7
tp/TMDafmPGjv3EKYXb8y/4MyyabYdMx1xoVmzfh5+k9JYwNM4suP5Ycy84uvsOdZnRMeZaSEY7d
J/qhb4BlBQZCN0/hZs6tYCSDc00j8/zEcJo8HXlSvBZc5XAefcEYgIetMTFatPINjrr6balz0jck
fFL6tKPUnQfSCrWxNUW/nGEq6wde5Wr2QG/LL2Mix29u5iHhNmkKVyOBWRlk+DbuV2t2CHFy2ntK
TbfQ5JZdbSYzMXArOuFk4X1z5CSveZk2g0uQ7O8mJR47emTyjURdOM7DnInASSxN1ofi93VRRMug
nbwfC+ZM+ze+rNiMnZ3yXc141kcYxtuSfjpW2zzR7LdExyqQokeSrr2qejNnfWaYVqvbxmAoDdPN
U/GFaXji7ap8FvE9ZhVnpxfU5VnUBZa6tzOIv+gbLaGc+Sis9W/GAlfD60Rtl9w763MEsz+PFBCp
PF6wnfOoEcpD8QxF7og4LYLSiXQa7RoZf5TLHN+MGC+3lb4UPCGo/FqjVo33ujBB0bZS4NtXsnH3
A4tUz3+BGh3bT+bM48X1MuTKXIdUWjimuFtSg9LGKBpf2+LO97Cel22pn0XnFXtSlzWbrywc6du+
Yqy+a3CZ3TZJbnDB1C6MvoGkqzYzdB+deXrKa3sNPAA3YSebhKY9MEUj/PVNk1N273VsWBp/Qtj1
mZMn0IGPPfjZt8xeeQx0J+EhbSXarexPyBYHQ4jiPimy/G4kSIN1RcNRR6PBXmMidyIffZz8+dHF
NEE41ve7DyZY0X2ZJ+5mMs2UgLpTbgEQlFeuXnQY/HGTJUtaPFWjI4NGE8keXIP/6cR5Q+41arPb
ERAlaXFhA8KuZ/3i4zgDiJIJ7SQTh6+adanftV1N7KFplmdoI4+ZVhtvjhPXcWhY+WfKqfPZYR64
sQhO7aIiso4xMQsSdFN5bE31LYo6731BANj6NXVFyPtx/054lSEUZxBKGi0smupqtBL7piB7vIPg
b5bgxiNAj7GVHytfOOeocsUbuxePmJUktG2Q3gZ7VEBYmP1wYFz0SBAhvjGZZR5yAqJXChfHhRHy
cijj2r6roT9fhrHOXhuZZG98osV+mgbzCkGoOAxS1pd8sYrPOu6dKIwY1p1wMi637OjGa0QqChjT
WoCUrT33fs562L0QclhWzCk9e3Nr3vkLQ/tAcUsciqmNtABxDaSSE5s3gzd01yMB+5eJeSAB1hn6
BIJMeu6TvHkc8kE9pKlTn8w8ZlM8pf5bxXzouR2d/qq3K18DL+dm9Oi4i7ETVCqRf/SjYw1qdd/T
3bIhMIozrhnt7/bYNnvqUOaXKSPdHfvaUeZ1eezt6FwAL9lEFNsGip7QrZDx0fDrq9nWQYf5bMaw
e33laGHQ0SGLgx5PUyBtpk+CgBzGLIBDRsJAcwE2/VEDd7rimAQrhI7g0JGWussqu7kk4ImQEgfz
Djj2/DpU6fJpR2K84w2JbkCGDC8YS0TIaRQeGf7LTVVO2UEVVravrQw/Cujm/AkGdLHnY+du0RSm
MTevv5oaA9qF7hoE1gh3zITdImjKllYCMUp4peXshBnGTGwMtvF9WYkDAe1EA5cyLijfEI/s2Mdz
EpW3RJL8i1EZ8etKItsvZBuh+s7aGJDF0c/svPWz3+f+RatK426eRnLCCFD+NZz6Yu8X003RcH5F
iOBaGYbY2iyWj6WOstnpCI4tPtWUd2xizyHZM5jyPKD00RPJUiMLeaU5dnYyUCofnBkOdUhOKAq7
xqEnPVNTyy/ttWkw4Gg8dDOpGmJ920nP8hPPEsSBpjK+ZMOYHovOLvaNlaaPos26+xjz3cXoSWdq
Q7OgEsx589TJwb9Mtrucx67W3utqgFEphLov0oooOXePey1ROL7OWkVzVx439kFKWxEFLcd91Inx
MvYto1oMOTsvbZpnRR7wFrtetJmtcdkTBkrueLLVb44/VB9eL93vnPo4VzirlRh2+legSdnWYp4P
NrzeqcrjFDt19sal2JE6yfUM41PQcPREju1W74rxHfKLKLCbQlUKnUXLTgjPzXOESrit3Jo9rV2m
UWg7Wf5dAkHfMZJpXmgTcpwtafHyw4xjby8b4BQDlN+r0WPuXCAvHqmmOfhDDhgCSgjPkwKf6KW3
dP8m88ruzAm13xJBq05NxZEv6jWwIFZuX/BJjoE2yuGFfAh8k9ofu7CzyPAGnamGuzruSEJr/vxN
N4diCHzorjLweY+vCtVrFE/YzluTViw9uVZZ69g1k+uiXTvQqKJoS/VJdePm0rykeiRZlkYOEV4x
iyCLbG/v9tWPa0KlZmj4YJYwLFXhVLnee64TswVH/G5BQTlrsbQfvJh5AM0T5rVCGWcZnI1bQCs6
KFJ5Xj/AU1P8D3vntSS3sW3bX7k/AAWQQMK8lq9q7+heEE0H7xIuga+/A03pbLJaah6d5x07QqEd
ChJVKCBz5Vpzjmlbe5zb62ECqhekjbjq/S49RqLCNxmX1W0VQS7y/G7guAx6rWnoxhsuqFt0t/bW
d9kcc+YBG0xK9ZExQXuHk8n50sVIWFdWV3MGGYfgwWIaT4JoS28qVtajDNPYWRdG7dxmYbOQQQYd
3OVR6e0Rmlc0SOxLOCUjP3vBUKsxravOcRHXdsKHjm403+IedRPnozE4hF3jHTy4hOs2b6EyhVN7
W895fcvpsDmkSHcPGi/XepbISsdxDmZg1Mp7Ty0gHrUdpFBNpO199wuj/1hUvtyFWf1BNjl89TS4
s4VqU76fyYSdOqU9IIdDLJViGTyNtTLofogW7arjEtfhGc38JakV8cEt8CPAOXojK7a3CZUzj6bT
4qxEQ4eCKttZCZt1T3cj3Y2+8oDFQGNKCa93+msEp82mbRRaR1XcDHQESCqZTWfPflfukBZmSKCN
aWdgYT6IKvdvcEigWjS95CMFmtuucVdTgEzhoa/TcB3FWSDgtSnaNfj9rTVPdn47VvUQr5WjU8b1
ZkX5isp3mxnZeI/lD6U5Dbija07lTZc1I++J7SoejgCnmppJccdCss9IR7/C1kYxDY5Go4gR5vgw
0G97MrMqfwKx5+9AK5MVKMOmuamzLriYM5dqJZLh0fRqphORmdoIPJjrDohXw2PSD2re6MhOT2kX
YDpnlpUA9oiC6lA0Imq/2UXqtUG2yuBD++BLGv8yhC260Z2vTjKPG0YZrU1bUU3XQaOsDTSWaE3Y
sz6REzVvIwr/D7PrX6SO+xi5CcITAXArkRbf0jkVmWd9SuAwrtSU52uGKQElWeF+gDAijpNB024Y
YyKaewOijD0/q3j6nHjGnY/qZBXEg7vJZ+hybUMXrurKcW/ahrOGtbDWHBEuktwqtiTpPfGzoKud
fOBTLcgq4uHDlZEnN/jR7atWOh+tFuAOZqme3Bz4MnC31Loucm7MEkuRFxP+d2LFV5XnlCdCUO1d
iUgeNwoyyWS4iSdHvLMB+GRrX5MmaKI82i1W9fVM3AszcdphoKK6VYX51vNpt81Jan+cDKH3NG3r
dRH4e1hg3o1242xdu2V2VfL4PRutt8W2GD4WyH0ONX5u2FGteRUXebIZotFhjKnY5to4OSa15+9w
Wsww0UIJeRLtD2iX6JogRHZ2slRvpMmXS/0c7WJXcE6oVbeG8tn+po/++liKaIy+PSGNeLw4H/56
MIxDB6E5EKNjSrIKJZz20MLMPqu0RPQE0rnkREotVbJlm9mPzgYZ2dE3lsJ8QmTysxvudQvfFS48
d2YguHSs4Ozic1KCUJrr5GjpSn2ZoTNf1kke3/hZkN3/1Bn4m0v9zcwF0RpnmuX0i1H67FJI6FMw
UwWXQr5bbnlHgLuXfIFvb1/HWk7SP77pizNymYQw23ECGg6QqF9xv0lCmxyVedGxr8NpF5Omc3R7
LbZ5mXS3pJBlweUQxATGTU7xXHvR4l6Yo/gGh/5yuA5RyW5fPtJ/p4i/6R/BP1r0kP+syHz8VgLq
bL/xE/9Hkvnnn/qre0SLCF7+IrhEjvOfzpH5BwMp3hiiyL0lJJzh019TRPcPPErmQnem7WTScPrP
FNH5A1skbi1GjNK3mVD+m4YSFvuzR81HjslbA2SeBKYgOLdJexyyjHiU5ZFAuNYCD+mFGA1gzowc
WBieozC2XE+Ml52YpnXRogKyWm3vySXyDk3hJJAJQ2RmaCHJl2hY93VmZltyfqnSI7clrVHZ2yJy
9QdyDRsUE7TYnoOotI6iNvN1H8hx3cQRSJvQ45hUd0cC8qK9TEp8oj7ye4v5+nqmoNpPA613ppUE
LMyBbncyhueQl36G52iqPjgo5J6xlxfHXkczdZu76+GgbUxs5usBVNgNXTH/UGJAoutso9kZWqeL
VrZwqw+x1Td7MRjzqR1yMDkRArrPoQ9DdqULOCzIsaPoqlIgCbK08y9xWZn3/ajEpsy9O2QFwRXb
bbPxiyj6lMfgTdHnDIfZ6xkpJE2I581Ue+VRgI4Je5ayp7uqrtDTlZT/LqL01dwP1g0Tr1NUZhQ4
Ors1fE68EGmylTWNBKIsDJk+a+SDMu1yOzYMZ8zZcYil0e2xb2cD4ORsnRwaT6e8LWu0e828jo10
Rq5nVleNSxrytvENYzlT949WUjtbWqjeJTmicu/UVrEDtiv5W9v5rh5Ee+UlRrjKevHo6kJ/mbKe
qdeI0i30svZuBraEpc7Nd25fISupNeKqJPU+96GGwjJ9gnXS7q3aTg/9EIk9sa7hu8FPql2ahu5X
glez6aqfRHoVSYQkuV9rPMy6K7Z+kQ+bJPZBbVA07RoXCgyRjGJLYIJYRT6HIDWp4DO74fg9Gqdg
N5ul9qkpFkQVk3PyScY2v5zS+glpR/rEPj09GzALbHxG0rwi+mG4IHRTMMww+ZGTIK7xUzF9c0Xo
b+I5808h+/qNbQ3VVT5aT4RB1lTHttMcfI7Sd7pq6AOW9nAj0HJcOE3iAsnhvI0Xl0wS79AbfTLt
4Jui9A/gZKBB6vV4cmlTkj9JYtKsSYSMndpfC6uJ4hXHz2LJQ8LmNRO2tRJOb5brXPQ4oZioiE3a
YBdoLQT5sKeLW8OQh0A22SomK+ZKueK5yhsvvGzgxMUX6Kreu4nySM2T+xB/t3EEy4W7cc8oN83w
hARjGXyZCXJJthFBPDfzoDGj9cIvvgSlHc6XTolf0O/6J4lM9Vb5BOn2W0gzj07YpttA9dY2yiF6
jpUnCtC+bT5t6tit72ttADtZJ9MQHWrHy9STgHGVUbebWdnFmxIPnndCeuy3xqaQqTBvWCi57wX4
0l3IWchdlFeh+XGGIQJnvTai62byCu89O7No8DnKyborddCHX9OwAda5HIJZ4VYxDVKSqvvqgSdX
ok4O0EFjL3SsDHt8zqTF7IL0s0dtZRx8hqyIzqt8NFYcnjkADKRJIwTQce9cjVERvKMWxHeMCoQn
xaQ9S35RxyAVv4W+LTvP+To5WCr2ItRDfaCR6pWbwUgootEThsG2lBCoV8iVkBgW2rQe7WimYqQn
R4vcHOsEUIfDFbssRH4oAiwtZJlQLRLpEZScW7FbV+6aJKvY7l4c7eamqgZkQ54GOYJSyr3Rg6t3
wFD4v8y005WS3GOAn+H0mIOgvlBU7erlIIBUswhGUnNs9wqHVnPMkoD3XstwI9HgkXXa2zR9LRHv
S2/w9xXt5NtS5NhpA8sDJiOrSx3L+CKswSSRoUR6CtI9j5cKHx/jT2hY9DpdcfI9tZdGmS7vasr6
xWlgCz3cNnacpswHEKUpQ9Z2BmqIG3flGmV57cV9de8PHqGhbjN8lGko4ILawQXyexvTJQeOTDvR
nkSjGajS3OfmqgAV9YV87c/sUeqasopOvAdpMhkS9K3CbMyHaLZCjF+p/yQ5Mt05yD/ZHMr8mAMu
vqmI3t0xZjVPA3qIL7Nw5e0E27X1MCyxdIYHAtbNDxxdkg0AXP/jgDa1WnWhqA+pbPSFR//wypHo
WTkHZRsYMOmnGHfGSTYVOOFI75gwAkjrzDklDyG2sK/iLN2mUzjfukGaQtYL9i1wq6fZq7rj5A79
HiTwvJdDIZtVClh7DZdwWI95Fd9QNoJAVVr4FwnotS1HHbA1CsH+yPUfdACcRlgMHCMRxrf1FI3r
AQfz1kmDaI9tzMeKkA102EYnZmmcnQ+23dAAIWOofh580V1Z3mx9G3pR7STgi21mhdbBbRv7vaG5
nghgBtZWG+1ShmpbRY7IdWaOzbue9/Cqhyl/K6UVXCJxpD0QlymoWI26wAYZllVyxpaau4d8Hj6B
g0suJ+R870N6Z9cgegP+ktalEiiWJptfccqDlXndUnR364Q3/1amnt4zaFPPvleuG4xaG1vPHf10
qUGvwWo7Fpz57pYQrAsrzarPhCEC28Y1vc2myjzGZvQ+VKVLLB7C5bz04KEa0+Kry5QPitn4oMvQ
3DqYG65kkpgXttEu0xMVNRtt2DXU9Bi9lba6J0P0xHv3bdSiEMHpBg0KxNug3YAgZ9ODgOUjf8XP
2K2bguB4dwVU8WUWg2F9Gc0QsDfQpw0T+Sw0PGbtxDjzPDNlJSDmG7ZzyVAk9h7sP/UEUZFE8WPr
TnVy99/6/n8zH8aVbnGc/ef6/mER7/2/zXNWdc+/lPg//uBfriv3DwcFmSsZNknCZZYy+n9cV84f
sGsoOfBikdiy1PJ/8WvkHwHaHur5pY5/ORv8qRV0xB/g7ZgXu8gE3ZcDwL8YGwv7HKWBV1ESWm1Z
lPqQCl+IMj9J6wKzhVESErXrOIwMfOkU29lRqEzyOdvSLGo3EFTFvZ27w96vHOiRwxTQNfYphLNq
fCTworiwWxLnrabzD1liQp8K07RcYyBN155bxtusi+6j2j44WcdExwGjDWfr3dhnt6NwuhUefITR
iI45T6QAH1snwGlQ5qvWYZa4apxcPHQlSL66Frw7dlRcO+PQPpZ2QMfH65wNrwviJSD/k28/Ae38
btf4nGD53U2gZe7TypX7ZpQO7t+0L+4JEOtPVe03F5OHy2ylmyLbo/BNNkTd6ctpdL1jQUjANgU9
fnJUCO+i7W1grtXsUv+b5jUbpwDiSKbHZtC6LlaeZh1bJnjTYTaVuTXrBUkvG3lpKv+Q5+K+Ntkn
bWJwr4oM7FsIXjulSlm2QYHnijK/Ielq15l1AXsER6tfWgrYczauEuxa+EXUmh+ruJg7J9t50vBO
RYoJJazCAv2LV++0iHR50CWHS7T2Gjs7yMRGls1mnOJ36ADE01hIF/e1N3wsLTIX4rYJUHbb4PVq
yHbmln0kAUndEGZuXgykts0PpcJO0G8TZggGlmTNJrCq8t6Yd70LJXDVl1U7r00J2WhlOB1Tl04i
gyNO3b8OosA08Ls2sDqQizbjvhCtOtDI0nuvKJm7JpZDr6sou3vD68wOBoRRxN0KqrgNyidK5CU1
orlOF5761shmg/JpCBgHYjLKrg3AurWxQZXGuW5f1WpW6qpKc3JcgVNW6MsI77MHmIZr6L/lXJ44
ZnWu+liJUN6ruSYKESJ1lRhUIsAEVTrehV1WMMaofI/5pjcj+tmRo2H2896ZaZOhKZ/E5D4RtdOa
DwbZpz7pu0Gak/QnooJmzI7tyNdsDZlbYa29gk5Ka3yHpbjs11ZuWu8rjjN3IzYMmBdp2aDbJ24Q
aqUR6U1iyWDJtGnbYEuVbKDjlEm2EbiFp1XnFgQGoVZGARU0X+UcLSR3vH73JVL/es1KwnwlBcLz
LiSrtLg2yHu11gXjZmr40R2oZ7wR5EoTI0O3GHyf0DHEh6rMDVqBnh2tR7+fHhTOXY6/htLvsySn
ZJWNa39qYof5Q1REN0vSxY1LiOW2G2qUklANxj0fwLxiJiE51DckkZYMg5OprG9d0jPfMZvX/crD
hQ8nBKIkdUZgqaPgvHcEARUe/dozxpVsO4yDUaflxjIQdrDxlh4/+ZyR9yPtblpZONa3sdl29xAx
ytvGr6O9hyAitgZ5Ayw6egzzWl8AcIdu16DG+/jfDfF/syGiiFhaqP+8IV4lX+Ikei5/3gz//EN/
9bvYvCzmFcGP3MJf1FImLDdwEHJpcZpslDCR/toM0ViRoCYCN6AThcrqPz0vhwZagGLeQwK+KNFp
ov2L3fBls/upuyp8exGZc54kM8ZxzPN2Nc4y3TV5y+pcO6Ai1wNllT4oOSR7VoDSLVZVPBXVZZpZ
xviU6BKSRT3FNW6vgLOglzAUt+hGEHWlyV1x5wn/rMPB/yISDXazICw50IHhV+1viGPcgp/7woKU
RMoMbq3pQ8kT55/cb/sxJ+1cXdiRqe+tuDTWckyDSzI3zOvRmKgbf/pp/6bjTRvy1SVpDVqeQ1UD
oY17xn//qXIwkpylFxHIhesypO8YCa4ROVouZ0iQ14yXGqM5WMqsPwZjQ5oGspHBcw6B28NslxE8
0WNIDwkPDm4sGC/IBua96Fx9Cx4B7km1oNJiNG+PObIxVt+wrC7S1gLMEEEkHUieXtx5jSKjZi01
NPVdNMIQZtQ/6Pt8RkMi0FQ/d2WNYzqlt4XWCto9SW1eCLKEUHlO7j/4J6xQKEMZrfQ9Kk1juprc
RDwqy+YhYBwuScRB4grLHHLC3NXWtfIrMnS9KJkAYyQBB2xk+voWqFSOoTyOxKNlYdBd/eDXtCpt
PhoL5yRyF1GeFmSXb20p6o9iGMGXuJVo4hsOM3yiYJLoy5hm6SfVSDRFLGIIKYh9stoLQQ61uJ6z
EYG0601u/UHYPTCZjmPOM8gWQC0Gu+twD9ZVPBp2LvT7GuaO8ckWC4g+aTX3euoqXR1R66OfGIh4
YTDlYlCE2jvwX+s+49OJdAC6BX6MlgYIdzh6IQY3dwXOkUYE8iO+f5rhlEzBzbzrJzd496NDEoyW
Kjb0vO5id+HAmXSGI7YyZA8rKN5d+wFkDB0RzBuwjbiPKPRkYnNbEsZTI1LwrpkfJnohZDcCgbMu
Ilgn8WlefhJvuTlBk2AXHMHEXgRo+SzE0J1BZchWfRXj0b8zcOSTAfWfaJGmSaxui2OFlzAPyDpY
KdcbPXjMIt/irIo2OXYPEO34Eh/d7ixqZEZr9hylnbx6iRsxEBBfj0Od39oIiJ4xgiYHxrsOEREA
1J/LKBve17YJcgc+UAUbCZMKI2WIOUhNuONFHmYTvAEXTZCsvOAdurC2uxPJjPBBgirB3g6KOFmP
SeGqGzTB0t61EvxBjg+/sQEiTw7R6PYm5YkUX8YlumdFIeSM36d0QhXCvxbp91qP+j4p6CyR1wLv
CYGlfG4FGYDrGJXXI0nw/Dx5ZjTuyghHflsU5OBJ6DXUH7kzvFxeSurSPiMCh4RbE170BwaK+h5S
JC+CMXusjomohbvP0DpdSIT3NR0yKrxogK63o02jbx1bNguWHMSIXfbceq/quYoLPHdeWbxtwVZr
6FJr+ve4UV+MtyUyQPUIHMww3hm9NzcMGZShbicd8ElyfIPj01zQ3H1KHHyB96By1UEXhgJrMCAK
nweHBWKG4AySveu4l9okSm5RxnAjavSxB9z74JdIyuPtqRsPG/DLg5xpgx+uMoBIQzlbXopOIaPB
kWyzhgIbFjgeDWKaliOQ+0Hnfi9u0jBgofAjC06ZZ4/WNaC5NCLaDhHbCoYMJmSGJwoqjqXGiGCZ
Puq+EuvQZe8VK4RFazucpbqpKIld3M/4gYOth4VGbUVm8TeZPE6ntvH4zbtcWdcp7Rf93u/DJvsm
PbIIiFOeCMfYFuYgxE3B/jM3K9GnERSXkrYtLcrKBc9C+wmmA8fAGU18EpmfAEBDQEoi/7q0zeCD
HPpwXc3WgzdEelxbRdU/LcArznBtDNKiXgKPovhoE1i1scOQ8rlIhnEF0wO0A8wxeTDAE48Ie1NA
1O/xifftzqmlS8OvqknVY5GpjuQhmO9amA5ruzA/GbQIVx0z81VGZuEqiUftH6xMRJ/zNvS+oUsI
EfwrZBHkKzFZwSSf5UrfuZUXfZL2UG4LNikSjVr73m/C8pNFEMdOYDQO195ckAfQeQrqNZonrwYT
thJzll8ldZQ/ibT18JG33W5eLC8Gh7l1Cch/O2B1vxnyubiUztBve/xTdyzr9ac06OOHwUHN4QHU
26umdXZ0GTV5ZESVDRDIHvDd5Jy0HDphihL7MmADQ7fTzKfcCLIdDQGaag1enVXugclJBrt6ZNOp
P5SyqONNOreL7Mus3qMKXW4tHPGV74ITWxOipK9rV9t4QwmlYNLWfqeRrzZk0zgHMacRcDkhrmUE
0HUTm7KcVnqiHNi0SgwXDcz0vZ/jxlqnuV0dvZjTSiStO1ys9d6ktb1RfMcPaaZqSEJiIHCGjuew
nQqvv246J3wgoMPdk/QLuY7MKWQvxozWAN7PtRF3zQULNpC5spyOo7FkoHUZHMFWAXRmZLFuUE0f
4rJ1H8lJn7/Sk04v0AXPF7jKCT17u0I50x5QEi3GRGTWYvENviqJJiITu0B1zkm5JXuYZxDwxOIf
ss6VWrDSOJj37LVRDPy7aaS8pG9/gDMKLB8AECn/A5BKFO2rASrAc9tPyZ076a5WhwxT19ocbXZB
x1D+JjWH6gJslvrNVc+kCC9XXcA8wqXUpuW7lG0/lWUOYbaEv8gAtRnLeOIkrEx1J4AfvP3tGE+f
VZyAvOlaUa9zd03zrPwbMHX1bQCA0MnaZVE3FZtGqeuPEOxYsf79xTy6VNxOcK/BeYCyxSKCfcmF
vragGqoqdo5t7OZrI+mD7duXel1Jo+L3uW88PcB0z6UcTQQT0NCme7Ldyboue2p/SYLEuoWff9F6
uP3/9fUW2whjooBm4Kt8a8uvWDfyQp5mHYfvfuyBZQwACDxASznUJhO39+1rvn5GfILU+ZomThEh
zTPoclU6jalJgj31PaLwccTQoC0MUv+Hq3i0K2D0SsHJ5NcnkfSJEYdU654i9ImHKcEIy8xq/D98
Fw6UTHeRPvDcn13F7WzRSDKrTkHTkiGXePn6BRzy9nf5m6eCnhtYZTqgPsfNszuWkfBMXGwlTyLE
qwszmt9kmEZ6+xOBDdddDRHvN0e618sHazpLCF+LoRuX/fX2lcmAnjt3nZNRhQjhej86zeZAKdLn
FdNDUm/BHrQzi9fbX/X1i73AuCGF8W1BRJ1/1UCMCeJWKU5Zz8sVVixTnUsAypy6/uXbl/qbr8jD
QSubVjuKzfO1ystHxaUKcXrx25E4UV3M4Bc+5g4PDORGf6OXp+bti/7d90M/41tItbDb2+LX+zow
4LNjlC8njCfqUBaOfcxNP95z0Pnti/YSgf5LR8EJ6E5Ix3Hwevmv3zQUWr7J63yaVRv4TOwKSY8L
y8h9PczEoqR5jMFookzWI3XdSK3VXg/NoAmYM1qHw0Uln/NItF+tuLWpOmcafbd+Bl/wN7fl9RMe
mLQ+BFNBgdv+nFmOFHMkyC3kCV9IpeskTHBSawK7VkPq8KilAWX927+E9XodCkyPt4rdkVGH7y2f
6ae9Ksrpl4RsMScD4YnaamzY9apD5vHVV7iE1nEdLs97moDP7PPm4zDIBVBLrMo94uYGIX7Uwy+k
Skr2CFNBYb79Af/unrBS8qzA7DHhnf/6+QhvjufB560vZp+i25TpJysy7FOb48lejQ14krcv+OrZ
ZKqzvA20cnhE0Xj9esEmYfhvqGk+YUQj7xcX9xImWfKY6prT+L+/GH0j26RBw1Jzvgv4s8C43ATT
SUda36Yl2kGz9TnlSLPmlPT2xV791Hwz36dNZ9pLLXZuESwyw0KMak4nN5QcLKOk48niReSU+PaF
xEJm+OWVc1kul71b8uWgcyyf5KeHKrfjRCNlHdnAFU5zkzNcvzYwvmRPoVHN7UWdDnRCnAgLL9xi
8OR57dlMWvJlG6wafR+DH0CsOnJYWrfWjPPQU+pg4tb9GND1srHgLd2Psck4HBPHOt12ZRVUv6Ne
vH4Y5MJdp2EaSBt0yNnbwdSAljhxsycxT4TKl311UaDX30fm9K+LHnAZPAMoS2nYIjk8e+66yBTd
AG3hpGBBHsHX8v2bqgm2TLmqC6fUv+0fLrvXT78SjijWQ8aR/BND7atfqZwL22qUdE4415xvrisG
gscIS3hpiLheS1cHP418qrQWv3nJxPkjQvYHgTkucl0swDaV0CJ9/OkRcfKwS5wxSU+WRSdpxs6F
taLdT6D+bWh8Gj6Ya2UZUKWqtVqmWBVvoK2i5IDVB7qYEAy4zL6gizi/AIob5S11fQ8HbzUv8HFV
MBtDLmMlt143GSh/qjFBk/WS4Gvh9IR5lbbzO7U8XrnBZrCfoOTWp0FNIImF2+pbCXEXUFqY0fcD
V8ZGnzQDMi8/GkV2JQl8VBvTyoo74oBSJpKdsSco0L39EQFceWW2ootNdhMwYXKAaUujGWs92SOF
clR92WVQZNbnkcCjn1hrZ8gl8W69BcyCeKgmkR29b3MYq2d7TsuKd8ZKaR71SMmsr6PyIcemRsr7
Euh6aYZOURbfkt3Bvy8mjeroVrQo94FilHZwh4xDSdnM/Ne58f4sPgckg3oX5Etd08DM/xiXuZy+
0y1PxjX+LsXBfYJPkB0j39AIyeYivrWhVFWXOKiG7o5oT34QQYYbCjGrqLP7ajbZL1RPfP0OUa2+
z0zhX0auW2X3Xm21X/EH8i1GO5XzN9stUXapxlpaUWPOz6zNhD/IVwfLjed1fqiRy5IHLFLncuBu
DnQ08LIAruoyvXNr6E8b+iB0riA60Qj3scfZW7g1/I0w1kjtmke7xKKdkmipq4RLN9nMrhWYpUML
J84ZpN+U4yC7e2w3BJZkBD7HtxwXcUOD6B7rtWEkznEYFFTxTd8NxnquS8C8LjlZt4wDeYJKXCWY
pbwx8S6dISQWG30ituhOW0NyTUoGPS2fwT5RDjlHSFBVAV3GqDe1erRKiQvQTyQPWMlUTlwbiWJv
eKkD6Nnz9M2RS6shdiv6Zuh/7ekipBHiN3TbKv0dllV46yMXvP3RgpM5qcsrO9bWD7x5EsYg31uw
GPXhx2uFqHIJDOadGT07RaYrE1pvL7RjohDi5EC3l9686ByWceVKnqLGdzkYxURLkArRLj1zO237
z1NSjcNOI7a8/TGasUhnJoB2KSRelHQ+po1nEueWTqyiPQ/oneOPtkw68C/bnwdWVt3G9K68S4l8
AESkSe7WrvIzuN4F6XLzvqgNJg355HBjnXBwQOAHIkru2rLhg1hYBtWuzkV7X87IwT71INzxOOae
BH7uVwHUcalz69FFIgHoVYXJ9M03mGRsU78Rzt1k1XSBY+jXI2BMa/QK9mPGADE5d3QLeFYcpjkI
O53O9t5TmCOuWBH/V9Xo4MiaQL8bhnNBb97IcTzmapENTjlNyd2iHPPpCMCMPRWmqWm10SHvfBpk
CIwRZb5sxP81BvzGGICOxmdD+ec56WXVJ23yXP6iGvrzT/01KPX/QDPExu8sSVUogzik/IWVQDTE
BmaCXCb6Bm8A/+kvcwAUZ0EyDoNQVyw4Ze9/zAGCv5C2CdutoKrjYPevEGP2WTVnUQ/TU3PQf1Oi
eATx/LqBwsQa8Rkzvpdl6NHLSg3r3owbnGmIPXdVk/rdSmLi/9waXvhIzoI6TkUZngyVhKelFcm2
41lkybrlnhzaYS0GKy/gAWXGo18XJDXFtUyAEHQBbOJU31gAWL6lSliITKP8Hatlt8WvmuC0K8Kr
yiREdFMKj5jwBpmMFZkKpzZZwIeqKdwHxKf6+qef7G/mn2dHA+6A48C+ltwG7ilFxK93IJ180qfQ
Phy1svStC1N9H009EpCuW74Xn/vt650Vgy/XI0nGZizNmNs6b6YIA2cpjrSavqqCtBTln6N5HDim
cQ/evhIPyc+V2XIlz6YfxQBDcg48HyXPvWvNS3PtOKKe3qDPmJaRpLEnyDF5YF7m7CciUO7fvujf
fD16lZ6JUE7wmJrLf/+pIktN8KFF2eZH9smJ0cSCJGpNJpmbXks1rf791aRjccRiC3C9854RvC00
OUWaHy1zlOx0qph32lXWeNPnwePb17KW2vmnSne5n8ECSEfrbOLbOu/jMG/N44J95NjEOrfXdowY
ftM0RbXhkDuTxR7rm1711uWI+vYw515XM6Z1f2fFe32HOeFBhnHIJeOf52ftHPLHVPR2emz6jC1B
43LfQH0IHwMXUMRvbvDrZ0iiDZBQAWnIvT7HKkJ37E656bG25vmu8lW76Qze4Dqus5gQqAShsleC
Xv7Ndf/uS5KshXKIM63nnp/9mLRhFiZB9AjJYyD2gV9ztPsRCOcSO/72D3t2rRedigP2xmRRlUCA
ztZAh6BqpEgBdkssGhtie9Et1aaalgwK++nta52ttz80MRa9fRTzpvOigPnl9YDvZSiDZ2ie5tFC
GOwVpzyxB2vz9nWW4LGfntUf17FJ48NZuDyu4tfXsHchcbuVTo6E85I+qkeCDJkswlZlrCofYkD5
FA1UG6g2FEbnrVlE8Y+Ih3+0bZ49O8tn4CzKQre4x/Bvnp1FB0LkwQl1fIahXfTkQ4OtZyaCIiT0
5wR0l6A/155+s56fd+qWyy7jEk6FdKIwV579nEPkDtWMIAUxWmi/V6lbnOjUTNd1CmRR2TXTus6o
MFyPkwYVE44A3Y4jmKCvlosB4UuNKvGUhWV4ICqkOIVJyD/m1Pghx/7Hu/N3n5POPaUBQyWai+7Z
7cmkHY4cMY0DfUf3M0g0hwhVIL78RPAW3UOJNd9DVmh4GOqrMbtiIowZ1Sb26thnlXMRdKBMdOLb
14tx3du5jHLSTQU1aNi//TS9fmphnS5DOAYcPmjTs48KqpwmTz4mCO9NZq9Z5OsM1Frbbd++zus3
EbkWPxnDjGXed743JgYe5BAx/rEaq/kuQEeBuB5HwUXeOvLh7WudL+c8J8vUxCdTVEpmk+etkgnS
SYuDn+W8UvBe/HDYmHndr3NelR3Wj2iN7mK6sCj8PxpFGe2x6Xe/ubHWD6TWr28q2nDTM5fWEPOI
c/xqrsgN4M0IDwAq1XT0csFi2gUaLkTU10hgkNJ9lhDV10nSF2o11XEa8e+Ll8EtTHnRRkN4Cvqe
5tUQiH7VNmmt1k0OdokwrWK+wqoYnuKkEfdzboffB93nMDDz+Wpm9o5vqlHug4evhYYxDMtBmSy4
bTGKe7lYu924BvoFPxdepzP1G7NOjEe0p/PdRL5XT2J7PNwUyuyec0JuPgOWDK9ao55w82Oz+F74
kAVPYAaLGatDHR7m1oLmkGIEAqbnqaVGqDLHxG0lnOc4CK0vZV/YTyPe/AZYzVAYcCpD53s+dA65
NZ22423rp/FVZPNmO5KlxVJD8rmPWbyrNpLfo8rwIbAWlI1QLUwfKWwSRD0IDdfZjw7N4E3p6far
7/ViWwI+/+g3dD7ukbnzvPH2R9kuqwIuX8OpuPMFR3TAKr33cXZCudEZhHxv+bOtrPgYCJmcbZOM
7bjygDk+BpU9XbHP5O8ayKo3L7c3dMduKxgf3NU2ZKxTNRMGcAyxTAGHMYv4KovwsG2bOU7rrfey
WsEov8AExQr1ovoqq4wnsjI55K6Jc4UEnNTcu0n6SbtWphk/Ojpx3vek8xnIl83y1s4ERrXU4e+h
2RhfuV0dgcbwks8KPvsS46CmaB8gyULHCxPvIf3/7J3Xct06tkW/iF1MYHjdWTlYksMLS07MCQTB
8PV3QPK9fSx3ydXv96HbZUtnbxIEgYW15hoz9bxH2uWku7Fcxrb23PwrKmHISbL1n+mEIpnISwMT
P8nr9U7g66e2qiSvYOt+vkEZppGW+E7+pQrw8ZtXp3pyFtjie8/Mw3pqk/NoRJ2D7WWkcnBIIJl2
SFPWQ6Mr5hL+IesVrZ4kORKOXsik8b27q4Vlm6424pwxG7plW3ADOFAV0wr5hwm2t4ese84MQaqF
xoksB9elW6TPuFOMGSeGQLTWAxgGBsxO/eUqteBAwIfZx8jQdzMgjxt0X/1BFaFzQnfW7tF4w1uw
WnlHzTM/sw2SAXatD5wfTANdbdDPvGY9HwGznagbJQ+pCvetATz0BvWwGOhDYvAP9RoeSwOEwCFz
BswPJAJRORwHuBG2AUhYJSgJ20AlXM58W8eAJjBbw5n9hT7BqLpPMUSK3KApCgcmmoFVTGPWnscG
YJFBtNyUBmrRG7xFZUAXmUFeLAZ+4RoMhoKHASzWu0IGeyPJFGy09uadXsBnsOFgLNfnj0ECWgRX
DveigrZhj6VAboAanCYle1saKEcGqWsXG1AHrbT3A+SOuHOfO4PyKKzawyyKxgx3BfRh2dGnPkAn
v9Feh5fLHLGrjZ37pYYRQl+Us9FQQ2DFT7vSR0Sikwtsy9NPqnPXfeYvwEaqmgXYNzESlN/rIPe8
K1oC+zsnr4ZzyyBL1jW4LMOe5DpdYa9UExYRGCe9XXaGMF3Q2propN8sBojigCh0wLqm4eUoKi6o
rahoUfx110exkv6ZUd6O6ODd+EI5Tn9DoORjhoWmb1dS6HuUdNo9jobSsrQG2NLiYILIUq/LVYmg
a5/UQQjKVEXfizqXZ3MVzGekXWu+lCj6Sqb2fSSm6T6clmXvreO4N/uPoQkbmgy9lfUtmvl1G/Km
VWe0uBIKuGWbbCU0mhQpJ3thA6EGawJgNX4zbVI/YUfAsSI8dQVHn5H5t6sN6Qaomn8EIQT+RnZu
fTPY6ilESrtzppyOxRdgTlq1UbFTLyAd+nPrC2SB5aExnB17pPcejVL6URXpdOGB41GGy1NMACo3
bjTFXzwa0hN4qgbiow3Pp4lldu69QH5cw/tZdc3ELIgdOCJU1l21yHBfL/JTY1hBdq30Z2Cv0U8F
mAu7gMZxH9xahB/nF9SQbahDYGLnDZ2DxGPN3J86zEmuZ1SOd9IQi7y2JY1qKEacoONTjHgSS1pn
lD86yGT7biqW8155V6FhIcUvWCQ/di5p4moIYWAmjWEFPekFpJR4icfh3+CVcLxwHqwc5q2D1fA5
DzX+MItx3bEJA2dqLO1/m+mOuAuVRdaAtPYuant3B1Vkb9qaO4xCU3FE2EvPvCFAkYj3H8tlaG9T
NXj4+TjFWVL07hUjmO88sNw92d2jNmQpK26uUM9DoK5j9zbtK3ESJNYvY8OkwhlLfEjQt+5AB7fH
ipL7oVrBBI6KW2KhQeg+GMYVChfaPUuDvsqozCJ3nJxhkw5J+tTYs3cN3r29AURN2B97WCh1Lzyt
5YWtlRe6OlZlE34WZUASx0C4ZktE7S7BjQGED5QuxXH8Uhlyl3qBeHkvQC8MGdjT/XiStIxpcc2J
vTuWdRhyAHDa88rQwZRW3RUGwtVtFwh1Ew3zfPKozsbbHLZYbSBjUwRuTBvwGCW85KoYm+jop7r+
WkKrxFKii/uPfipMtRiAWfzCMusM1swygLOuqIClD92Xmo/ey771K2wdVhfdT7LqZ7q5oKQRY1pn
aWfYaZEDRg0+utjBAR8vaKjGDaMt9jzxfF/WiHKtuNvlUFronYm9Yd+k6YJdDLQ2ul81Yp/C2kUx
eyDd29R+DNrNj0p169h6+IopO2t2X7FrsAjQdq6g9xmv60d8eptw+IZba+RvbApz2c/MWnpImENF
Y6+vGo5JyvoJz6G5mhFYXueTGB+tNNFffZlHn9MxxgQTGrZV7WYbFA/b3lJXYQ35vG5OVuAjTXbp
CN7Xgf6I9U1+bcMb3VmRrsCi9UVLN1pJbzZWlNc0QoUIUnuyGm6fmG752eOq1Hzym8K+osRWoXuc
2DNaGCEQOcYxMFatLcR3p+jnkwO979yRdTfuyO+3LGfLmn6IvMJdtiDBR1zf6M/dOmSHjN9WXGwh
W1kPtCTZcIxanhubwtGzO3Xerfn4reNsxAkjq3aNVTMKWFh/SVA8U80lxLnKws6FK+XK+USjSfK0
IG17ttzO+ukG43SZREv6IDCb3TotHzvDq3900OEgpBXyS9L5OeGkTXfckD8SGMOPSwIbA9L+PvCe
0nSF4LmyvELlZFLVT6gv7Y0dWfehnstNETZo4QEz+ci8NzRHL1vaG2v8Go0xfZjR/YjwFGPRnMML
IBMqafnXsnJh8GOJFGzGTLVslenJnbF1HoPpBxrg+MhZ3t/20o0PJRqbbVkHOLzUAm6/xgNMjAcc
8HDewbFtBy6EDbqYHQiU9XFcnecV6fYma8fo6C7AIup6qY6+yucPPfY/dPxH6VXR6J/0dXkbmtWa
TaC1ew5eyt4PZLNAdi7VieIVG86sl43XyfHYZcr+WmLHtOGMz65DIHTuj62/H/BqxpRUDfhQzfR+
O/OxDGBbeARcWw7VwU5N881EzyvFjTk4CdlnW7vWwP76DoEr+HnUMMnt7AzAYSsId5EafihptfuO
uv7RCfJ2U/fxF1T+9UEumHQpvJI2a2qf4b15N3rWcx74ByBIC3FKfN3Uw3lt9Z+ner0Zy+RctcEj
bmdXLLkkjKpcXQRy/QlZ4wmI832Ir0NHNI0RbvUc2/l0XEuSlKGKv1JmHrarxLQ4thxK1jhB7+3W
/Yp1LIGVlbLIZ+5ZFUi1owf3UIzdxZyFeEOkwbdax93GrclqwwHnRJDiBfcRN4ZvM7DJoBjdQx9W
FEBpZE0/2t2QImin3EpXaqc3y7JsEBx7RwfBcp9/msF0nOhavhT9ox3p8aGPqOFnQ/6Bzr7sFE5x
uYX5Nn6yXBntZ3oSTpozzOU4Susk58K85uAOhJeHn4LBb4553QfRbsgmeZb3AenRqTDHiTDO5mM7
OYTQuQTlvDrA8JUWljygp7infTn+btOeYp1bXUVCZ1PGQ2QD0YEteUHBaRhwZssoElauNJ/n9mXx
vJB0nkhcOIk6A2jPjA6nktYqspp+oZBXV5SwhpRCWEk8dAq9MbSu1ahC6AtwNHswvSRNg2HiyFnG
BgLqJp+jtEx+DgnNBvAgBkoMIok4iLgRB6mdG7Uci1Km/bhrWV7IM5maxtKOyWc8JCxYRz1njNYV
F7DZ5uuePe4JgflyZfmCUzIAur1a+sC+LiyR672KF44dY8iyNA2Ft20cczpx8ln/KFZ3uimCxbmk
Yr8eqGaX51k5JZ/T2iLJnVKJv3cGofYUODmJpKu2v7btFAiQtdoceWOFB0ImuuFjT313F1VWYB87
x5NnxPZ8tBU01j5rOaDvxALjKDR8QnsK1Jegqt1dLgn/MEjqboXEphF6K07KabFd2fLP3HJgIx28
5NzLBEkBuoiuojEkR2AqNS/fpzvf2i8tPMIk8KjZlJU+Iu2qP738SkyDwb0dcOxvwyI+hkKsJ9cr
u+ehVpzBZumSJYi86WZaCXssDpvUetYmwHyPwURNiUQf9Th1VhLFHW59SDgR2uI6OOxMD4VNhwKG
AVbMJdbZVJ4Hq4JuXYvhY5srbiCn/RYj6Xm9G0i83FJCdj7VVLRLYl+ba4bwegb7ZL4tZ+LdFV72
aUW8c0X33oKrlc19+TW58E5w7Os1rp9bvJz6I6EaZ/txrJDYo0+Yyk2+khUhecliAAxlk9gy3tH5
LACmJPQzMf/t1bqEhNE9k/zLMbAuyChG6wU29gP1YWzlScn0icrgP6ztAYH85F9WvbKvhTOJi7ZY
qZCtguRVsmJzZeadRbvbARWeRfiPs0Ilq/UuAwPIMWlGD8DW0CU/rYbs2gbG53pXjWZMKjwlQY+t
dzyr+boNNcNGknLrO9165WKgcMRLlKaoEWB8uCTTzQoSBoIMEKLAZwYo3wjmYzpp7rC2CT4AorT2
oBYjnlBLPj+EQj03of0JH631UDa+PAsb81N6AeXOCYxpB4Lu5UrzQXiayVjs+smyAWoJv9ihmYiP
+cC8zyzCa4dWI95Ic+B3LDf5uTo+SaWC2eQhwaNT3mqfSSU23o7tXD8qd3YuY2dKznWWtM90Z86w
WTJeHTrXeZjeSG1yUsl50jntcxkO8Ktp70RBAsQL4YasEueewwF32LgB6a8kpcF+G8F6P8ZN7l5y
bpEfFRZK+aaGuH6OBY7B+bbu/VQq2DXmhXWHMvtew7h/7mE/dmzlgz6v1JKcgURjQo6RNTxDVN+m
Nhk51fPfxTIvL1h8v45i0NsMJummU923xo7iLda10XHQ8PltxdNRKuFlpwljm4xAt4e6wRRQarVP
sVO58kiBX3W1Tj5LtBJiuwarc4FQFE6YFyQgOU1DneLkI3Y0U8XwMAXJD8qi8PjNLJjoCrwUnSCl
gHpVY0ihOBNOYHrPg3C1v4II7Z4pRVrtllos73QrQQG1nE4Po836GPuMFM7d1oMh6f4MsYiB86TM
HJR4lW9DQeNDnpo+i8jDgcoKx2gXRiHHvijI9I8o4JwMcN2ZP9F+P3+Z0Vnam4GAXJJK7VI6vBuX
nbErsAcZdHOdTWp8yOGjfO8QR/7M2zk+1yKrMF2c2Jl8GAmHRYQL+GN6hc6M1efnIhCgJgfpSSwv
WxLcuwoR9/Kafv5/ocPfhA7I9v6RPP/DQAMftaH8XeTw8l/80jiga/wXpXO6Nkypyf8HGcUJ6ROn
uZgyB267pu/7/yQOofMvaKL8eggFhVZwU3f/RUYR/IjKCD/1PKqcyBP+m15w73cZqbkcx2UhgotC
cQEDqDcF/ijUS80W4v/IOC8XP3FjSjx7N02u1audUpxQnooKGethWLyq3g4Dfozf0El2zaXTCk72
h85iT6ENmneIfShObMjLUQXz6FHaNWCGrfS7YA02eTKnCLm0p3teRK8aF9r88mJEC+aEYRfKDesH
DY+ZGpEJVdhbAReCw58jGVtHm9M6WERKZqh5ChHz+kwzeEByo8XQAQIdMvyK/6IReFMFQarPCd+l
gM7/hP9nc1U7BE6r2KZ+dAPAaShIaZjRvyd9WmKv4pRcibWdHY6UnERlvjzQtRxzaS5eQ9wPLhLp
/JcS6Utd8N8VES4ppA1E0I+OYpseIefNAwsLd67bQabfQWxQ1Oe0lpbnqz9yWgNNQc6QEDDMM7p8
MV2Oxk1ZzB2su8Imqn9u52HBgyQcheGecwa3s/2apOu4WyvkesNeIenDU00GiTXvg7Xsg+sVc1t+
rY79ARiXnZLqj/9SY/69guaHNoMsKDIj9wG+wLvwez02yco5t8qq+WHTwx98EE1utff0D7fr7T/e
zNvXYfonK/f3wq/5Io+0JOVPgYvLf6hq4VIUr8GcfAeP4DrevqNH2ceC1eYNn72w8G+moRWGcBOI
ylLbzklDfY+xSFP8fP9Kfi/mvVwJp1H027AYEQm/xQo4XrrY8VwE3/UQyeBaoKpUaiNri96w83QI
Vkjw73+jmRj/mDjcO4uJ70AHZTUyap7fB9kF+FZ2SB6/z0465P4P9m6O42cJGeriPG17c9vVEphu
mPe/+I3JoLnXGAkXLoGIXljl3irwC6wNykm79feh8gVcyBxAxGOFiWuPdysc1bS7meOVuPKyzSGT
2Xuhs3J9KtgmkftRUkhmWhcLkn53RYEW09++5O0uceuVmEKMk+/T6fz+Rf8xJQX6ABZe+hrtkDnz
pqhr0QARtlXofavGXrbLrl86ALEbHeHy/t/1djE+1FoNDQQVAMyrKHjTAuWRr5XYjgzfZjseo5Uc
ShXp+8S1cqbE+7f1xyQQVKnBcL20KDiow3+fBA5aFHd27eZbgw6bwZV06hY/tbNY4lPb1kHr7ZJa
t+pv3VZvemDMPcbcIO0eMEqN+v7NFydG2NVJYX1dheW46xaxST4O2zDqMrhHDgSHgRxL4Jfh85JV
6YwHo5QyhhRuERs+UFGbSOhlEay7r7Bzi/jgNYG7XIh68WmI+8soRW9fTy4wBFHHg48pOiN++X2c
RAqEvx5l+zWLcpdXsYgWtd4OwSx5PuuCE57Gsrcb6AdGL8b8GBoOS1RUg2VhsYxLP12+8SzhEwQD
OjCz/fnlOpG69QF3vS7AftKxusD0SINPQxrHCfnPOix56LpSA0+nkSpgG4Z0pXkiSADNEg37POML
3YWm/Lsk69T8eV1MCLHp5zVhLNCyeSzy9poHfXFw/V4wY/tsymfSyn5R/wim0ckdIF3JsKJiTmLx
CcNi3ji5ci6jFRtWOeBTB5blp3JokYbsx2Cu1qcVMa5+0LIP9P1Q8C/TBr4h74RxNoa1sXOzGU+f
TU1zSkklEnIKiwqOjka22xq6RnpYAHY24KqmwuU3AydP+JWcVog6gPc4Z+pOoQZmM1sQkLMED9Iv
0mVfUMbRFB6mmF/HQMB8m5WS/br2YPD3nzmaCH1KfPJDVxWFk+VIUn9uLjLIGeP5OI8zc2nG/oGh
A41J2TfSJHwoedIkwR8wyaDYnqClqcHdtn7TleXp1w2IQmXcKofAOCh2tp3gEEH3UMP0Az9mFsyq
DlHDmLpowB952C11sR26ElzDr8/ou57WLy9PRJ5tmXIttRsvWwVjMHr5wlfPHbDNcyBl3FP6Oqog
c8F/bAQ6dn5hmvD1OW8qOVoVdRiQY/UeH3mitqUjXQE4bgl7bo+ly0yXNlbsWl4JYIYKJLWX+r7B
9ScMD4VHywh1DcpavFO6wfcpgvcmK56ZN9t8IE1sThIeVKro4Ti3KJ7DGK1nknjbdtZorreC9d5J
PkT4WDMmUJ5pWSZp0mg6hkgRm9gNmJnHz5aAaJGbKGI6+q96L9FNum8taZ576GpWgb1cPdx099DK
zPyVXu/zN3wce0+TptE+n9Iurc+rMBZexN8s6smsxtJtFZe0cPf84zQW5lr8OAOCCkMg5BVcor5k
pnhrEPgnHUQvOJc6p4gCi0LTfnw9+BHzHy6w6UWOvSXksgo/NmPc65oRHHEtZzjXKDRzjsIrdJ9C
zeBUDineTExRE1rrhy5q+P/eiSpe4LAgcXFN6LgSZVAg4D1faHgzi0dWEogV6HfNK+3H5kMlEHSe
hBiIG7G6IN+lH0I8OhmFrA27YTnp2abr40rTysAH9nKQXB/OrKOZ1V6ek3Ptynh1xGmOKjFL+u4f
4kzksd6hDQ3NypRVwDUPgY3lKBqNziMns6S+vWNukyRMNYf3W7HgnuNuo8H03e/jGuPPhq1vagNU
AkKXcpNhetnbW4qBXn7T0riQgHcoRvOEKSFAqD4AdRy0dZbTc5KDZZA96qjtXA2DNV2UeENyjVSY
eDa9DwhbPDcDqucKLUqxpO2HGCNLv7luB3oIIoq5NDBVexZilpu98tKCIhClqTaONyNxO65XNFaq
7JRAPBQpdYWSZTb4tk7CgszLYrtwz3ExlytAWJnNWZZemrqME16rGU4qkycvzJISqgkPuEO5JGZe
mgovcyjx8r5ML9q1XflZ70L+ca5X4bFUDn3DKO1gHKJ0oIXGcsb+GiSIy5IL627kKTUOaq5s3y71
xGfFvW1WwZHBZ+baeZcofbBVN/GbHGF6fqZkYtal0tbGMFgVJiLM/DFleeooFTB+CvhccK0ZRd4F
CroDE0r3oNTbM55+v4gLajvM9KgCXZFe0BEz8tW+U81cP8sl25FeupBdvk4EzTH7CJATg6DU2DMd
50DkrcWmLBfWhyXKLP9mtheS1xuWKOGful413BJ9Oq3crDWlE9qusPpcvtUR3ohXv84hrPpmcKa2
99r4CGXD5OdTsECedTYWK5pKNPAealLyUMneJ9HSf0j6mZvPWzb/ZW96zrnisJgsRqmts5AXuxhX
wulTBAyBEfw1ret8Mj8Du0RT0XaF88KVB61llvvBwqjtyQFtzBijporltCHqTSnS44OX8+b6ESIU
B+M8J+yuXTQkxQ77F6mAzq/OEoBsmSr5wa7n6iGm4wDsu5R93p8HDQipQ9DqsfvW1ewxF5IMt3+V
cKXetm26vP+CcXFAwjBs2uq7TxeZhEMe1PJ5QvhDFpLKJIZpVgVuofPE1DWbqGhigRLGp6A0HqZJ
RPqa4lACbBkpW+1cehXb6h6ejsZph2eENRCKnn4t2IU1Mp1tiguZCVJXiUoIJO9SufEG9cGiPmNS
NvofAtJ2frotelDk1gZgy5K0my7m/hPmaZKqM5Wxk1XwZKppXXf0ga62RO+3gk1AiIDlWaDKqwmG
RXfQmFFiCE6Atj6kBTa2bHyBCs8H1JrRxvOV62wXVOMt+gVq+zF2R25YUBykMrlN8Qs60XGgdn1r
Txhdxo1tH53JydxD0s0OXTsKSUa+zRJPWLcdzuv+4zj0smiPdhcuXb+P0XvNDzOaN3VlDaqx7lGF
0GyoGmb1hvbbQD6uAH6adlOpIJTdMZpFuoKw0WGHVGdeq/KY5Ip2vLX1o7rdUGv1qAiGGAn20Ven
LqLme+Z2rZ53ZUAJBMdx4Y3jdiR/F25cj0qGfVRJ0wuTxbdFFRyTGkjDNaxwqwS2GnSEtdmPLGo8
FTtbGqygSu8coZY12Aee8qC6S5ebKW5/Rd828q7AwQKzbmm1nNrcbKhd7dWdeJwW0XX+juqvTGjK
s206JU6g7wTRWAKBujvIeTGxZmNh2oZXsTdrs63ELCS83H1kwkfJBs7rkPlUvoJtLWwTYeY0W8EI
L5ZqSoGwe0M3RRdrD6BJbTGZ0Gw9IqsLdhnViNSlkh+GfOZhFK2J/oIBBqi3Cwtn5WoRutW4uo99
nQefoHvQ2Xik3SskPZtailxDN/aCZVIMA5E9vTCM0tF3BVHwZBO7Wdt4mTrWsgL1HoseVhzJxB5e
D8Lea6cJVu8U+25FSNS4nPits3qsbW6UuCQi3yQEvrAsiHXlskdP1GcJTYBoKQaoa0KzcyJpnLlS
mZpSOUoXWGDrB+0bDd+2TeKZD4NzlPAuoWKUXP8QF2adpJW04ldcU4xqdw2GW458ptvTxKtxAkfp
yVWjDL5OU9+0h8ClGn6ZtoVmW1RdZ2KppgtNyJLFeD2S6G6bQDk/0YgtZbybKkfTjsp+SN5gE3bJ
zNjGthQMP2s49V40dCbdEwy12aV+7WA+iFv9ULZoG3E3iikCwTxFKcxAdinU8/a45DWHDmC2DCzL
DOZX3RbUDDq40/+OxNrzCm1GTKeISMMm4xNb5Pi1vysdOrRpkrUqMxVzmzjgXtRzIj6B6OJiXh8j
G6bjPHH8G9UDtUNA/wevaByeEdWC0MF9HV7clN2uU2En8WddhqIoT1kXpDUNhoSj+mGl/s9d0Sps
kk9SwqTJzjpQw3yWrSgRTZvJXcyZmMZIJktNU48zb/PJlqHa4RpGlALz3UTzGkauFCcb6zwd3a4q
c9v8MkhCQ0RbVt+8B54nbW5VA8rSDyiozSsC/sQkvFC98gs0PZpAzak4Gue9YyYYNu8IhY/41lbE
2enr7pppjaZ2O9KVyQuF5pAoMPCkiTdVYOZjUhUFkbXNCBQ/k5WG5WXLv5vfJiqR6+1UUTCIdnSA
kQzdZlloQkNssFMTzHududrX16NU+Mc/VONEG/5R4kKj6ktv9nT6ReOhS5MnxLMy5K3umQsVKhNi
guLgS9/M3apxkU/Vk5PCXE+rIXLGcz6g9ghqp3bh2Y4WojQ0PKvkFuwOCAs5GGxzil2sW458aRjn
8lnLMcdKdShHBJCoaibfu/QnR5WIZoXLPKtt1xwCi05wYrMhGvNAgF0TXnLw5DmrRazLhTe5nJ+Q
jy2zPs6u15fPOnNmBiV5jXyG1NbEGgPVUu42pyOawODXiZiqakxgMKcpCgdER73H31LOLHK/WJY1
f/M0PpW3tqWpy0LbyDiO6EymA44XQeeNDwFi79Ha0tvC+FtZbA7dWHuZKEzOjjnkg/4zgXzatcyP
BHEYT03VJHTb3RxZK5VkqQXu7GEs2vWJUTcrLr2wnHnP+rBrpsGcH5hOgeDrSe0hsOJjO9ZkjM1C
Matsj9CaqX9CPp5xVCkj4qjXVw/BrwmtKquOG+DJfVsN/U5pPZiJ0UwmLWYl3mKmJH0CU3Nj+/Pc
4DSarubELWJLMZCTE5pXnNMyLP8AJSPB6zIVKZTXZh7vgjlch7NonJ3qFA0uZwo2NguqKYdApVk6
g4pGCiJXX0nWqgLnZJ4kdUlW8e30emqk7avkLUUy4LBIEfCPwXYgIQdvkjZicwp8PVhQ5TUX3WIt
S6GQt2wBGagiY7/p66hgonNIspn9U9ZgK7rPndFc+tjQWl/vIbYlSu2xX/DLq7AjOcIvrgszCrij
WbAUj9ECL1gOeY58x8qHlcpA5jXls9fO5oSOhsusHLgmmUC3pvmGe3k/a/QfckY0gsBAo6BjGkbf
5Iww2IkmtKzT1znB5RrdZ2ZVmdhZIAureDOMkvv9y1e+zVKSpoo4nvomnYeY421Od+maJrJVoL6K
YDLVm9epUYGZYet6/+7+/KrQiYhxUZrRFEK3y+8ZMTdLu1WTnfia+4lZn9rA92AmzSzWrF3vf9dL
NvCfuWpa20i8euC0gJz8WZUabIeGmqr0vs5eDUvzYsxql5kosFvhNcxkjb/Qfg1aFo2xocuBJIqu
+qjaGgRccE0WwlQ2Yo68Zu15XZl/1T4M9tCESKGgIHsZBv3E396//D+GCvaLTWALBIbjuPu2PQ+b
5lqlUwiTN3dmroMNyhwL2Vw5Qr3/VX/MOY98N0Zo6N/Iq0ZvU8eEUcBYCaCe4yzyxuWULFExPTlr
aF6RIEnx2fjLzb0toaBlcLBsA79Mftyl9fH3eSD7wYtSagXPnZ+ZNUrNvGy3Y87Kfo92wuxZSUy8
TzCx8PcfFcg0ecNqV4uz9+/97TBTNcVIhSQtZVLh/NErPDVq1lOcel/ISXB0XLKMLFWEfxgr4Pvf
9HaUaayyuVvTiBRSQXqbvC4JDCPPKZwvmACE5ZXqKnM0z3ERYpPPXBM1vv+FvzcHUqCBJkfamSIv
vckETebW/9EnrIpoZTFZ5BfZUCfK9hIzKpY5FsWF55rIHn+CDZTyJYu3YSkydsb3L+ClrfOfbyCh
FsYcyCVoAoPo5bm/XwGnxKxyurCBhm8v2IdTy8Ipg6xHFhfH17BFy8yExnAyzPr9KyluYZnD8aIO
VMO+AFvIDE5dCJPiIfW/8Ba3PrJq/EGrqGFLGMqpjVB6IeeNsIBwSsVqHU7CbJZ6GeGy7bLENj5L
HqsTsYhCeL98cya6s+hHKknR7ZFj5K46yyktRxgFlIjQ2Yb0YMIuS7ohp5ghp+dLbYIuJ7ah2cNs
8V0nOy4rfE3QD4T2rJpl6Zqgidb+l4jPdUywDEi7YCWxh3Ri/KO0kGQmXT2DUrvIGlwtzt8f/j8m
HIQiOuBpp6a/5M+pPXKyyCx7XT63dLMQs6adMkegeFUmAviVsn7/K817+9sDZ6mNX2o0ABei8I9O
/7BaFGjB6XOc0nns7Ud4KeB34I6W1rU9oD0GJVrFI4eo2UlMUGhVtbma9y/j7Z17HiwrVs4Ap3De
ubdtsU3QNxPPMvtctqQ/z/NaqvrRLSdXXrqD+ks37NsVxCM4A7UZ+QH8Ccy130zywLHTPOuG4Yvu
u2J9wlvJTIui6Exk9f59uW9eaT4d8Bs9/wEtXhxK7TfRQTrNdlU12n1sBmVHu4T0pUoPKWlUTro5
rSO8CxS8a/4ISdgwL2fhxU8c1gS9jB1pXVIwHHlM/b4D1k4c6qxImh7sPOWEAg2Vt4IW18yktWbL
pAEiFbS8hDoKTJq4rKmOPMB6xreXtirBXpRCeTPLiq7Nes2BoJz7M8tiHa3Qg9IM9pee5zfjzRjg
TOXZvKewF/4sBAuRqrgOxvkRppTZmZOWUgVqvqnl5Pz+eHtv5rN5pixe9FYbTAjr6JuC49R25FQd
P3mI/Pblu0ZB6rTUvQn1R5Z6lqDX2nuFSIdRaGaEcrSMvP5N6tFkCKzJZnCFH5p8JmfBjpXOrYeE
jIJVwjdaLwde1YAKVleX03HxRg5MeyC4HI/zlUVNH34V/qgWmSISvXUu784a2Ss/021tHvgqUNZ+
sl4q8eFrakLDxCExY4nMPMnCIWqhg5IOaJ67krlJLP8qofFGMncLah7se0lClgP5nwM1vP3Lfhv9
/vjCkL7x0LVdBEuCvfAPkl7PHejI7pJvlfbCT4VshLF0ccUpKDGoJsefqUPqz/HFEuVVsuuAjp9q
6OtPOsUvCSPFEdXhkHqb2KK/eBOghX1MOL8Ot9U80OSVRdo95XFxV1Nq+4YWd+g2gcRQYEstJ7jR
IgEzb+fDFTtStnJaz3S5s5Agf1ypI+tzmphoGOvomvB3ZA3LJ2ulAQoR/ZxN2yGWtz67UnnwIeAh
BZV6p7ql31MTr54ypAnn2BdRJSg6RTqvBUWGW51TfUEHIC5ohkdoOK69DZixk+GDy/783GWtgw2U
DDJSGLigHd2iaR4API1PdOTR6xDZlt/sLPJ2n8sxHr6DQJMfAh87XXJT46mYx+JAmWBBbk+9aN7O
U5xbm9GvEVg27V5NsSZhkxXFx5HOc7LmCS1sapLtw1qMpMR8x0Jga+EBTgf9na9oMXYXNXwBfO7j
bSdA4M8YVyEMzfd+vuT/FfqWCUH4ZdRpRCrUg/4QjyHujOlOlvX3vmk4z3lVByAM4t1fYa0vuoR/
704v3+S7LvV4SBTsU2/PVoCsS1cjV/kOv5ep5Lmsong01HgSzlkV3jcoMO/zIbFwt6wEPUmexgQb
TrkIdnOlUEOhYQtuZCDj88bqw0e2oYHwYazUU12zp7uqqdFhKse/s3XR/IQhEl02ZC3v4Aq4H+OC
49vGQUjfYVGV3nh1zOO18G4nqVFSonKmmHyTjJfvRUsfU9GPGKKnwn62Z+VtYVB6/1WI8DIiL6NP
mOa7BGlv9pOW1FvYi7T5zrsy38Yuniv7oGoR3wbSDh7fX01/X0xfvyxEpGhCLOLnt9FgQj8l+ZC4
+Y68vkafNdsw1Mht00tTInz2Rs7eaVvfUZ4Ny7/Ewm9EeHy5CQMIg5gAeMi5b0MCxwqH2Y+W9bs/
mlmW5V529EDKnuZ1fm6cuPrsWfG8GyFUgnOUVkBb1iKa3ftDIMyA/jYFQyPWNHoQuB1s4282FGxY
asoHWfgdGCu+91Ujy80ciTDe4Y+4qp32a/wPajWP/8PemTTHjWxZ+q+U9R5pGByTWXUtgJgnzqTE
DYykSMwzHNOv7w/Sy2xJmS/Vr8p691ZpsiQZEQjA3e+953zHi5UqZ9pT5js0v+65ryzi1zI7VK5m
LRQ7Y55onJG39pzH9NP9JlXOJEjZp8mYtoWRG/f0QDNM19ydnsVgbPLnbmTskpQtqP/KtW85Nvbl
hkiOj8lK4othk6OKBcDcxWFZXeVmly25igstLovkA9yF9AblPBuENWrDxtC7QXpGE4f3A1nPiR/V
Kh8AfJ3r9V3ICMDGAscghD3xTpiKc4qjSTxpdLUDj6GDOf7idLRcu5+vLTBYyn2Latb+GbQlaQnz
vdvBlzoW5kWpjeSxio1pWqV1oV60gVriF6+o/Sh85a6yKbNQ3aJHAt6BNO7HAkdT9azJ2TrfkyrB
da0YCtYKOSlHGpXJhkFEx0pvhs2XygBWEIdjd4pjV71RetfY/P2t9ec7nPfiIstCHAWd5U+dI0Nn
1paOQ4pcnArUcwc3eUVHMDGXInydU7v9ZW5lsMf88jqBsMOBZ/Wk8f3ibfzFJXEWkSsPOHY6qs8f
LwlanJY0WTt7x6uNV8jCw34NKzTKTjHIgo069+593RRyg38/WFduMH4G/EzGTUSM7f0v3sxf3BJL
JCTRBvioSMXSf3wzM6HFPRHgyXtoq9ZdbWntrZ4p2PtoHR7ZYuQFVHJ3qESR7/FjaucOxyhN3KyD
i2hHDpJXEJOnWJHGB9rs2vQc8nR+gUn5ynb58calSGDxhUdno6H+WcbZEDTYOiFfUjgyGqLjUgbP
ZTNH/arOJ3LZVD2lN5WXwB87ky7vKoksk+sV4uaC8e8SiUQQ4KopLftT3GX90rRn+FEoLdQLK253
tWFAaJBRuA9NOxQepjR98ODGkiMZkvAiySR2St/JZ7PaKtzQmyTtlDPg754fwGZ9+vo1gijlIJKY
YOvCgXOXX4KEPeUM6KkFMFmHpAtn5BT22MLXPePqR7OnqcApsr3DhFLsozwzGq8hgFplDWHQ55Nw
314bblwwLEfiOTKLZiLYkcET+i2qlfNQuW3rlXFloYh29FLbIysamq1qhfpT15TxJ1kM3YeI9Zgm
XZ/gIf7FPfSnbQtIFvJ5HnE00xSVP93QJF5MuVsL+U7Xuw4f2N3M1qeTOHmyVfuLDlaSmVI7Ww6Q
MrP8AOFgp94M3mbYGqBuH003C08qBr0HvREQYyS7wKZJmoyHIUxsX9SMe7+963/7LO6n6v1//6+X
L3lcrOKWIuWt+zFDjx72d1/wn4wW55jnqP0phlbXvv7W70BJl9hYfBEUr6D96SSwqvwOlLR/Y6GH
JOXgeebMavFavyfvub9R/1MtcrpYsgBs7pPfc2iN39ClL104Ot442P/F5D1N51W+2+lMWhvLakFP
bckeWGqpH5c1A5NS3olCPRaqQnOHpExhKSv0DsEu7rSxWqfC6Epv4vzabHByUU1aVWe8j2Nmc9ya
GW9UcmrP4xSgrPDYKecnhAxC4N4F170aWu01dPTwIR+l7UOJM596IbpzrYYdw1eX6O+4TMyQiD/F
hibD//R7C7XMVkmidNd0SXG0k3Hecdi5yZrOeFUGEUxHta1Hx4MV2Z36xBXFg5EG0j61cz2rvgTJ
JZf0aUN+Sb6mAeotCbcWVicXA/M8tQME6XZaMXM1/Ij66DOV2kB4mYRgdE6N2KSca3LCXZkLm3dh
kOWMUnWwPotEP35g5ay9MBrwljcgGKy9sMz2i92UNdWU1Pet3UVbfUy+ZIDekaHEsd+qdZx4GLn1
baLHBPga6bWVEIm340eM82SjJ1+hHYl3HeIMljYoP+tOU15G8DgUbglz6aa1IQ8XLoo7ThKj3zss
7ATP1CbpwUp7C8bIPPcuAWdaJ21tL123JkZidoPHOXfsO8Z8wX3TTbqzb5gJKSusKma28LpA/dpN
kHzqhyZaKwaBvymCRa4BdudajsXBcssMY/fiIpE5jU4dXgxhg9OECEx2S5JwWEVrO7bmW+ZyIla3
QUijMNUskmMbxvwc8XYTEKBiRRoJxbUI6Go6yNt2AmbMp2oGM+eRqj7fu5mdCUJoBzveCdg0nHYa
SvWHkIETFngGLHjx1wO4j6XClcmktvsoNBlMwpY0Y+0FWEET8s1BTjDNzF3nrfD1uhJI5YJhPapB
sbZwq+0JQ7p1osBiMAN3IiVXOfFjExqAAF/qR5bLlFSiafMyjmOx15r6sM7moPebEYpNodj36Wiu
clOH/dWcTUYd3jwwqY3LhdlS+2jrtmLMg4OdFpsC1PkDvawbzga21/AyG7Q/nZf302d4mFiH7TjY
BP10RzxTu6+bCCsMgukTS7q6r0zCh7ug1g+ughQpbbV2jWAi8XIxxgdBNslmcMr4qGTTvFdrHk3d
yvQHd9Kfiw5uUI1xxEuiTvFFl6BgK+yuw3AOlxLM9yvquezQxCI81paN92YmnB1+zpY8Nr8VlQSe
QL8uVepVnCuFH9aKq8Bu4UQeRtG7Odef7JGS1iXOyrNqFZGIaFLHV4UzrFzGLqdiIfC08VRt62S+
62KlpXZF8k1uVQA5KdGueffJMTEnBVwVwU17EkPlO2GyEyZ+g4vDw7arqx62D+0kLLwdiNka3qR5
VxvZberEp1kLAJ1LQov1+T62um2ptu7BDodbEAh7yPfwANRpzTbpNaGF6LkXD21db51pPCe6Mnou
LuRNwzR33QczAJZAPFqkU3sDxAK4V9l7JlQ87MVgEVgdybtYKc5OrWm+21mtV3cmi2DsnEWFozMh
GhkIhavhedcp4WVEWhpCGN+mg8K9VSGq4fuwtlAjWp+Bv9w5TfY22wTU17rqHiyWy4NkzgJVzUgu
6HOSnaRgWvFUaDdhVN8g0lyDTlsxmikuI2b9l2xZzVIZ2DRmklY5EtwtbmO9tg5l1UWYhxIY2WPl
frbr6JOqtPCx9fEj6nIwWnYL856ZBAp4B8kSSXgHScrzumVZvwEes5jjLXefJvZtYDU3MAxUyjYb
7EuiDLaP4Kp7Yl2RK9oiiMEqo0suiY4Xuu7SbqvyRW3UspZEpJnRrTFShTajSlymglImyT+3ITAt
Mt6upjHfFDWp4+PCU8S3fovhmtWF7kYgVeYgBn5hU4FwFon4khoRu0MdMGnXsDUn3X1WpNZGxzV4
RxvkXCl1gyGuSx7ISX0wQ5coMqV/aWf3E4e+vS7pZVaarDZ5lo1epA+bdmj2pZVsXT3BQpvU4qJr
Yb0dnOatMCdzjY+/3amdfl8FdsoNTNr1Ko+y/mjWg3qJNOOW3vYpa6NHi8GNp2czTAoOeKy0a0tx
nwHukOUnTD9d1tJKca6d1ti2cTLejnx1OYSqsPZZRp3nNAi1T5npWCjQbR41RRCBYPe0CnuwE+kB
PGG3MftaP4J8dTzIqzE5jC44l3TKnG02ynkfld2uq5JDHwfptstUxPAuPam4V2iop4zAAtf2nEG4
5AwIKd4ENksWbJh8lwko1U2UC4VohaY+Z3JBPFEDAe0xo9dqtIQ/6PI0xjV7wpA9aKLfFUF5dvuZ
jTVx3bXedHf91F7q2M7fyAHfuc70KbHTbE3rzAcOUaa+MO34yBx/D45G24goAAYYAjK4jKbIes8M
gJBIsP5HMzYxayjGhHIhND7DmapukaWh8lFI+6vW6PYK7CpGcU0Pv01pxkWW37GvVfFQ7GCAJSuY
wdWmkJU86WER+LGuQ8OXauwFhvIQKcOyPQ9gCS3XUxzzMqi2/kj6J2qWsEJyKaZMhDGwmUTeFoni
7N02nQ9jbzyIUa1elaZXwl2QE7a5Me3BaOk/MhX0hCinfsc+q6/7zn3Llf5ai+zYB5DY3bZmcT3Q
MCWRQLnJp0heYT18WqzTGzla5aGerSenFdn9GMNyIJl7vbgpMONn9TPLq9gN2hS8JLPWrAnWbfbG
qOjrpOyjrZVZMarmKvXzVPBh255JWoiaCjTOOST+9rFyO3iSzBw+LLTqK+YRumdGRvZCBvt0Zw/w
clLpfDZSRMC5k9uPtj3HKwX4Duy7KLkvQkA740Aaj2vjQqcwRIokloeILyzxaKSnG2wwLMguby9s
2nydJ1+qJn2dVIWWkVv0T0bbrzGZRZdMTU0YeGzZdlJpue/EjYj8uWrEQvfNjjgXyl0iJdSTtgjP
mp7tujRIfcW0qzWCmvLWyfU6ZLmN5A0NG2c321b9hDBqV3bTeA/UVmw0N4ZQ4iIKPRVd96VOnTdW
52xT4xJcEQogH+JEO1oFgJ/KbaaVSWrwOqiwiSRMH1cdTS5gINjVfMgnOtGdBvGuulmfEq1FHdW1
0ykXwM2GUhthqddv8Bg1X45ZrF1XVa/dsUC2JBBLIwMH2g0R3J8iJKgzFymbV6sUn2vancfQmswN
TYT4UR0Q06PTzeDJIdwx7vLI0F5J6LBeRVxE4IG60AXBAYaFHKb1LLnm+tIKniFEcwDuD7acFS+W
Kq4t/SqgUMGuOBSNBDJK9mPOyYM5R9yHkQ/qjKCbYyMHe5NSgt+5CgdRGhmZ6+dF/9i4897Shy/k
olnburJn+J7VuJZBuKSdliB/RtP12CS3fGsHMxHIm+AzrLKyTLxRyOe+E52vzxWgvypAqZ2VATK0
mv0vLXcRFidYbBVkBkfLdgbJlV7UJP2hUId10BiXJEoMcmetZptVlnOMo5xcamQcfmq75BZHmwzn
wW0T9WKraq8yizgwEbC5TvLgAfBLTkdBXwWKMFZAUqtVazaeQ5F/aKypWNt1tpuRh/p5M7YeU3DE
0UpR+Uzngb6MNctJbHoIXnqwSL3nzGn0PLjdCQaxu1HRjXm5Wz2MJUMSXFnAveL8OFgx/RXNIZV5
5GhIWDIy8NCu2BOzcl+W4tYlrXRrhZg6C/lATKt5pVgQK3LqFL0zJxiHhFU0FV4aMaE3qMzmrDRj
v0Fcpj+S4gYbOcvzh7FrSeTQE7a6SRHLcE7xjJKw0YiEPk+nGXIC8PFAM4aIXYJ//bgM4i9po600
JHc3M2ngawgT3qSKnGaKEzzYWnaqIykujXA7X9bFB4ffFgd3u9aSufQjJdX5Snuys9toM2cyf8AW
F68y3CGbWhTuWsDD5NDtmN6kJBnEVBaXaUjzDSP/+mI5wauKaXzlpqO1ZRw63tQT2douBncfHzCn
Hq1yr7B+XYpxkhddLX2aQ4M/t3S5I6FOF2BpBwWnk4/syvDtvidr1LWHE73VLyX1RqYpn3Vnfgkr
a2trrTxR5k5cjHQzZPM+cNJ+PSvKNos+FKfGXIgtEuJFUu3qtLmuY+MI5I3lMaodH+Gvuqkqytte
b4wtQ9StXpoYFpPk6KBP4pygHtTUeTDtyPCMeH4ZbfkWyBCWUMr9Uxo3sjvbZfBQ9jPD3rEInxU4
wr4E0dfF8+yHhn2aXeeTU2G+cpGXpmyOnh461SUI9MRTChUUoqhukoHTGSNG1e/kzMAodUL1kgaQ
s1BaXkurhtuVAuZjS0gCPi47QY0jpoo2k+O0+4Y7+HlqoncjHbhHgmHyIkNvIZCIrOu9yMw/Z2WS
45yItfzClgU9dCyNjANe2djYKZviZuj0btcrY+2riZVuk1gJG7/SGzXyy7QjWn3QyH0eepMip6of
Bpx4JOdE/Z5Tdbp37ajYCrcQG6DD4XFQpbWhhXs/NXNI9pV75ToyucZwr32YcSuPcxRbB3BzzU7P
poUHE0wbcxDNPTOVBeWvv1DDJ2c4OBT4oXo1z2HvA4wJESJjfQEWZJ4RdsD8nceRMc3I2LynWupt
oWw6YrJWTB04ABSECBeGWETUFFU1AXC0jOCg04GHC6dehUJi/6oSY61HWXBlaZ21Q6Ly6uTkOuW6
TQp8xhXjUHsuZFbsmmTam00PNmzoL0BzF9pxZLMXu88Y0uNV7dgEiTMxhh1kFhyDmnk1pPz51h18
XHd+CBaA2zUfNoIpLp0BXKAEdm8idPV7zo17G6URcOG837BcmWtW84mv3izWWRpvk6i6ophybmWi
iC2lMB0XY0zQubsuJ2nMhWe2anahgWrhMrXuEV8Eso40EStcCqZHWoGvkKHklZpeH+0J+JtFiPeu
RbXrN0DovbRr1WOX0vNuS+OjnuV5IlbXW2oLfY4vGqv7epzD/Dpp+BrLFNWAm+prLcsGZAyKhisq
7hioOMpxEMl1rJOWjavmHFr2Y+m47Zbzde2PFbc/cEjG0uqWVjEsmc6kljGjaSMRzRIxJ0lhj7v3
uayIpu7OE+gCrwHsOIdYHYOaOks3AG5CBfdwrPLxwLVaRusTVs+qbKrBLiqzZj2nlcmhZToMPKm+
BCfoYR5gjTS1ZsUB8LW3k9fYNveOqK/HrhyxFE76ihLyyBL9WOEj3Qg5rim1uJO1yfa7Hn4iT4N6
mTWp4/YZaKPMbLqiI6qs0m7Bxe8xwazn3koRIWuFS6EzF0/4TWmbDMPgbHRCi1g7b/UpRNOGVH6d
WsvAzBn8sKEc7BTVm+eKBrJGkYrZ4BAhmAUuVLyCgQdQECp8kY65rYc6WlmjMT8wPb+2Z7dbjZWm
r4xW3XStCaWsgb7vc1BWVlZmTx4FTnKfB9G7o+EknPVj6lgvhgZgJXvpNEiGnfPR9BMDbidGCK/B
b2xzd1Unha8xw1rNdf9RdQ2TSSV9xpIWreslS6qtFB9rBB6oxX1qz4kbrpjWIx/UZo4tSfCclMl1
E7FAo9xuECFU6C2vcgkCUeFMD+8pBBk39BTlfT01/BA7OfY3OEgqLqwCl3WzijrbG2rrWOXasVFN
30pGwsDGNJMbujhEumbS9MAk2zU79FTLEyjDZitaHWU0sim4e1lNoharGmP9VmtMEHZRHRESz4m8
u1eElbeb3CE+fNMoKQxVg8y28mhRI0wsH7qMN5h2tVrHM99PZlDRc5AY/07SdsRrm47Y6k+BhuOz
kf9/+vXb9/Lykr+3/7kMAt44XLDORd1//fjP9tu/w/dy6X7/8I910cXddCPfm+n2vWXy+1//+S1N
YfnJ/9f/+R/vX//KrzrxdJX/thN/eR/+4/w+xm/lDw38b7/2O/dIJaZJpQ9rIIjHXf1dKx4B0W8q
fA2V1r1Jfsmizfo928nml2jgL1N2uosQ5v5oxRuAj/RFDWuQNE7nnPHk75fg+ttIjqv37ZL849/f
k2BM/tCPjXhUQChXTIGG2EJC/1Mjvk6Avw0YPk8NN8/0Ikpk5F4h7E6s1Yimn+sZA3qiaReTZZ4r
+1Inq6mBlmsXO0IO1a2FaetLY4SS512tTH/E0jMfx8Ky3+sms1cwDQBr1ruiC2lFUttlwyTuGOzN
jiRVWVINIwiyi4ZcuIleq7lO5zmJOIXhTEV2UsrFp1dZcDqmO6OggexbSxvoc2YMi7OaDvQSFcf+
VKCTdJQBvIGteHqfm9Occj4x0zE6WX1RV85dpNvz0m5VUfazJ7AizjTNCjKo7lt0PdraQcycqU9x
bePQ22JvdXRoT2rOpCJmVMiaqdZvkdI2G7uupmtTzwrbX9wk/Ko1KfNzVQDe/qYX/Pco7FcPIEMi
dPf/PFvtXBbdT8lqPC/L7/zx9JGfxiifo8gSKE98xh+DMDwjRKtx6OEBZHaNquaPp0/wXJLzo6pw
WqhMv7LKfh+Eid+QRPG0Ym1A+m+JfylZTfzEHTMRLaoW1jHaymCQFvHtj3OwigMKtIcpuoLxgzMW
pxPnQOTipm/WVjrt7DI1Ck4cuMZjLzaqc8j0389YU7+0AS1YuO65XvkOcWxw5Oeaw0bZ2jj/G50B
RBHDjRZ5NZ2wiDTZUzyL+lS2s/olMcLRRUifItOBRmVPKxpEvbGNFat8oElvM0yq3b4/0A1ohnNT
WcU6IvcSyQUHYgYwiKKXfExfw5LkceQ7qXKqYg+Pe8g+XMz6ik3ymce7WescXfcCdMPkT4mjvRNO
zC44GXRGXCeI9DX2d85Wworic9aXw15m0t4pDVBHhKEJe1hcjDd9raArlDpwafdpKEYDzFfWUTmH
S0zPRHvsaTTbyqfLQetuGk+Rq2EFXHpUmsYZF9DsSpYZOHWP/F8TFRsOLioVMhP9WQnYlD2+ea6y
OkuNY2FsHoB9t9d4gBPriIfMfOOKTEfoqUnQ3M9WNe+7RrSKONoNjvN10mjwCQZrrLYNOJ9sDWFo
OJcssLHIlkM7Su9iQ4c1x7c+iCjqjF0Sj1FZj/Sxq17ax5kajXaHr2Ei1cf1EKUy4ajuhs2o93sN
yoLbH9FLJMwZKFXRc3yNR7XtalXpxDf00LxuYdOB2q1dZfziFgsWxaVN9DEF2BGNC4JBM9fubJou
G6uLGe57JKjan6oho8dV525/GlA24eyXFReqSYOIwlgm+5jiyVjDRrnRtBLgMYp0+j/pcNVO9EvV
OE64LakeV1OVhr6ia9rBSdJyjTURBCtJNFt4E1daXI23nSVFTEskA1RLHEDhI2AJD47T2cIXBlcb
Y7ET7NRC5diZGZO5z0fc97M7ty+lXmVveldrBkTw1qLYIw7F6xw4v17Y4UfwitbVDq1Bj1EYYXYg
ZSHRUMLJ5ygRfedjcTevFa6gSee5Cp/DRqjHMBH5hkmvsu0N9CE2L3fOLKOCtKyNN0XZaUuzwEmu
BDgYzlkOsrFUV2F70qRf7Lgt5XZqFft+UM1L3AUJbYouEyeMr/OhCGYOy4mKjEtGL7xHBpAqXWeZ
hRcrapGySmEhr7DbT9GYBs9RE7mbMp/7LXWfWKd1WhwgdVQPSTtfTBxbN8udfRVAxl7ZqsFUsdbO
c8LZOYqrzndo2GycmNKYK1CpHyXpKlelmYafwiqej00thlPZp9muzTjVTrEVbpOkXxAARDXQ926/
6APxyMhV3LtQKKaHa0A/Oan9OOsqvNGEmS3d2FM69+aJ3r+yS5J2eDLrckA1jH6L3ryhf2b7ZRYF
3bAMvSFTjVtLF3KtFa3xodgO/bOOq7FJ56Tbyy57I73PZai9gG8UOdWul/aWuKuMYQRNbvflG9JH
cO2JCFWvTBvzlXZVvC2YxfI38JpmTqb7uI4Vr8YDtx9UutjI+OnoJkmCiRm6gVGEzm40rcADM0HD
QiLg2XRmSOqBLbv4qLmRvO+ipXTg+ty3Y33DbU2HV59OsCEU30wDd6cASHWgnNb2wWmU2GXomDlf
RquIrt3MiXd9UBZf7Fh1V5mKLdOrCF+1gCnD15tUDTZQcgt71dkjbQCnwN19pyklIjZtmHTGAkbg
Dx3Fkppoqwmhpe3Zdh1fkqxnZZeq8Vxm4eDlkUQtMWiQdUf8M59NwjYII67mW0CpsS/sZniia4a8
0kjKs44gufV6e3zDOsoQB9zER0gnxk/Nel6XRD9tR5IvP+lMK5Fmxu5Vj+X+eirMcqNlCCZ0Ku+F
P6De2ThMUx/+RAq/mSCldVvW6gtgpmYlRlnegi0uO+Y1EfoGfAGe0Lrwg3Jc3RU9aREoLmdlNXNr
rWeWHD/qph6DRhgNqwIA9t4Z6CHaTm+d9XoOsX4oxkaEmv4Q1m51dAYzOpRuU13XGhV5V6s9V9aN
pnciSrs7pFp14pOSFa1a+BEkLGs0KIOxtjxN6/X93EDk8IVev+c5I0ZtLDncYtU+M/NLfCwgzWku
yuEmA/RN6oN7rpkTxx6z0SjYG5aSniNVIxwFE+Nz1vb6fdJm1dmuHGbng9bSKbci91a4I30qpxv3
5RjEKNUCMeCBjdUrJILpU+6W9VPoFM01/ZrgsUqD+CjHmikgHsUHrRHTOiJaYosuf1oHeJE8UlPb
aCX4tKU/drra7Yts7hmM2vIBqa4KFF60qOuhM/qWKYglUiP1um6hkqxtJygPxaDQAMeXASYumfIU
y7amA68RBtexGz6JkcYLrEFryxQUiQSDzfkAGc160/n7CiSIIiaVBPOAlaju0zSbjCLFzEbvFOoC
agjbeGPFqXWy46q6D+weLYNiNvQSQgJLxcoZxpMkQG3TVmiXv+mi/304/tXhWGVm8reH45e2fXmL
ZPvede0PBeq33/zHEdmCy6vjdeMAY+JpBan7xxHZNn4zVcswgTGalkD4g1L2d62Y/tsScSocfo2B
H2fXPwpUoX1VmKHGpWLCpkDF+1NB+rcF6o/1KX9aY3KB40HD3s27W4Rk31lAXWPiwauUCt5R9hGV
obtVHOY3saP+Cj/5o+VuMY9r2HpUgefJ4pz0s7g/K0QhZvr/OwfMDxjwiloOOecQRPLbLfvPi+6/
+Ey8Bg0BtNeEfC7v5LvPFHZKAPuJ+KluSCW8b/Wq7XMMC/Wv3F9/8ZHgu2KhxAHGx/pZT94jRXKR
4Va7qU0/0iz9CJT4I+G/391Xf9VE+PPn4WVMzPdf7Ww/f0edFc1tZI4VQLPBXSMyrr0lUthnpvzf
uHTcq0jEF8uiQw3306VD6ouPjU/UE2p1Ggkgwz2nO6fml2Ta5S/9X0nz19uBXG0E13xPSCh/rszs
nsy4zh1QdQ9Y9Cw53U7huFC0HqseRP3fX8EfFbr/eDGD0EzEE5brLp2g7+8IckRKns0SXQDe0xUQ
SAoX8DFeqcQvqhMS1yM42jJz7/71W9Gx0HwCwsV0YP381VlNKfUsKiqQZnF5J5saQqGrYBmDzPet
QfhP7/qfOk3L8+Vg5QW6i3pf5an+8TPOMkHZU+bVTpF1s8tlBc1SV4O7v7+Sf3XLf/8qi7j/u2cL
TIToMYzwKu5owt4fH/t8KA5f+0b/s1f6aWViqBiVfcErRZmcaHEnLzP5gP6vH6+vYtgfbkUXoJuO
wp4GoukyQf/xM4VyCDhXtemus5IlOKYtPTJ1SKw0xCdELspOMdBLEnepb0xyF+jQd79yWX2N5P7h
PYCJ5ivk5rSBSuk/237KIDdBg1X5rupBd1Vqz4h3Arp6PYt8WoM7x4frNhqaBnMxgKHJSDLDXcOw
LA59TSfFH0p7xKIe0qwri+HNjuKcFLvAYDYH2Uja6QdJg8Y+nLX+XNnUIiSZ0S/UOTB5ZcWPTFGQ
r1U80L5k09rZnO5vpsbVn1JbL/dmQA+/R9a4GqjkdoFN86+cSFEYEh6p1B4t9PiTxN5CTBwYnDoU
+65DHychbq873S7uOgULjOrOw1sdsNEwa+O9WxqvkojyODiI81HtOhDeJpGpr0lKTRC3vB8Fp+9L
DqFulfZdtSnhSl6BB8OiSt/VgvUeBAnNlswdUSp3xDgFDRxFNRjXGOQoePDf+7nKp5shLyEntTvf
7goIBzbrWxTGlHgWuxCcHABaxJUAyEWpfUBnwcgNWu1RU4mLcvI63jougaZ2pupPYdSbxzHUkufQ
KbNH/Hnxtm6N6nNt5foTIJmo8uxBqz5XuZAz76nHnQEIjMm7AVOH2HlLYPZURJM9tgOhr+Rb5DdE
ZHTPAZfmGCV1dWXJ5EPV+E5lYulPuRN/jO0Q3HXWXFKDLe++bcsjAL4y3TSIbbh9XTeLrulgjLfJ
GAsco3xaElzjbR9mhsdJBJNTpsuCPAkcSx6j/fgSGozlEyssPhCzaRdSG7mIMsPdpisDipOvT17W
hjiY1MA5kRlZrNOYixBIbF2zwDuLDCG8d2Zo0pyc4/TZhcFDKQ9OIDCjJGe+RyK0zzjGyrYxQLXq
rMm+clFtBP2nKKgUhGUaqiVi60jq9Cy1aJjexPOToxTm/Vik+QfypJKBPIaRomPxVlWn3gkYaY8l
D/e9Qd5d4puNSpgQKmsM3whmcK/JMXdPzYi+1MW+iEEmGFPo/mQLl54Spsoy73YfKbl47ARxM36P
1mc9T66z7XjupWdmQxU9doUS9lvpFMmLS2zBBqVxf7ZsDJIe+NNs2/bBeDs0bv9ppoTbmhVV92YA
C8HIqDLMeT0nTlp7DWwH6IYIG19nd+kFzDxbQgkmDTyW2T70NrN2+iUmw9mMZXwsebONVIwDcw6E
J/CLFF9L+SbAcaTPdagXhzGAnIHARffJ0PpAKuUygyLUljdCyFOYT1iD23pYRbkVXcLURdwTLqQl
hW9IGuy+0mBhxWNFmgnhv3cJ7K10FVVj9F5U+E3RXpKOZUXEUglNfqpaqNRGXtKhciU3wjw4xWHx
CLZBXHu10ql+q2WIdsN3KHX2KmrHOzJBd13Zv0IWiQ85SG30RUSKsRvbN5HkoWRIOq5VLevPfUf1
GiI52AgH7oNe2emTQ+l9BGS/yfGNAf4d6cPkdFHgaMS0FI0u46ZmVRyvo0VbXMjEvTI4125qhac+
ldm06sk99owW39HcsLoRndZvtWXrrwSfW8+TFyiAzpWDY+AFn7hzY/SddinDQbtPRGAcRskdlbKg
Pks3IPktQ6fQw7Nemy0GfC93aveqK+Tw1ioN8/JwGYhGInVuNKupPaFmLyYerlUDe9+3MEWgzyHd
hcofkI29GB5NQwLapvdy0gbJSvb1sCfdpt5m+K9WCVNlTEXYsS0891i5ymYXtw7KK00b3iKz2Fdo
Gr3QbVXuYKYvTZxdGVVXbqLBcP4Pe2ey3bjRZetXuavm8ELfDO4E7CmKlKgmJU2wlB36HgEg8PT3
C9mum07Xb5fn9sATOyUlRQbi7LP3t/kllM2lb9XVvjbrG6ArvJnYHQsaeQwbsxWvThoFlDu7wth8
nLoUFr8CZjaoS+C0GtV7xNEXA1/KgGDizPF2lBgCcRSqujBtcM5Z7Gx7VN3VWHfmysFlvQPLS6AB
M89TOvMKLV5UIal43YoHLo4IfsMs6/UO9ghPg8exiSMabaqKsndR3veCs0eLOT0m8hZVPpa85kEt
YP7RERFXI5HUyNQ/B4YYbkaNxty8Fhc/h/Heu/qIXQIubBnE2i0xoYuVWuOLhpiGGzkZbiMiLalu
TZ/8XBLMkshdtiIbL1Seb6qkLS8N9Oi7IsdX3ZVr4sDfa0oEcNqnT3yen7tRpz7QrykKi0s6I3Wr
udhwcwoei/SUu/Znzanp/vV46EFCtg9amlBHXXHy0j4QPOulb1DBY9COtfArbX49ZMmLk2Thd7Bl
/KOmEXraiuc2HliJ8xfOgWN3O+g4oWkkzRQOqOWo84Th6jBjzmx5i2RBuTJiPcdG3+oUBzaeKnDv
yg4jZss+Dohyiq8zpiULI+7UYk4uzae+NMvjBAbmWHsD8fPaF+3RKnqxFkbJUmJNQLj23Bs50Qyy
8PApOs6/0puia2tOdAjTzZVoOzsdy+Q4ATse55C0/OhDXqPuKYxcQefEinGgE264BJ33vZcZq3ef
Hf+3xnHj0Ehj78B2sUG/l0EHPLEFxdn2oMB5Dbxc4q7thuGO3WccdpktAnwHUHI2A3R/e71YAsQI
Z0//Btw4HzDWFA9TZs1F2Bgu1h/u93aKHi9xHxZZvk4b/bPtC2p7M7xYEtogIeQEsjSfLw6O8d4B
mHELeFlTOKBSWTVNueNzaoKYy3rifYU/7M1WDJu5jd7zxMlBCpn5Bl8baAevNV5o3pvPgme0gb+h
w62JVwLwaGEtZz6u8Ze48Ay0bqPXCG7PAbdbDab17Oj+ls0T5xuOBA79mNsJA5uNFm4HhbNu+Avv
czGV6K/SGXd/ffO2/nTJVxdiAsuOS/IG6eKncamZwTP71Bjvk7K0j2Lsy++1pcxT0zCxrKWvi6tV
QY8ZSODMGM6jy83CoAjm0rD1Qf8q33lwVUcfp+Bamow6fdpUNJZK4dzYZhqcKtKNp9ztA8po2xRG
n4icfRzxGbRmJqWNzQblwbJ1+52l0cKKhn/tfM3w7iHIctxG1BI8q63I28cZWFV64MPqy4mr/vVr
obKBf5xT2VMixbCvdAgtEwP843DQ4zyziXEWeyoWOXvNabwdYkF82u+4Mw1cs8/SUjkGc+GOlQdd
fcPh59wMVomr3Aj+rtHlj4AfRln18yDYGMQIlfbw00bTi+EP+DxO9hjrn4VOP33O84X4yHtViGsk
eeT/9Svwp0GdN4POpG7bGCIIgf80HfX26JT0VBSUW3IhrSIR8bDmalJVSX2Defnv+C8/9bh8/A1Z
GDuB71OLREb8p0G26rjs2S4LFI4z7IycmDVBzwrLccYba9DqYJP3vNdcVPm7j0fwVC8GflMsitsE
kOoqygvnHZg6xM+eO85fvx5/mrMDC9YPjhKdTwivy0+vxyDdyW0wK7BMkOnO0WLI2vb0d5/BPykW
fBeECjhGrM49Qt9/fNsBuhupOajTvWtzc3VxGa0qTBrI7wBKQxeCNOWe3NwJeo4vf/0XNNUL/IdZ
FPAJH370H+hY9Pj89L2lkdtjV0zJ3u6nONoXdh2ctEhxJAT3UjiHjrwEmhM8V7Z8zgPZ0mnrTJR3
jk68gjWcpOqwA2TSghe1NjFM4q1t592ey29wyuqq/9rCgR4OWtQzNX789P/q1X+jV6MFm5wV/9nM
8UnWRKLjH5Xq3/7Mj2YODjkPzwRgSdTa/1aqidBgpcIuZcHNAJfAA+N3odr5heOByLNLiZzLB5Y3
8u9eDv0X3sJI3srtg1rN0foPhOqfPnY6gAawKFbAc8m2iV2rZ9YPwlMkcFwSG5rOovwa98U6KT7/
8Gr8DyrrTwfrn77BT+/6bqZ4rpn5Bn5GjbNP4WTwno7nNFgl5de//lYfxLcfPmE6Uh2wQ84Py8YT
9ifElcSAUDiUbNxmTiHphgxLjRIvV4YY1vLWeeuzOfbBrAHh13d6Y5KfXdWFI9PqqFt6G5df65Y4
T3yJhZ0g7++iLtZ30q/EN5R7Py1P4lfrhK5sFMWvlgrs7JCQWSBGj7IdtsSVnWM/ENLM2pohSmaY
ahknlG3D/3BwmCNlENDhR/pyiXWUbZI/kFCOx27l2tXocUuq/RJCpStJEVTCPHaMFU88mgV9qy3B
cFCuxbRFRims8sYbCGs5s7ucfSN3pjet1rGraXFJoGmA1c8zwbYutuYx62VDkGgPUNFSu9pAno6I
t7HRzoY52nlFl/a7f0+N/40Hk/4LLjT/+dBYfyvep/fu24+nxq9/5rdDw+Pzbwcsdah3MVzvo13y
NxQC/wkAAU/hX7dU5v8/NKzgF1RqCAi0xDlYKNSl67dDw/IpqzQM9mIu4wouMOufHBrwfH96lpE7
4QLLhchAYAXL8NNlIs9GbqhL0O6lK5OXISNTuAbNjQYzLyULX68rh23TyruiZi21KpJxxVkW0BOj
wzgZ04rwt7UYL1EqShhoSCEr8DzTt3mAp+DzxWm5tfJQbfEreMhINcWbraEoWAIISsU4Dq1Pj5Fn
Aj7evIgpWULYA9kwVad5HpZzkTmYaXyhL3uPZidbUUC7I2o1vpU6YuigXDvENtGG3Eu6m5luCoo6
rCLUZifbTfxwJowltzkQ44sONB4N14px8wg09S3zWu0lLUrtMW4rN7TbudoJPsGbJuZW0fh9c1nQ
Otbl3N+PfvyVYBF/SepFQgoy7pl28m0Q5MlaOpYWZnFF5DfOvzedlU6hTon2uoIvuHHwvWzNFsWG
8XK4JqN571LwFKbecDvAfgkxod6nhv8YjeLWoIIjTAA+Te1inGZ40mGRVyMJv0n9i3I+WZ5sv3mB
bkzTijHMRwqE3gIXLlFbk222rPtconw5I9pDXT/Mmba8ojHr6wYW3hpGoKBUl9JcGN0r3oKPsxVt
ML1z1kSu+hGoA3P40kGLx41KBv1i5RqhETK/D3EfFM+1FGAuZoq5LdYPqzaOrC3x6TkkXIjpQS+/
90tzR/hkoQhMO5I/at9rmpUekXYJ26SRaa2spthMvtncIertMRIy5jpDe4GQ0L0gCj26fVrv6rmj
sqInSO9GubdZoMuwoHJ9bGD+U4HrBt3Imp6YtmK0aHyHKy9GIjaDSHzRdBBJK6/VrfvBLKxzmbYJ
Njya0XyYG9hO2Do9WJpBLLGrOuIRtXXtiyHY9j4KDNRAAPh8csKMljKepRrpmhKBZseGqsH01hgG
KDuJqGA4Pv6v0a1JTM/iBpbnQGtMpzlPjKPpjV26OunnYVz3ki5u3GBmukZ8rbG2+F3UqeiFfkPp
kTMc6kzHCEHNmaRf21m0nY+KFX2X5Ltu6a4HGxZDXt8UXmp1dHvHFJJkxq/7q3+vh39zPaT5VJ2y
//mkv01RIUSX/njS//aHfjvqfWy7Ch9GPwZYG07z35E3nPPgoBiKfrwX6r9w7hqugtCoU/zHIx5j
sG7DWeN/4GrIhfKfHPGYKP54xHO98bDpYxfmwYSR4ecBtTNctjxtnBwXRyfSiRamOHh2FpmkXVx7
fNXj0jtrjlNf00ZW52UCc9H6pW6sqkBkGwM3GedxvshNZ875JfGHjI20xtEfeN0Ow5d1RNk1YHqk
Tbt2/BkBgvoWWNFRTqhWJk5yM8LNPekxXJ6wNosT+kx+B/vV35V6kOwiPKA7Oy/wCVHgFK0xJbof
eOsDHB73VvQq18SSX8NeS2NmWHJ23HhzPb3lMNLy9ewhPFqJQNLUVEyvqqNr3droQak2zQehf87z
pX4ng+/fLrkVqXoJf9jwP8SbaXTnbR7N7mWi6SXeYGstdPqOav2gBLF93pnal6nu2u/Q/ZDNs8o/
sI7sYI2ZUcvlt8GumzSCbYjVXe3eno5ZzkM9lDlup5WVmd8yvSYO7mSwrhEXEYNpBzvHNJHc9M2i
falcNqYhQqd51pa2Osi0fRmDub1mk+nucnisT0kzDA9BMMzkebWl+0ztXfxCBCcPVsIh4Omi3wm4
EcFCD3x1YNOFqGnqaXdInCD3iMnSkNOCHxMr054+0RBKhEtUxeeCOoZ9sNAsbdhp+mXBUHVK9e6i
LbFzzLuhOdKYsdw0UTGuKsfrt97s9+a6I+TLRkHir+b3GecvRMyhV/AqCb5aqfVbs7eKG2l4EevW
0uUvOgck2oxInJhT8Gw6erJDFSwe68pOPuVDmuQEtBuLvOxc15DLHRyIWuTooCZNC/9gynsPPowt
boWNFZemF52LhTTGaJssbNUoLNP71dRXybpYLNZOTjBP3zlvBTlNnlaIvNSx4WlNqrvUhZ1ok709
xV29rJ1FIkR3fnnbsIM9mfCeJKDmCQgEEAuMrU7dxM+sdE2XlU5sf27huDUhyTlCtgWWQfbD5X5p
lthbk7Ak9OhXlHyUTnAfY65fTb62aZKSFL0c126HRbcIxi+VZ+UHvYPVMGUQctZjLyTB+GS+WRbQ
KtuM5sinoM6iF610Y+0IBqfNNniqja9AN3rBo3YS15FOsGgzytx4HYIiIkFJ7d29Iar2rZM6j/Fm
Mt5zyAo8weQgr/1Ere3eJgnbh50f1PvUlH0YlNZsh9EAvD8UkWE9W5S+3ODksz+TrtVpMrJ5066o
5Cr2TVz53Jx07xYCpdQPVMIEjwuPNEAZkJ1QiQGDFGtKf+qtn1TlO7jO4AnOzmdNn9TtsrPYbbry
m9N08KTwmtcVdWpR9ZLF5PlWRZcRY2NZ071iyYaSDSSqOeAkHFRIQJQg/JzglJgzAfGhuzd6PBdh
m/J5ZrfZooR39sYvmgWp30NJH0UPn6FJ13YSkJ+ZhvaY14Z3dHQuDIuVZD6vg53taiE40eAOeCst
aPQdJY/p1WRrsqtTPZ/XWjBENsJrp7+aecIG1OYwHVnUyhXtMGm2YzNZHGJptWfIE/gSg9oarh0G
RF5Yr8w+sYprZYjl0QLDtUTiEMUzjBciQ83b6MmmA/vkgxrUg5htly77i9132pfa8dgk9kY23slW
ahwuC+uNWssC9ouQx7ean7RvbEimby1FG6/Sroxbq09Z7KFG+zK0HCrqVkFktZdEBlG+5t5Vslee
okPC+tpcQdN9iPO+wUMeTFBVOu4pRd6u3co72o0ESVpVxX0AnHkNQjo6ZDnHZm3Y7W7Wy8e4csSu
7yb2Y4CQAQV0aedBNpcVhCAMsq0+L18X1h3lZjTcdl1bAhtFzS2YxRae9lltNcWNXbQu47XdTU36
adFiwsTSs6tcf/FlDlQGKoJlDMOLALuWXaiiJmMVZO7FyKZoS5dfd3XLQr+6hhffcSzOO8/Pl8MY
T8+EQqtri5x6FUYfmYQFsuh56tzqxWIQgcrgVcRHZZw/+yxeOaQmPlYY2Ks7nd34HfaQdtvHJSXZ
aW6fA9YOKwLt8EaAWXFs87RbzaVMz8IMBOQPr81Il5blOQt0flw317bUqBCj6MFO81EPIDwYXe+e
WoMfHxaWees4ePTDbhmiB9vv3EOW5tMjkqbPdXokimotmrywXxflbtDa+iR1GZ2DumkewDt5h5i/
+Bec8GydZOfs5qEV2zlql7fczma2Z6227GOKy8hmSoIBQNI2tO+IDT1WnEciNZYbfNHeIUkTeANT
docu2YVOa1qXiMojm0M2j67TwvTkZiYEozquV9Viq82bqO/ixUt36vV87OrZOAXZ0u05Ljyqijrt
kufkesjgTHDsgiX5Gg12uk9notBh184N30cf5FGCgLo3827aBTIIDqMh+ucuqsu70aBPmM8TwyE6
N9flxgPag+46phRAS3pTswpnsLCC9n6ydLQSQOTBig2BsaF4Vd9nbWFfiHVHt8wP86HnwciOy5zO
VeB/0es0+GL0llmHTu+0Lyn8jDd9ivJDX2sNEOBE86EGcdTw9kt4SNuF5ayUmrdNxyy/Azs0vTWe
N63zwXBfqTfzL6as+OSB8iV3TbUjbVR0SC6brjPN+qGSwQtVMTEnduInDQv+Vhh0kvn0HWIUC15T
okAPDgnZ9s5lQu33hDRbWET0RjkUeBitfjIJzvAcC4xKb0M5ELpQcDxeeSZ0+dC18XpGhpRbZhhv
2wSut6LMyY1WWTzdMwwDHKNIqi/3YtCSFwfvRfoOgrOqVsQFdGfTTWDkGAZdlfm9NYx5HoGK0S+l
iyNvWbMDwTRWxC7f8Wm/cu2dP8FIq75k42w+B4PwHo02bo5tmz62lQe81GrLA5N7s/IE60evnq9u
sbxyAMIcJY8yuK+emMRn8p3cIOwOKGLviFcv0LI9fsUCkzizol1qJ345plorsbnNh/a7tTiEEoam
zQmNg74hoCZS9j61HO6p8qR0BG5OQk1DBwHokfaFblMu5nKfkORJgT1NdGaG/8pk/xuZTO39UI7+
8/T0UIsh+T+r964u0ur9xxnqtz/6u1zm/+LwpTysqKxYf5yifOsX9q3KD87C5df/8pvEbjm/EIZk
zkYudmng+4EbapmobyjjeMtB0MIt/2ej1Icd9QddmuIFIpO4pvmaLjFr/Se1TKRmzmY2rfczZYoT
AMXcmlbE+INdQr5361amjU0uzvx7hiLWsmZapWciedgyisTH3cIK/jGLUuvTBw64ds3qYezd6A0O
NLXwVMQ1e29anD13JOj9rNgoJdHYq4JSxCdCW6YLLVObsx6ACerhyS+05JwbNW7Ign3oUSxt0YLJ
TGOeJ1AqDcB4bjKvFwXT70s0N3Ax0t7mWm9fEiOb7/IESU2jjVTb6C02qi7i/Ar5FVDCS4mdmRzG
mQKIsZaEYjB8IDObmCZFaVnHCWfPIZhTvQKk0zJIlvxQ67aMhm98F+4CHUwcA4c5qSt8Fi0mJM8t
sGuilx3mqIJIDEAPuihTGsx0tdfdWAsCUsovfO9EznxHST2XDQPp7uviOhihcmPqPzE1eXxdfrJP
duP0n6pJz69BDoE/mtPkMomoemx6v74MPTkWNME5dtYQSnVGUhyUdGWXhRGtdIPWW6rAG/8eRoLc
tG7DC5kZEZdYnZJ4ZoRsVk6kpXkzYt+/i4p6qlFGO/onQMiR1QuYa7GilH3o8ASdG1xE8DuCO0rE
0+QEDMHZ97x+VIy0wQk2WbtbkmQ6JaiM2zkZMSiQm6kfDKP17ympwDiUk00LpI8FC2sadKrOeMT1
ZB8gUtMBT5jzACOxvrDVHrWHD/erS+PrkV3kBGEpF/Y6pbGr3y9aCWRQkFRk9mk/T3g7XztRm58a
XdoWODBcsSu4hP1XQyvR1IZkIAqFseR+buKERKsdPJjQE+6BZ8zxhjZWEErOaL2Z0dwDi6KQ01wP
iTa9g4XyV7A5g1PTWF68FVJHkJuzCi2X9pTlwJ0NY0gaCe1kRto4rSbTKzeWPvuwvHorIIOHN8SB
5jM14uqRo85PiTUHdw2WBpwTnes+VYa0b5OeEYJJvwCQiuE4qxcYF0TCrF3MJBJEIfalqZGhxgvR
7SU12v5rO6KKKis9s3rjWhG/Hw0plRWaaKeN7/n+Nu6MxRT7qIbLeBzcRuiHom1l+sls+gBgKP8o
AKypv6AzaA8SBNXKzKNbryzHm3Qc+k/Yoc5RYMUnmFBcKTJHy7jfmrgAUUDjUvdIdZqF/uRYerpN
FzU7L8MC4AsFmb0WAralFwcyZ9NzOqAQakFS3/ZZ0m76ZrhmwkjWadEwfnqZacA64j307FIs5+75
eGsw6axoV3cd7iXhUFIMYMBo1sy+XOJzjGjaYPao1xU/w17qKaHrUZhiLYd5vtHI+h2I9sGhC6pr
vfinIeu55I9Gvwr8ej5OKawWb06Ljc18CK1o3pHo0r46CydNEXUr7gG72TcIjaWmoVzZ3pkM8MOw
9PEaEOkOvch5NnDyhZDsUCmoE7tMvn4llW6GY7fwa+uDZB3bgOzGAmiITx/tNqr6VU9j2Y1eNf23
THpnfTGjV6J/036e2uKhckf/ko3U2sscYJNNJu6OOLi1bfHBhxNdCTubZVra+nIHnm2g0rUvttxl
8Rpp/CkDmRwvTlc3iOLLaw3/R0G4LkvT3ZKMiaA7se3IrbrbtVHVbTNX02+7Lpoubg9CKO3rzwGn
7Q6Ki79JIxlta7jNbEagmyt80H6p63RVjCMzW5kauJDlGAovfqtTs1/HRpJiK5RYiAOhqrHr7hN4
9Gmv0wL1lNFzwhtj0nZxN3+HB1Ps8BLKzdDhtxwNM3qDT4iXfI4S++BmNvEdoKj6Qbj1lO+tEh9C
hW+I7USHNIKVN901IrePPrHn1axhrxRNAjp0UUZ5VZuMUxyI/eguHlgkemRAfC4plW5tOly5jEbP
QevwkXXKiMgl4EKwXe1nrMg1oHYgjS8NLMQtjmVS2anpb6kkC3Y1McHXZor0T3hdNZxMhO9q4NFn
rruYstsJ/65VKiepqG57d9YuuNWevbgt9ZURMMRANHYp5o4MgrzzkBtHh9jBKchLP0AKZ9YvhpQt
am5aNfxYN12w/5aoNYNdr0YiVrgfI+A6ZTJ38KaqdAfiyN95OGZh6sTFumtigSFXaM9Do/efeMdV
sH7F1NzoSHlulNX38zLoZyvLq7U/8EqLgreBPW312ewhrCb23jTpfx97W4Mt7WXfrN4uv4kSQ6Sb
WCVOTxrjMCjbrjxWqMTWKkPqX7vwmp9q9Mornbekd0GRbJqg9U9tZL5pgfjObiZ+QaVjvSUr/MK2
80TBJj7Npc/xCOZjOBqcc4tsoyci5LvZyt5wEH7BUebsyJgP4POXcUWr2YscZbAeWN+tPQ8NkMk+
HC39kJP13hDEbL7FJCbDPNPqNQvHbD/ifa/hFUobEHNk3BW922EomvL7yqDTMx6qU7l0YsP6iewn
2+6UGtqEsX3TG+VyjuVAKUXZfwUd8IhRkKsU94sURS6crBEQASS9tQMNoA3BAA1HMsDqMgNvbrC7
PgTlRyt6FTGT5PmjZrrUK2HTfIOcklLj4nvfOqO7itH4HpUtwwDs10DzXqvC0NfsUNLdnOveMZDR
cmp0kAKe1b7W8YJnNBDHqcop7k2aZgOOBR0kHkEgzLI8WGNzcFDLwsw1ntJJ5qBscdBXqYtBvOsD
yA+KJKxnu24smmM9zA/2kvRb2E1VWIzOCpv/8nXg/rkaLFE/RP7Mfq2noCaMSkuuC0nu2QHTFcqq
L7cklcuw0/wvUWy+MC1Fr3rrWBdCUpQ0+s49GhHvK+cLllNw3Qtl0A1T3g2p8fpGtOY3r5xonzS+
9jjmkzV582ZFsH3a+w1u4d5u7A3bLrCuvpvsuLF4V2JjMVusKdvq3B4vZuVFd4zXx45fOgSKXZoA
8ZXwwsGK8hbF972WyYzMS9vmmerrpzlv3GtEAfCumVJHhB5Q+KtIRL2CuBx6yDwYVGts3LN/0tre
Xffu8kxZOOO8vYXwdcE0izV4Cm7MpgZxF+9bsyTuoemXaOovS4F+mwz9CtR7mDXlG03HVbj08+PU
i7vGGC4D1GluawDl3UXyuY/mFWnqnDugiJEd+Zg7PiLL2rFwwYQz5sBTlfn+yS3bapW4XWhKD7KQ
BhGSOHmV/1rB9e/a7G/WZoZKrP7V4Advq4vTP0x8v/2Z37dm+i/KfcDa7AMmZSuD1G+LM9/5BceU
2oQRH3U9PEH/batS9iaeM0Pyf//L0hkM8VYR7PI9NQX+k20ZFso/bssY8fBo8MXw9doMky7f6Ecf
VWDWFVKzD4rVj18nTslw6OGIkCl8oeH3oRu1Panz9sUvjRc54agUntxiwT4O0vM3i9aaB4uH0KFH
7QorY3IOAQmvHVp8s/Y03ozDGHTgUEZ3XTOKsCqAwInc2bzh1NCvGjVnO/ryxNoqYNQ2fppuI61S
kRTvit/Cv5ugEef+UN7Q0Dnx1VCaOSG5KGqmuaYGvjvqA3eysbxgtqeHD/psmBWzalFY7p0+cnBe
gy435CQesRrnq1jOKMGssEJbM+6nxXJ2MCA/uTZimjlNxc4ri+R20LnCZBY/k66Txzfcvts4mtve
sXSk1K54FjOGb2te6El3GV688b0W0PFHa5zWnd3Mn1NsFzf5xFXNCiAHNQi+O6efYO7bnbebKsn2
xi4wTlvW1yGbIS8IM1qT61f6uXg3Rwn2cBiP8BShpaQEdrKFZ/oyVEwnXgC2yKuuZdtvh4/KJu0S
yazYCK2d940VTBwKtXENGrN4GUan+YQ/YlsGShIbymvO8pR6JR8sXYaTnnNFFFCHrHjamP6or1qe
Fy9iqdN72Ov2weqp97QsatG5W40dMH4tejBtpnU7R8oMtdL5SGy0pyhp0jOqyPRCt1b/leht8DyX
FvzuuhbT2q094mJjUFIjyYzX4pi/91Tgt6JFhDYgc3T2g+U3r16aee4q88biucor58YpuL5RnmWc
7WrBbY0CTsQt1pvu5LWmv6a3y+DFC0z2sh8Bot5sCFb0Kgm4wCo7Igrj9Ggpam7DtFBcVAN/5Jkg
H1czXFFbc/KyN48FCNV9KkDlmGn0nJlF/eBb7BbmksCuwSblbKFv3NgI26cYUudbQxV5GrLoTeNt
mmO3LglSbYh/zHdY8ZHJhzyuQrZo8wZ9U8mjpI3h5RA9c1Lik13r2+/4NopnmUr9cyc866BZlshW
cT/wqqLvrbtknO94AQmjUT5A8YKucy2uHbJeA1/SMwXFWexX5Z0Z89Z0RCTzvUMELQtbiJJXAor8
jACH52vuihrPrgOK0pL8Hhq/4Atiq2H2wkhXbeRIwmAeyuY14fO3SylU9cJ5JjeJ1tAzkSVD8Yyv
H597a/dfkeEJTgmr+ebMHXqEoAju4yfLoqzxt6Mw+PIFCdf7eFH5TadjDLeixL+3Z96DtjaU34sy
sY+VAx+2z6B31K4kv5qqvziueYLgwhmevLnkfyxA/Ryc8dfq5lpu9KBnBw5Y9O3jnYZ1iu+2xAEx
PUPiuk9nsnugbhjAGsXLTlgbrxjkimeb1B5cK41wwVDa3j06rH2o2YtfjZmQInZl2hlj4dkkcPml
Iq1WR43CgSI0o4m+1qkcvn64/Su9di++4cobTMzmNdIz/zq1FMUnvCOZFgIHuctUnnynZNtYRdSs
aCM5t45hKN8WMcbGD2/64mb1Qwt5ZVdjzNl8/LbKqawfKNwmB9nnEfsiYxj9Va2e9GyLnJPR9tQF
uB9XATdWy8xJrS0LkKfLwr9S339lPyhhNKu7RLac2Refx1beCa1/JJQL7Nip3wCXhTHOAgbgW3MQ
F0SHu2TUEdmGZF9m3XeHmwz12aQlEUUq07vOPToL/HmSp88x2501XgtuH+pS1EQwBbklmY2kIUxd
nAaeYyycrVrsFOfkanPDYsFnnN2RMzxX1y9XXcQMDxB2Wsoz9YXrac7WPXc2S13eDHWNM2YTlFMd
A36d1FXPrfMMiPdob4BgoeE15NxHdTkcPu6JGjfGKiZtxg2yVVfJVl0qM3W9pLeTWjBunB03z4ob
KI9JwmKjsC7Q5aNXjXsq6b8vTO601agrLBteSlzUtVZTF1zQUNx1zQ66c+O6JPnVVRj33/K15HZs
qmuyoy7MJLYfqkw0x8DLd5a6VFN6wC9YXbTnluhEpi7fObdwV13H2X0ccnVB1xF/95O6tOu+aDYk
IMi3cqNv1NVeq+vXVl32Z9qST1INAADWiCZLV8drxe3aIIBGK1soDPndks21UYNEqkYKWw0Xnss9
2GDeGEBhv8uPESQbsRyosURHvQwjNarYQWSz8l0oepjVKBNnaqpx1IBD1hrb2UPL3JOoAYiNjjzP
H1OR9TEhVR/TUqUGp2U0q1PNLFWooYq3FTgzNWjRR2lvpo/pqxQsP/Iqb9YA3tgcqjGtpz2SgLZ5
kCVDt9U079TfgLnz+2CdGeOLrgY+SjfAz6shUGMa1G39tU2sna7GRKLW7ILV6OhYU079O+MkOeAn
9F595fIxxOvG0OlnPIfRa9cD5qTTpCZTLgn+V9tzxqun5tZcTbD1xzDbq7l2+hhxR5OhZxWP2VOm
UuP4YKCwqol46GjZCWiVor+mj9b1qI1bnunTliaq4xSX1kaqGZtKqPresq15HSctNysL8tfUdP65
GZvprQKo9Dapkd5Vw72jxnw8KMu6+Jj9yw8dIFGSQPShDoBDiE/jh2bQf+gHdCO6Z1OJCv6HvjCg
NAxKckA+RLy0TMDe6DU6cxVSxUip9MlzOpt3TBXR0tU6jRnay8RjkOHtXMNyOdpKDImULBL9KpAg
lUwfqsnyoaAMQaWd6YhyDtwU8p2h1+0mnYtoheextjcJwk5VmubFUILP1KXTvkm89pNLJJSwG8JQ
vAR4R7ypX2v4F/B/L4dcCUmlkpR0JS41SmaqleDUKOkJ9jkilJKjIiVMQQn47CmpqleiVf4hXykh
q/iQtJS4JZTMxZ3hdq6zrQ0XnvSUuypQw7IPXSyrqEJEbOswmiKbpUpAK5WUVne5jc6w3CK3y12n
BDdTSW+OEuEWJcflSpirlUQnlVjXZmo+xUn6ag3Bmdba/huZLC4grhy2gdL7wFE1lCCiAXZdmtJL
gS4IoxaFEKmQJ2h9gT8gwoZYUdjrk/NsNfNunuZ43VvLgyQodJ6V/jj4PkpkZezcKe1XBR0c9VjH
39pZgrDnkTe2NU0sStOc9Xk+pkrnFErxnNrolMbt1aYuYu1FfnaQizvfRJlPDdE605Lc2NCMxJ6B
09W48YTmpuMmA7VoNDvcQll8b2G1w2Qq2E+H/IVtCh0DTYt5JMStTm9YoMdYwrypkPOBjQmBcYer
Ss5qtsz/H3vnsV03knbZd+k5ciHgMehBX8tr6C4pUdQEi6KUsAEgYALm6XvjplSlVHfVnznPiTTQ
ouiAMOc7Zx93i7FBb8ZgQX+7kDEzLCS6J9wlgVtZqzbWCdXyeTBoZ4WOXVmEtOXLKJ1Hwwz1TmLW
W5PFG54wKs1bMc3tXZyBUMu069x27vxJzXYK98y7pCFenWzu8CKHpbUpQje7V37tfmnHaqJIqpy/
kMDobgdJOUEq9LcmniyaVix9GzDN32BrdxD4uf2Ah24fwqGwzgO9I5eYo8qWSm17Mxn+Z6SfCKZj
n70NXTytU6Nx4CNG0VEaqbeKM9Nc56oluqtTKPZ1kLBV1gX+BSfdMwt6Do1uXLm5c5ptDtrEKb/6
1qLcK9nceWLB5DnvSYGWSuA6PE40NZVbsNYc+mN4bF9MZ+i++rmbnYehbDnHt86N7aXuocnCJ1P3
obmiWgseXK67/IAjh7nQPDvT2Ukb47Eu5PxSNGZx2ybynQtoLLeVpfqakOfsniY6fzZUkbwrKdn1
DSW/ooIsaxZkix0NydRVCLN55fji4X6wwU5GkDU5A13sNHOxEc4xbWBYk4/kB9TGn2beNJo4P3oM
w0+0x5fnudAB/uqpK+7zUqFOM25LvpSqNUH3g+7cSZGwFZhh46PXpkHFOaAIg6+UI7Bw6NgVl7SP
g5eu8evX2ZbllxlMMbO8yHYI2Zd+WK57cyifQaZXW1fMwQmTVbVrWRi3gZgZOUX0HFL7ywY953cp
JJhX0c1i4ym8ayuXJNu6YeJCZwOf/F7FHEqyKqAUnpFo94zvtcHpgMW9nG2s0iiFaDdjOmAWwyLT
9ThAWv070Xt549tdetMo5p+jUX7LRyb0mD59ro/tOW8wfdVxE2DxMfVDnHT1haaleZPjkYdsiU3P
jStGWJGdbjKYrke+sA9c/KKNzxxlZ2QyOBQehQ3/jPv/EpkctQZZ5D9P+/9Pk9K+9mfR5/oh3zUf
OGrM5U2XdJfP/J/B9L80HyGc3yDxe8zshbUEUjBl/5jzL1ByPipAUbj+y08a0AIlX/Kwvh0IWkL/
FpPcsn7RgMhCu3xdOMKWmJ+Dw/jPGpBUftsyah+wqta04Cxj0U4CjwAOU5mnqr5SubM/GN05OqY0
XzoCPWKbX1He1h9cb3LYYCZwMzYgfKlquRLAU4+tz6Nchumo6Nf1MDr0J9iU7eEjCKcbauUGI8Fq
a1lSH0jLyJaD6Nz1ZVfflsVEJwbLJStVGNTlGejQeKS6WJt4xrzpdnKi6DmzVX1Eq/oEqEnvh0r7
8drkAsEqX5+vwx6ZjcgCrptbzwmHqHKdJj0CQAgyhGxbo8PtYCv0lYJ2kmpFpdZ4mXPtvpG04wZX
dq2+Tc0kAq2cLA3mje6XO7gdm8W+HGG9jMRjYaWEVXrwZKz8O5zLMApaRo97ZXBcX3nYCve0JHAv
NYoFrkIV1E0dNcMO95hPQYJR8h+XmNTHtdSRvqcxsXzthklcBi8p9b4iqgS0o2WHjevJAmEcT/Oq
zWVDvbLSnzoueR+jGSLDuolVzXZbBfBEosblG3Uis7c+RUWmzoMLiqW1GHE4gm4cL66V4LzdnIeq
YoRKY/jA6dxGHMOT5x68qPU/hhl4Z6sbyC6lmUNUMGnZJ1iqhINlgun3I+zsrYVkLTlycODzKhdd
TC+21rTN4JS4gKJIyNO4UG24uKDSeVreQB9JNmOs+wDxZRi2Q5fhx4stTQOc1Zn8oOMawj1uwuF3
P0rNt9kVFH66vI0Y2FOuEQSO36SA47PjwO3u+2qsnwTxlhM2i+JTBclnFZlaDOvaiLubQiexubEa
aibk1Gx6izpxQPY+5XGcaXhoxCg0BOVC7SYdj9vEb8L70VXUWUYNyCXlxLRpRSOWflvmT0AOXCqg
kr74ajJNOiwY4kMnfUZhrh995m1o9KqER/QlAkFNoLIlU7SPO2U9R0XaHwbuCBR/UJK3CsuofQoc
/c45z9joKZg3UdDQlMobkB4q7sZyPcWjDumLCcRZegUMkcTlbu/Z1l63CZBduDOAt11NXLO1pGFz
eVbPtOs1dyow5y+wu6MNsYjpI6YYeRPNEa+gwUkqo55wtre6Ntr7Cbb3nXLZ4vCLZYRALRoF126b
BxtBQuCDByRkNRhheSix3Lx0qoCCAbOFak6nttYt5Sp73eHarAKeQz9yoCU5uflIqUa/ZvpuA1oG
eUG8zSXwfarrIGOA39X3jYyIInlm8a1kTH1QYUsWL1HIqeMUcobq3jMTsqmNAr12sRjfZAUt5pVj
vY3D9OIWjbsu8zgcN6G2oGhvlO3ye0StVCQVvIehNRg9gU9xAQv+syv+tb6OhdL4X01wJzbX/j2f
fra/ff+gH8MQ8RtK9Y86jp8yRGSL2BDJdVu0eQWY3diSfmyL4W/CoZGDygAIjhZ7679HIx612QGk
BBd/3tVQ93dmI+KXiLmzbIeeFdC/TZKSTu1f3G82y2ATzITtNHCCBP1b+I+DiOcd21e3T+nwO2qw
dEviplZka1acBUOubrq7obEeJpYSam92Kef+n04X/59ouvvrjs2Xxo+EaJNpecjs5q/QibGlpDQH
M3vwkfar+xAv2H0AJoivgQxJvhIMZVNMyUxGGdd3sU3XZa1poR/DPvoalKV4bJktqWZbT770XwgX
xndTogYc6UkrXiW4fPaIQtfQ5DnnB5vChR55L1s3aI2N43VGcMNlGgeCmZfULYlicAgNVI6fNx+I
fcQ31WjIbABTU6hLELUgtxy/halj5GUIyhuqVGVN2XZswmcV9AlCUTgE9gPkjp4USI2jpVES0kth
FTGyZqa+yEma3FZtzv3aoZuKbbxiJB8QyxA7HVF7cOzQKHO8yhCQMN/YziO3B47N8bCDSPkRXd/Y
s3s0R+A1Yt/3dvvOxt7ch9IdN17WnkRcHevKa5/9Mh0fRMgl2m+BSeGroJvB0MYm9WcFMwkr/p1y
7OlcxsnOSLOc2E4vqovhhK+mjV/RwC9TUT9e0JMVRbVPy5Q73EIHMR7nHr/+2mcAvR1SPZ5jf34y
QbDdNxP4rXEm8oLj22Ovo+3U+dK0uF3COsEsQHvGjPfbTL2LGeT1hTyyjWUukA+unn0EDrsR+S0x
1db+kMUN9brCSClLU1tniqydwr33PJkm0dXELg+jV7t7qsXKXe13xJHwnQFQgjuwnQnd3JCTrbc0
SNEgN5sK9aCGTDd3w5oJvvfIT12dAi/HJ8R04RgLOzyG1OgcE+rJ401UmsWnGn3xufKr7Hc1ADZe
571RP6k2ne/s0hrPZG78r7GfeDsn6tRWKr57FNUOLpDmrJVWGPT4uTu7WQ1kTyD4Jm85j/3Ktppx
3fGkMTKPh4vp6+GOmAHtvIzPt+RYwr2jaITojLlkpAd8fC47+5IAgicKPFuruEkTHmk24Gg3aIQ5
QgOO98nlP1kbY2GsooDsjBsSJbJi+q9lNk3fFmX4VjGq2ATjSHildnD2dVnmvbbWNDfQIxNxsLSX
NZtqsIlBzZ1fTntdWQgcDONpGLeU9AGhYaOq0HpCjBJxgXOVknXj2R1bBi0OJRtYTBtxCmu3clF+
8clpf8YqIqn+PMfUHpyoLOSn5/TRvHZ0ts1aTS0m445sxSzXeSfINXgMuQZqM0Dvn0P2Sn58s8pJ
XmTRzq7CaG1BheDtSgLlrOLCifR+oTYVGwvn4KNfmqlLM1vlHfKu+RAmw/zF1/NIdUjrHEIGFQvk
IZSbGpg+jjN/eEWsCSjoCtCxVzKmZHOTpw1xvXgoh4mSlMb/XEZ+2G9c1TCYqAjp6zuse9g7BZGu
lQwDHySX7hJ5nnBPWKtw0vpQxRwmNy2LiETuC4p7t6pwN+g0tu7bwhkevQZBC42eCdliNinuHV6M
/QD1EHUAJczYNa2gUbxuEEQ9loOTTELsFzS/yY9RVyo0A7urMPRa9m2kBoWfo6vaDUYa8z4NsurZ
ryyj2Iie84dZ8e8ez2iIlWhKjnqmq5OQdUKByZB/oIasfCbYLZgx93Ij6yEnDF+x+HKEyt+zmCMy
9Pi0zBH+Gu+BqvTC+MTUFdLAqFR4sewhSLc+ljh+KTXJpJ1jyvAbhk91nKQYXuMgKdYaq/GFQZC6
GfHyzYZnwBfsq+TGtDJtrjqVOKckZNzrD8xqXbuasxUAyOQRy7j1UsH+vPig58VN27Txg+M4NRrJ
1NETDVGz/VxNVDutHDRLlzE+6hJGq/wtUSE3BVeM8K4CqatVzKwf26wd5MUqJ5Zxb4ydkXMAbfl0
8A/076zv4SU0kmGnfK/9DEqUTxGHJthI1uZdNtFL3+QUr6jBVQyuubVkfh590rkW/MFDxzrPS56j
4lPmUJXFisphcGmmtErypco/i9gN45U/WQm6UCvUMRwHEluaSNCpCzzv+mu7ITF2kmZjJAzs+Sa1
8Lccmd8z2xw2Q+BQek/2/2MqKKTPat9/CO1E8Fnlu6XakAfRze370eAyGbH0z25xBrkVvY9tBUsX
qcZzDSYBQgKAwLu5rWsnu5vcioQvoRo+YB6t+5IX3cGkGQx3LsZaAqpU68iEfFLf8AeUFuNzNuTq
sUE7Ozmucop1Wyflq+MSndSA9045tpBNI7GjLueSL/TtVe88pa69JrOZsnQwLQ+2UHuTMxdhnTAk
s5uTHagRs7adANujvth3tv1kTA7U3ia0dxN2Seqc59786GVdV2IJV/kXp/PjnKaH0h5hu8W4EnA9
cd3suERw3k/84a1sg4JQTk7F+LpnpPOatkn+kSMcv67kzXAyfW+YTn6ZTO8pHyOXzhOJomhjfZgZ
tyT2bZsOtOoIDl73Eb2eB45Y1eepirpd1xtyU3Umvy+mqUAHDELIn20XBKNhpvqrJcp8GSHRBeon
jbwNVCvOLcsZb1E7UbPKxEmvOHdZ9QoiH/MMEuP5Gziz19YQjConsbQjZ2F9pPjG8PGTBBTq2vhC
kjWyPFMPo1LyMiRmd8c1aHp0PJE+jYU2aRVuhY1kX4B8heN3icOBzZrCt9vErbjNVrxi59QinbEJ
sY0vFo/UZhgoHUwbi2Erwtn7PmSj+hKEyLGk4Izw6ONmXw6YLvVNMgNoNom5c1bN0Mw0R0KVJVzZ
e+dOmjNF2WlBF+ZozDgZfKpkCNbNXEQH1pFs3ZSO5645njQvVuZPxqO2qZ3e92z6j7y1M5wOnoFo
G1aFd9RZw05ADrpUN7ni50nHSZREbK0O56+qsIOnceSSXynfaHm+Ju8UoGFQnhHa9T6ovCK7bZIp
HzEB+wQAy2D82DB0wuk8+J8VI4V9dc1652luvFPmYxwDrtvlXrXNyO0To7i9FEKyZSgfr126ZMst
yrbkMViy54zf69/DEtDtujBj88B1kag6XF8DF33PsHPsGfd1Jy+YrMr745D9j8Xtf7C42Q4+25/u
I0vR4/cL4dIk+b//14fuLfn5Svf9A37WOrmZoE7+iCD98LctWifEHYvrGRo/Y2LIDd8vdQ7BJQhj
4oqM+GF0W/RPLnmmy9nQBxfm/p3bHBSJP1HsABJxjzNhRJKoIqX3q8gJIIvrwhRMt2E5G5TqBAQn
pp30hvAjVEubufuY41+O4/rUuhhbxATOb4Sb/TCpslm0+moxc44PmPpxZ6RivCTT5D7wzLY8xlUx
ptRNs5aYvZ5vpPScaLgYbLSlWvehJrT9IYnGECB/D5MVhN+gyf+ZRWRw/XA0nFWU0zZc+L1V8Du5
zyntbwYugaM+xD42mugQ+dQWYyUIlH6qNT/kJ6OsfGtbO4nlbOOM5eLEzxJqVoCRhUl+yC4Q12C1
YmnFEHKdeeoujXQoSaXM8S5aZjnKt2Z7PZCYfC6llTzPXWXf8E1VYAV648uQyPQ5yJwGlUwm2SMr
3F03Nuow42qlpjjq37irc3BvJW6jNCdM7ZkZeZuKS5i/DscZ7+wxwxTgQmmd82FksjaYWp3ohpSl
WC+rxh3sam0cMN4MtHbBAJuejEn0s7mBL5SRjSD1ZPl7i/q2fq+B33fqRphxJNJiJXOt8iVjCf3h
tmZTLvktyD/05Otj/s+K8D+sCKDmFv/pf55/3H3Tb1//NP74/iE/1oTlxccBY4fmd/jXv+cfi6ry
0yJg+jbuV8txl9XgJ2UHrBh+0MDkNbaQZOBf/g12IGC9XxYDT1Dz6jEJWaQdy1/kpZ9dr0nnjLps
avvWXwRuXKQuBWGCc7Q7FyZecHoB6E2ujnSjcOqthNJbkwHmdsBqte+tVjGKWDR1N2FOWMHEAB4x
stWurVqNLsN81HhbO+jyi0LPNHheJVfZnoUACb9e1PzxKuxj2BIXhIjqtVx0/5kdeYSRsIwD8uto
AO152KXLvMBvMl7c6xDBX+YJXsiXuKqTbMTUGleUkwEtHh+cafK9HeCnIb4hZzn3mzHP0Kn6AkQx
7er5V7ZzdZ/GqPKrYZDjfRRRLbbiesv3Lms5kQkk4+Ifqqlx0H9ET8ciJdj8q91iDDn2AU5Dlbhq
OsSQm7INevrI3s4XiDMyIomHg0RK+9EK6uoxdLL4Mme5vleLIotc0G1YVeizipaBDauWfyPDgmWS
2oc5JizfjQ+ACsigUIYwMgeyc+tDV5OzmusN8Zrl7Y+Em/Z7GVmx7e8DF/F35zepyYoxgkvD4ZMv
y4r9xxIDidQ4OK2oMOrUsYJ1RagFEYwgJrG+Ynxp68Jp7YvGggQRwxNEstyUuOVdrjQuqK0s0iZc
1VXcyF0d1AGCFNYdWKXwobOIasDJQICqBAhzt+1sJHjVQ+4/t6ahCXopkyPcjdkOaN5WQ7H8Buek
Xh4cf77BpufOOzKuuGCh+wwF1uqu72vzTkwy60BfNYx9hpkijcEaWvEppsPTml8JqE1l87UbVCep
rabFt4ge/1nw/kq8e7l0iP+24J2437y1Px+Cvn/I9wUvdH5zCe+SnqbpGRF7Wcm+m/wRa0GnYvKn
YZHB73UW/GP9Yyn8cfbxYKUuWFATpjDmUedv9d4yT/5lvUMTp5AKGzPF2FQe/Yo9VFEXFFk8eidp
1YFYW6QPMGPTgUhKtG+NuuMqYYEoYEQi7Sq6q8pJuOvGNY0m3MwEfcRTQfOgIY9t69nNuDXmsXGi
myDqhYciqcma+ApG3V2eOF7g72SjpTPcdWaeEimYLH+gbLQ1vC7edW0hvbN2VPueg2jA/QI0SViG
j/QMwaFwwpCEAViHmlDWkxHMcAHnK/ZB/cGAsEIrm/eWaEgSlCPk1HXWcrtf+VeARIGarB6QwXPY
EFH42kJHSgjaLOCJptFZffKYEEbbCjSFQcC+4lNM3rwdr/AKrv+ALOyFaUHILrjP4SS+Kh/ihbGw
L1LtZA+z2/m7qp9cPMoLJIPoK8CM6grP6BaORj7L4sB6m3z2WigbVrsAN8TC3qiAcBTjdBeYxOrJ
HBKc4I/oVveefZ8u/I6FoLvtFqbHeMV7AFtVj0zPgX6YV/7HFQXiXLEg1UIIQbsDFjIs3JDSmOVD
L2CJjImMDlYzDft5hjQSolAeaWFFviCzOqJv4lmnSClLv/I8uI8szkBLUCqN+0SWwZ7WzuamXegm
2HvK52QhntAfXj1UCwVFjzHgFNo4rFuHeeOLcYWmeAs/pXLifhPWBXNcNuCDXlgrRbdgV9J+qSO1
yn5rLCicwYhoCIVWCU56gbZMC7/FmGRNlWph7NVCd+FUO7+j9UBqQcJ7mhcKDC6X6lxd0TDOQokZ
+9nTAjOtdjqLBsQff3c5enByS2a7rvt1asqr+U6HTtkcsxrVuDzKqB0KUANdpLJwZzXGhfR1MJgr
PeBUneljj4T5/s+K+pdWVLqs/itu8FB+hUj/pzOk+ONjfowKnd/ooMMKs7DI/0BO/4hNBb/hjgu5
0v3bJ/NjRRW/+ZSHw6fxGQmyp3Mp/LHC+lAKTXP5MEaGV4rG3zhROsvdtf4ZlREIG6TskqSyLXDw
v07kOBMm6ZyMxiECH7CxVUHBSxahPfVXHSq5alLTIk+1/YIEyGNLnL1FviJ1ipIlFlErWuQt7nrU
whIT+Bxe1a8YwjvusEUUGxd5TJZz+Vm6QCm4gVv3GGnR0ejosW8JxQTzOr8qbZBLPcIbwRPj8OLS
jL2+N/WbXAS6ZJHqukW0o1oJ/W7WRTnvc7Me30CCovDRfMOB1bAX5W+8qoD2VRGsF3EwMXIEMLuR
9D9MhIGXMV7K7XmRGaMi7G+XfJXNnCWanY3bWIGzLWBT2+sG8AGA0SCz9ypMqJEeF6nSvqqWUMhQ
MI2SFuh1vgibdVvXr2iAM20Zk8kOgwAKPHd4R3tGFO1Syl0g1E6ndBFNpzqL3yyORSsYAMwSsD0D
TqvX3iK1jovoOrtj9eDaEx20QwAzdzXJwd9zZ8/vAluOj4CO5t3C/ppQdVnue45wlEXqEjKU50wM
FFL/QVzl4AxheGwLAcpUBg+eK2q0y6x7wpzQUkzQtltnmGwcFrUoViXjzqPbAcrLprk/BVd5el6U
aj0Xi2h9FbDTRcsOrrJ2Y0zFR+Yi/VO/aN+gEJDB+0URTxdtvFtU8nrRy7FPGedhRkroyO2uKtz0
AFPIAc+x6F+KfKoVkyZaG4eoUackCPTvIWXn2YrEMjo9w5PkXjtlsa1VCPukHEIF9k74+rYwmD+t
wkX1V1d3aTtisI9TKp5WVja0n7OMso/1ECkFFFDZ8UMZUH91w+uSXpI6t18sIN6P4ezy2TiWNE8C
j+8Orc45ieuIgiBtQotehyV0YoRhLbMM7kH6gvRXrD38Wq9GGTdHdsDw29AMfrPzrkMRhEUGJMT/
GCxkHmOTtmOiCkjP9h6S62BFo+iWRK3n/N25jl76hBwBregSQxiTGbXMaPg95gQE2uTBhy1z2y6z
HP861hHLhCeJSpxN3hTLDY9r9RwssyCYlYyFjGVCJKrYoa3Y6attQsMiwqdfpYDRJW/5p7EUmbNM
QMJwYSaOVmAS/9C4AAhSlyLuqJIP9ZR5l7YKR7M4l2izZbeyyNihGw2cwSJNrdplGrQ9HYGJZjdq
8B4E/e6b2kE+t+00Xk0OfeFjwduzbce+eKWPYQKSG0Ei9AFGtuu8tqCWMbB/6nsXG+/EfGO9wInB
Y6XmnVPL8dy5xGgclbmrtmoJwEBWpltQ59vAhl3Q8L5conZkLJmSq/kwRoMtz17fmdmDv6S9w41T
MzogG94yTiiA3ZQuWGAqyoe++ehA53s08iCEV9rYw8Fu9FHHpXcLyK3ZS3boTTEuQ4ReTo+Q461D
n9EiXQVufAimtngcoDheCHGPayfPiIXaYbH1a36R9Bis2L2pU1HJnQQz2ssOKa1Lzzo7Etjmf7IN
te/9SG3D1Hr1ogTQcAaXgqJ4mpHNlQhEy39jLHO31vmYODYDiLap1oIfy47ig/Y+NZ3XsK/jDQnR
cFsN2rjNZhHRSsNqPfXmS8m8aBXFuPjz6WvT6hOwgmIddeYpS61uWgtMGTuzTT6M9pKaz6qPgT/5
BxnU74Qqii3u/Ys5cb6OCNTFdnPvDVn20KnyE458ypKmk08gcCfN6kmnGCfkSHPfYOIKM4dcb6yy
oIGMq3lww+A5X0/eMh/TrSIcmXi3KhXtsbHbU5dF+OnCQO8tFImNaCdq5+gYocwelPexiX0n5dur
59eEgcUtAzRn5+F0t3iMTh6/bTC2DRRBoy8v8HSrveGWxt4hxLLupmq+A7aYRTw/4I+C1K0f1cTU
z54bMOFx2hWPuTFCEAmbr36VmMc8jcVplqHaGu0Q0LaGd2NZZgnMYeSgct7HQ73BEESZwOha2zlt
5Sb24umuGAlITFo0H+acAkQDjZaAS/roNobilcg542vd3skml+sGj+oTaJXo0bUiZ+X0DREDvCLo
F/pEeSb8OstO6HWL3pLWVI9W7Q8P1hiOp7RBB/DSsHzqh0quO9s7tr4ssarz6GSG+QLoSNEJyh/o
LmAmPb5SK2ekM+qWA2QIY5Nk8M6e5nDXwx79neH+whjetv3cn4fOgdTe9K1zxxpjnLMu9a2VQm+6
kHAtNsonqm8DCl67kVXvGSEl705R8G6FFcMkP+8vPIQFMESzeMggRq082q+2qTe3G+jKDwySnE1n
Zc1Bzrb9UIBb3hj9VN+7g/js6gY8pTDyJxniouAWY710lQPtkZIqwZORMMrlXOCtheOXO24KXKpc
29uLuklPhvbCo9sOE4G5dDx4HVskirl3MAoux5t/zsl/7ZzsC7TK/yy1Hr6+JdWfhAfn+hH/Ulop
ZmGx4kJOB4O36Ab/Eh6ET1G4LdAefkFzY07nIGziJQswEHkLduD7IZlucUqHQmY2NoxZF4rz35Fd
aS/48yEZkzvjHL4simNw6P0/VU65oAUEb6x35yYAZOKoHNUJZiJhGyMQ0zIgGC2Z28SazdArnua0
dsMvwvK/JZCvnvCWQaMUlf3seQIKo2+kJ/Dg3L0LKyiiVV161LTASg4rfMnLqMMolrFHEg+D+mCW
KjJWdAQu3SN5SGUIe1qW3flWgjuGzFawY4ZdHmQ02RTl9lTnTSLelLJg0RSBu0tSPILbLOwfc8j+
HM0AZ54Lu67PbW91+8nT6miFzfCVF/SzIzsyhJQvvgJM8/dmndafG5mba1J03sGz2ze7yYA2j0FC
nNVHFTxByRpvMFk5O35Rxl2JhDHCsNG7BKEIom3zR9WKX3M/0DuXozqZ2nTI7mkbs140Hm2nt+uN
SMd63UI4uUztkr3tFRb6znwp3DT8MLojd+aSpoPaCl/GMfC22pzWka3lo5MZ9Kf2jXXXSNkcqGoi
K5el6Zm58XDgpJDehkbxFnaKMG+N0cGtvfykZB4CXTH0F1Cj0WGKXHuXl6L4tmimS8mp+GaTfFDr
gO31JrTSbz0Qbbx+6fjJ5bpNRWVKy7JCVOVsVgSfcUbgmvEz7gdB9SJT+aIMPjVpgnllJoN+jTrD
3RIxpBUuT/21W7M+r/yhJDdQkL7lXJ6G8smfR2dxfyf1YXkiPyjdertARDD5YB0gplu9SleJ73d8
9drflAYSyN7UtjdtCEEgv3u5iC9OLvKHaWpnuC0JmPTZ4XhoW4zDU3N0+Sx2BYzBd/ZOVgD8wned
Pg3wss6urKdzMnn27SJX7ai1HR5wNDa7kqzFexc45CuEaZOMyA2G3G0LzzweHLGXfjacCQOmN6Nb
tueOtggQfN4Qf00suswKLPE3iQACsZr62j8Jcu24sTrfvAMpYa48zvjsMKVllmvlacBRQdt/pHWB
c6WyJ2uX27kilWT66cais3inEwtnniENTFnSCk8w+vBndbXDCZDsYLMLMZulii/Khxd4bOepBcHk
YxHS1Ov9XkGJ2AZBEd7Q8uudG9f46gHeX9G9kQHpAtnGXRHqMr5G8H52bdc7PzPDFzyagJkaH9Q6
eA0ZBFjYYtf8oj1R7CxS4u84EubjPEqdrD2deCB3iZsR2B4+hZVjPxh55G/QPKNd31VhjP97mE4V
pLZuHUA0OeJNhL4tIyPZgm2fH5iLVtuZu87a88ZygxndOrQgeC8FVQL7oBj6jy4ejkfcEAnktihH
UAxj9r3aBrGFPY1uxZBvyauwRa+sgiM2bZdqNTd6AtioM4J80bRNh2D+oLkNIyMp+ueQiDdJOPEr
6ZzoNgnK5sGDCi3w9z/jivAucPlumtKeoTiasA9GSN09rzUME2s8QLUmRjp41UMmLWMruLNgwKmD
6YlS0/qWsIz1bIFJ/5yaQnFlISbec1/i/Jwm0YEWRJ8+FAUVnXCqPdbmLQlHYhPV8Bg7qjlPGS5a
Fk/zroUGvgYoQRRH4pfUpgo3MbPsw6zEV5xe3l3tqPJgCW0dZNtjLxStXI9lbeFli+I91LJkE6X1
s8FoinOaZXdPxHmnb9Ks4fUyB7+ZMqKb/qTArDQCJwxZ12QNHD/f+5xiN+Anu5Vpzd2JdM74oSxM
SEp1Ga892kZuuSKBna9YiMI4GTZRHgavdmUmN1M9FItnE0ee000GTiXXe2UTnG/QkY1vIoMmPA6J
zfnY6X/PIvyKDpzES6s8QdcvdHV07bd4ljFHowL/I9apfaBp7V3XkUperTnuzpwnua1VPfEPr8Rk
29QnXMndw1ySNx3GYH4wBX6VlpYHtaK7ct46sccdxyGzjJ8r2JCggDztJ863eGEIDP74jjwMbY81
s1hqIzi9YiM7JwaJ+6p2h5eanom1Q8/xxQsGgGZ25b32uP92DAww/UF/Oog0H2/LpDdYsGKqQN3U
+ZwXMIIDX6V3IirL/WxW4m3ATgjRY/5AUBXj5zBZN672au4ReMWfUpwMFMzPwYEh3GU2xQH93lyF
4Me9bW4CSV6Vlhtu/FQ/DnUev9AzhBezBwHKlYNqccaKJQRKUI5m7OHAs5V/xKdYB6ygUXjDumlw
TTfPrW/Yl3nuH2gYX7oAzeKE7TtnYtb3z9lE3Sx9nxSAeekeimp59uY4OYSBcclxmq7HoakC8vxL
424ZB0wJPYB5QVdssQJJAJDRGRN2juGohTQPhGMFJybdDLV0DrxQya6XQAHjrs9WFlHk7RhE8hy7
Dcv3EA1vSWrWe4Oz72nWrf8u/KL40rS1cee2zSO2dfdpDpwPkETbuzyMyFENtn9oMBjvg96HL+76
msrcpD+6nnzL5oXwmYEGVTm9PprI800/F9D5RyNujymJYRBCsXNp47J6AEwKm42dS6+y7FHEtfVq
YJo9Q7DHvgFERL+INP2/7J3HduXI2WVfpR+goRXwwPR6Sya9mWAxXcAEgIA3T98bVOn/s6okVWuu
gQalTCbvhf3MOfsYBzX37iXXSXoiqW1X2mm1FkjyYQs8gxd3ViLI1TYp7Gjly149hoHU+64Nqlsd
MPcAymrvRBX9CMDRrGGFxHtICsjG8Lgz6lfzJcbCcNZuJl/7kN7ab+Dw6llVqP3d+adbqUd2AwUg
0NR/wH7l7lqTUF0+H3EcqX3tearCbTPfowaDKiDQ+DbV5UUNxnQdvfFCUKvzpCrGYVVqEyxg1P2e
/Um4I/c6eq+7adw7Y1K/44dFrxKisSmR8R39Ie12CvnoQDoJ4Jvc3KGcWWWLP1l1SA07Fz4OmVor
P0jnE7ujlZ9JdR7bs1+CT145Zd7fOKqUJJqLch0LXz2lhlc8UFRlUCMDXvWuifWWSSJ4/rJszX3o
S32DYBN50CJ0GwUqXxv6bTG6xj5OnXwnYkte/LTgsWOlHUOBNHF54qfeF9AJ4zF2FDuJoCNjOU1d
RIDDOyuMdF36tYs6eTDnWw1vaI2ZzTyVc13s3GAYP7oAifOqqRiORlnjuatMEdS18qaKUWo5j98K
aH7vHmFWgjL3I5dhtOGD/My7vNqlOOJZpBRGfZwaESBaz4yDpBH31n6V4SEwnaxAIWNB/iFQlSAY
EvzWhiNh1NfWBq7SwCvNY6HlhgJQUJbeUveSAiAIrre8eScizRt0iMzTzHMA9xXVJnNFcYhsQ/yE
LOuu2knB/GwB6JSs+rZmQpQDpUe9bVR25/pk0awaMQEZiIglrworPZKR072zOZcHa4yirV90umFE
2WTAm7pmDR2n2VSDgnZSEZrzWsWiDgFv+u4qmcWdr3khrWDepDfm0JrfRricZAwgLhS9peAMZRZg
1VkV5kMwRl0abUigjstvpLf1cLbyQoX5oz/GWeacIoxl2bkdCQl5HKaeo1a232GHksJYUCmv0toz
Z0bfihnpuhhSF8cnKgnUIhKlAu6/dtUz+/6hPR1/H0I+ITWC+8rPlO+GJLVhssAugqwYSbPqg3Ej
miAhTTmorpXmb5eNV74RZLGys6ne8RuNa4Zwf9MBI9gnPkJytFxj8b2OhHktkzE44o6auYNp5m78
znuEtKxXFXyl747STbSa0UucI1wMW5gzNbovotdSL6/hGOn8Tgyko3k24eQEhA3dwVFtsDwNpg1V
n4WThxIGvQHpzjLJDl6tnK2vXAs8bUOYnKgpAVxhkzwCbtv1ptzGxMrvE5kun0b2pC8NqY7jiqRn
UCiNaTDmECqD/T+k9yTQszxV7fQ2uNEt/HAOq1Dh+ACuSW56gmwRoSL/uk5aWuu0bRpQ4jiTF6Wt
1zF008FtwFt48QdW3TFtTGrkhkjp05in6aMMVPuG7hcPInyom6mY5UPuzs0uWA42cXbpnnSTJTLH
yuMbkr0HUn1w8m49ZBfHKW2qB5DYot0kJX+1A+F0zJq6uG9liNIeV9cze1/z1dRB9VqUJOXkvrg4
FpNHjAjCONjL0nFVhLAHul6cSXDQDz3TtWKDE6jwr90Y40yKqw98HWCENLzpeGXEYkaUKHjtJ2RM
I9RVkXcLplu9pAJgUkDwxz7AGAf/sTOtPa1Q+wQqYPjeA41ea8uR5yaXesMnKnZpDaaAuWsBF91j
AQt6oKbWYa9qbZiGDl9nqj4qfoPFPTEWyHnID4k3BdaI+1qGVGLVDLOqTztr27AX3aLWC48w25Jj
PM/pxY375JhD8LxRsJ9XPmKmjSeMryoo56eYiDomU6bHlwM/VG6Fm00vGY8Kiyt/EOs59edbg+nh
RnU62rdWr+4Rm5OSOHNd1TNQH5If5CmyMqAvVL6E94XloUgj9IK0ZaieiqWQNd36wpBarZICnjNP
MMbXcHZx1DZJmlevZcuM8dbM0sbeKqBi9rUyeQtAd2/iAIipB1gFh6o3f1+wswOGryWEgZk+/2Bv
TC9tMerxcR4MEGMwtWl42y+daGw0l13nW77GBV6Pw5lDUsPVLj+1RfbfhUb/F1FnEzuAq25mOe7R
mVePmK3G51/GP//EC4jX/3eLx8+cWiABKGQZrpjuH6Vs6M2GVNnmcCONxkWlQOS5ifwdXtrRCIC2
yXcrt/d9ap3szN2hqNq5sQkHPLrqbgZu3G75qnsWQ5usSvb//sMt8MhflqJ//2weNkrH8z1s2Ism
95eQ3tzsq0JEhI8w8b/xNbVidCBD9z//JQhpHB9FcSj+pOUjP3Ck6cUCllhkTPI/z1A7NjK7z1/z
X/XnX6g/bc4f19y/Hkm+/Gja//OcgD0tfg8+/e0nfxtN+izcUR55oU2c67LC5x/9xwbf+pvnWgT/
Iac0EWij9P4fTSi5gbYgISOAU0qqtI+K4LfhpO3/DWaFx3IfBOEy1Az/k+Eks87fX6wOxAoE6ATQ
+gjV+ZR/0ITKyRlUkdJzNLnfnYk0c6H3WLo521PubMjqK5tV1tnmPS8z1sdSkaw0JhslzOGQxbWR
bqOo83d1G9YPYcDfCW0VPpPTpfZxaLAyT7qwPJejW+06j/XXesTCf2yime1mly5mPtdYjHvQOpS7
cvCqb/qQsD+XldQBd8YJYXOHYWSC6yKRTz7BQCYCoHeXtCsvfQ2H4RlWQkSua9RMT3PbYw8EvYQd
1iA3CM/VnRxK80QiO0OwEYDytgWP3tOdR6wfpiq58CNAIGoMlXuNUTWJdNpsYqSJh9quyus80OmN
jS1eZpRU0FHF9BjpabERsUq1wsYDcj0v31wVGQQiQE6bxEzVzvOX6Jp4mPIHGbsuPSwzyrThj31R
YXU0kyfQ6i6zqhbkkjPxolbt2qhEuZF9iWC2SZz2IUM7+gWVpX0XMfweVxgBHXNHPCvfWAXGvMHb
HNL8AgS0dG8uZbPa8Jk/4TvIz0qSlJCZ+atotF+6LNMHk8wKn5AoAJbxrQzmvt1Yk3BYoTIVY1TL
U7/AoOlcWroVllwFSovAm1so16QI4gJ/choKfCw5s7k1ekKrMcnYsK6bwuV8uN1lDqxDm4o3dAnI
gvku2yxqnyMmdadwqJ+mjK19iOHuvR7S6WTGGIXzKYg3vDC30mzdDbI9ed84hc0U1y/VNeC9dqMK
NkYc5Tz2VzqHPym7xvuSQWXdGLHPiLSOrLuJGO+tK5fWa9Y/WsuWZEqB+AKWlsgv85A2JzRvqzpF
cwFmZiSug/ERyxw4EYUR3Zl2+0qmHaG5WG2PsVdH8jy0QvV3YyjL6qOWsnkXQwW9Pe3NOy/X7jmV
lf1AR4oUGZznBdNr5cHszTlkdOL1FT3GOwiY7sbQjLOsQfxwivzdHwbmU7lbVMc+hRmhElvc4h5g
R5vXE5QLGXePs7HQt/tIbT1iFLv1nHddfhBO56a7yMMcuFbFMLzHEtzrxsRJDaDdqBiXZSlqBjhX
FlPlNqdDbnpxhxWKfbeIxQX5A+KUke7yrtfWFwApb2wQ3gRo3BqP7rbGjqkPoZfocO34cVXD2+CK
EdLyXtwoeGQB/EMAg2Nm6CvNFIqGyCUFIbiNFQIAYreSdRp71kHyzLnnX8COZjfxTVMl+KfDAf8r
W3ouZice151kF3dtkC/IfUCjINddrd/yxNDdfQ1xmY9EUKLRRV/IECgp6jJ9nXqbtF3abzQ3IRA8
Oz6S/tmz1aTGI/YqMnMCwropxUEoUjTPFMpqNYrSvTYuWci+XcZH9ILmttLtsPJ8w9iY2gtenDqf
aOnmcyF8Osm2ifdZgBk/8jC/uRHpDqGYcNY7SBnlqLLXkVpsk6fVcA4Sf+cULRirCB/HChQZ4uY6
de+orbIte4N+5aEBXwd95qzTKq+I+bPnDZmEAEScJln3UAKvQ08YDuigeX5kXOQe3TYA3QfS/XkA
794xPxKZ3OQK+fYqWYhYo2Hnu0XhOY247keQ03VjHVkcz1tIffqsXFFeTWUz+XcdVC6Ee1QWzExC
RPxj5vUBT6q6urMZfuHjDRg8e5rxrWuivpz0PFHFRSWmFpVlbzOboJUz+sPZdeA+84B4VwwQVnHf
oXglaLreWaQ0Mffub9Qsp58d6hD+1PcZCksHtURCiOoYNd8QcJJb4hONsIo9jNOlJRhh5ZNaE4dc
g2nu3nmxeLuhVWg8McNzl0algR9TD4O3zvOk/WYVvG22PoiFi7OwVHppPkjfCw62kYtzInyNNRA/
nvJZtMck1jWaOtjkBbulVEKswP7jACheHMW0RA0hDTh6A8xiIsnE2WuRRaK5C3aNFtalw7pxHgs/
2Y6Wuo8WQr3fSJjWOsTkHtXJzy4BnbqCEE6PDZF7PZjoUkLbqkC7kJpAdjh5i2K0v9RmuaQxWRNU
Xme6xlomN2xWQFQqTb7mnIUbl23AaWorrPpddR7zvMKLMTbf3RIKgMRkvUWOpC+tTRM5k4B2rOcQ
c2WbHxnvfa9C2W27bPiKyaujY5hMSndeN2YdHwP8zwecUDZrguAGysd92xSkaGAvXgVd795h3sx3
tQFYcErvKfyNuyFOv4wc11OEOoG7Ud1IP593o5cB8B/xVFB+Lpsmus1642Qh6Ge379p17YzTk5NN
KHU7jus9rAPpnZgTTt2VaY0stxZvTrD9yWjrFfToiZbQGfBib70imMU2jkI9P+SJCI3XobHGCRKF
DycocRuLYUdWQJEaMybYtOmtaU4H7SYPrl97KWFYM6VMQ9zwTZ+ZNZeVS8qQlZIntBJmnf+YSnN0
V6Kbq1sLDXC80Wk9v9i6G18WCvHJb1OTIIai2RPICSKkz+n31uaU9SfBloVHPwJCJLhxewDRAYsx
54kZMMn9mNBPbajn0lMPvtam4fbz+2DuklMuchQ4trsFrDowGiFtvrI6Y9+0g/ulmYJqNwTsT2w4
nwVzGh6vKM04QITYjGxEpXwGaQGwKs3bFRF58IbD3HYOCc1jvxEzK8qh7EzWKCAsB2JttX2uURrF
29aqcewhr+lCQm3SXrBK5d22CqY4gNnlA6FYqB2nqTELuZmDpu+OIp66M3I942hUlUfhh/kH7R68
t1vTRdS+Ltu5SkBTVUwtg3CuN7HdeZsM58db46YksY+pSO+CuK7u0xAJHeq6KSE1J4Q9z+JjV+Om
PMxmPPbIDkdM/AiDfCT19dS+QG9AI9SEcJ/SIGeqxMl/BW2JTKdx9zbJlhDNIaZBQikGm59neNKU
dn+QxIwRBZU0cmsDY7lxJo9NKxVQRewG4JujkzjiBbQJqHEt8D7LDjf/TpOoCoM3awX69rZ95eE9
k4TTeOcyNL+yhMeM77uC9QH1Fvna7AhG1gVZvB2YrjNp6Fxr3QKG1mvHi/NbmAtYDrws7ratG19Z
bpDTAz77MjDFO3pxQKJswUDorlE1q9/GLRSxwNBn0M/Zp6Brqn6jIH19H6Mgfg+puZ+syfPPkRMX
YMKn3sdnQ2lGq2vK8JoLHPHW5L+2ud28TBGIN0+6zo4cabm2Rlcc609cB2Ay783WC8SjCQijTWyf
54Cywqv6pH2w1VozLzE/eJ4mp2RgBsIY1nvtP3kh2Sc7xCDiLdigUgUpssBFpgUzAgbG3roem+1y
8rMtI5MQIU8OT2Ts+/O8wEqmBVvSLACTtBhGUAbIccoFb8LwgimXVSICMJOFf6LR3myrBYqC8Z/R
YAQoxfBAplgLPMVaMCp6AaoE1awfiD6GssLzPP3JFLt5DBcIizQXHos7peGJWV90ShZci2C3tYMV
Wp3FAnOxF6zLgPbgaM2gXozZBY/vO3o7LSCYekHCuG7UMb5eODHZgowZFnhMqgwwMgtQRoegZcpa
2TsDvnOrqxSDGQAabP/9Ter71pmHBCuwPOZm8XvSuHuefPZiF42NSm+ZT3vbyTHzEgz3VLGKbrjX
ayc9Q/aPtiAHKwqoVgGEZRtx8NEWEvrSeT97gi2/e/nIPEczQbz2lkWUwlA7/+3///8wX5ZwAnQ8
/7r/v37Uk/oovv+qSvrth/7R+uPedFDb4ztyBDWzoLX+rfX3Q5Bd3JGkmdDjLx7vf3T+dsi8wMJH
HrJfYheM9uiXzj9AMW6SykhFI/5DWdLS1/8ypOLX48USzKpC3ACWR2bm74ZUhejSOo8zLippujPi
W6cg2UFOTzmwE4yVrrv+5fD8k5Hd8g/+4RficiWmE5GlzdBjmej9MhVrVRizOPSmwzim9R0WwZ46
c/ir2RsWsz/+FixoDFocFxnYn+hlrdtgsnaRFFE6kVcM8PsuK0lFT5b7WhiDWplNPWxQ/xr3DQvp
p3//Jd0QqdkfPgAMNqY6NrQyDvJnuOgvX7PrpgCRh9+iC/fUuGMJP++UH4tD77jBZbTi+jSmY93s
4d7mJp2CHTGL1olBUAGG5AeEwIzoSTCbrtAxSPKUJlVzMA8Z5ULG31XlRJ6kzYO9X4069Si1GHyQ
Wx1M08+qnTKouUG2mdnPH2KcShCa2E/nHpasKKko5nvAzBhC8VniV7UJ28QqPB9ENZqPcBX1TT1k
5qM1kr1BylV0QtejPwLKbQLKcLcD8uUb9chwn1UH6KlJx+ISmdA96yjhjTeUcO9j7KrvcTLpN1MK
fnAYk/DSVJjgTfIM78PeJ7Wyp6oujxwqkIw8rvnZKMBNvSdsjK8p/MaCw5VYxItNwcYfy/jWrWaY
+k6IMFRJS620n9R3peopgXufCg30Jhh0L56vsKSJpRT5sLFBZp6yzqrumryNTnPnj3sPzcOxakn3
ptvvn1OR989VOnsPnB3Etw1AV5b/at15Y/VtQgS9lr7JNYTU6Cluo/KtE4j0UG8V4uANIffQUEcn
uy3Ciwd67FBV8fRz6PT0JGp+ZBJ18+KVQXCJRuI2Ktmaj52am5e0HYrLWJbhJc8DjghWNTT0Tj7Q
rXgsgliE0ls3OsJ2UPTWlrYtu9cewfCdyZoH00dNG8V/ysxkGSJTZBsHY4QbWzhdhV2D2zkw2mnv
EXl9RGuubyZfDwBEUhVvGruoC4gyjTrqJghoednI+zSIe4MIj3s5mNnOC+LqxmH8DFxF9j8oeuiI
2jbbEUYueGiY5XsyVv1zFEKJD6uef8oGFa/pLFZkpgeXcDD0TYTRbu0ZlXtrSNGvHXCVW6Yl4aoN
6YZ7BPjIquC9/jCzZNqjwHVupcOZiHqKVafQtNcGQJeN0h3HNZP6w4dmjjgiSlMkTUZSkLIURfee
iKpvrHHnazHE05M15IgqSm4Gxchghyel/Q4c1XwERjVsYqnmnWlwbNEjkCDeLYd6uUQVO7EfE0i5
3ZxNi6l55kw4XjntHZPrHye6flPSj06qyd4Go0Efk9Q5g7SfoCdEv0qM3GMVExHiEDfuu7AmzJAM
SZ+lxbVJJZole0uUwcZxUExGfv+jdXx9o1OXi3IkW2OMOVEMJNpdVDn6VlPh34Y0CLcdaoLHgknG
Wwej+N1oHa5WP5t36JDKdzt3J6aThvswBlMAZT8NmIAUQ/khAx8Ae2JPtAs1xoTPLxfE3AQYIIz7
cdIFxvwkna8DFoQX3RggjKilAla7HB+zNaMTpot87Q0iObSlRa88kouzd5EufNPKE5ymPCOkkW6i
ekWhE15SOmp761l2ddN6lgyslyALzcx768tiaL8ldee8JcyAMnno7bmgh2lno9gipB3oDen2XWIj
7M65Zy88raqlkTSDiTLK6/AVmMTubKpq9nZch3SfLdADKk/kPligipuuDK0Vs9/w5BjZl3ZpYZGO
3xtud+OwBd4Fse/ezbXLs9Mf7RtScB4iN7rJjcpGXMdNJAkzOeZW9gQUhdZZIV3pnOlrElDQOn33
PYstFk2FJCuF1juePUkKWKcvqC6GrXJ7SMWRbL+bSVNtZdKgy6CRB01nnsaluTfpc9bKd+VGLq2/
swwBjFD30xoJ5MlLg5ORaUIqFUx1isyoOmKtRqVljM6aDaG7yhOSF1a5Uj+lntlg227h79HXk2Xj
FPfUrwlzaCM8p7HUhG6mA1JMbtgqJdIA3vu4pQ2Ux3kZeiBuY/yxDELyZSSiCaLCGGFYa22jK+7x
9exRj+i1tYxUUFuFh44pi72MW7xl8GJ+zmAsjv235nMyQzvIlCb/nNhI1TJg0czFsF2/F8tgp2uQ
KCDU7I5yCE0yK0MMrO4yDJqYCtnl0O3l56SIFzhJSp/jI2tst2nhVff2Mlsy26zZAVBm4ERzCiUy
GN8Dgr5Wg52N5wK2MrnFzKrCz7GVN3rTPkx6YtT8Za6F3TJeMy232RDZ1R3VWbBjnMooTH+OxSYe
IuTfYiRqVpCwyyuRs/o8LNM0RlTW0Ro1LXwcc1c1YJORvhUlV+DUmu5Je/X4NA82RCo6AMS/xWFQ
G7s3ypNZe/OHXuZ51pTPjxqVkFybTXgYZzc85kxSvyTLMLCnsT1lEALXnqVyLneGhmoATNYgf7/z
l5Fi+TldlPVAM0rYVGX0+dYI1YwWjkkkS5701fcwTwbLnNJZJpYgcYwdbMiSRK78TpkG7/JEDMck
sUd75fT9RhoyfFaBNPdkTy8JGExHg34EmTVEzrVEe4pIbTDuc5QiN2Y1TyfAh71aAWqLHfhpzFMc
Wd3E7HUu4YgpmSXMUCMbcdkA5E6cXTWk5qOOc8DTCWP1s5oj+61L/Yn4ThdVELIL3I7xJImZTs1U
/NB5nqsNngwP0UgqekSZVche3Kj3Hfb3N+QxJIjMWZJeHDx133I79cTVbJx+lisTz5n7FvZCHIY4
Q14CSK9hXkmm0M6P3f5rmTKDa9Ww1AW6uhvHVhF40KOvDkAFntFWLrGek5/6K+51xmt2X1/Cqimd
dY1jCFBr6SJWBj3ZrMmKd28nC/EyEUj6K+Zyg5BLTeoz50asPkukNLV5DylzPqRuU1xCK3J5OOv2
e5CQrAUw0iLZTWQNLxzNU/hnoYCr68mI7nXmLyPUjDLBj2hhN9IllsyPk3wN59m9nZHJ3RvYy/i6
iR3vOrhjwUYCaVjnFHkxSrZRfx3Ze+stM9jqxiQEY8X+CLriZ/FVJZb5mJpT851VUxpsLOI+qJPz
CHfBuNgUKEO9hxFlcoOYuqqKrQWhcJOizD7auN8uEOQRnkL62OQlI9O2TnHJ5toimiF2G17uYV4a
9wWap+eEhcytzKk0CtfTN3L+/BRh9WoDdExWmCuXh/KcTz/blJokCYm2OYZVZX7hMVh8t7VX9htD
ej1v7Z5HpeRBtMprPs7U6Gkfm0b3jKqRc2dWRlCsBauUvczJKRN9yvfvyCmEGjPtS4qtN92gzm6m
pfwNkSH57aiOVsNXsKVjPgb5OP0MJg0Qa47KbZEm4cpMBngy0xJti2LVVscM8tvdXzQR5p+bCN9G
iSJsLN7sZ5dN9K+9ktsZtlYEkB/GimcJLmGdbqscQEQ5IRfRSTFswtj2f/bW1B8SdEQ7w7Q+glS/
DISEbxOX15TBFmHTsSe79rXlvPVaF1cCerOzEDnx7g6hl1ctSZs913EcHCOyVjYw52aUiRzInFPI
6CFxbwXruS3gOuoElYcXXtzzDivFdHZiqqi6It+wXM6s5XTGfS9r78Fw/eknq1rhrqzCQRZpN1zb
nuNRbwylIiieCwewOrUSTQr1oMz4SzAWOPX1wuz6e400MvS/KxQh7yszXMolIqleYRbD5AMF/ODY
md6ingO+gUf9gnWFd79Jq0eCTv8sZ4NRcuha6r22u8w7tYoZFMnLg+QgJVhJjbFpRzaFGQaHTtuR
QsFkp51dr12g/hjK+EKF9VxGDlEBla2zo+/NSh4xjyebaF7+j4hCKloEbdBAosSD7UpESWCdWdw3
3321rHudgVqqFjGJDowc+cYSuSJ8W4wlKzVSQvmjKYh/priijREHuh4u7cBpXkRKiW8VAEka1yjr
dc4k/DrWy/oodvTXKe2yXZ0QgNb1vNVENsyYr1sKOeaD3XObqHe/XtJkRlO/BUz7E/SiqFA+j12Y
YSg+zTMHn5vduK9Tyz5iV6ZZtkk/jDJCNtcgXdWxdYPyg7jm8sOZMHa3FqGGq2LkfNqspb7QAQSX
qSIXoRtotjxVNC9FTg0JQRGn/tiW7+1SUxdxuMQ/tIwdnVkx751wHhCsLPNj3ZApiZfYZmCZ+He5
XXfPwkSAxZiv/ECInOyFQ2WrTbqWDdIu7rwW6SSkRxr5qlL6psVGj3bUGcuPNirQUwUtFWnkOK3P
1H/mHmnId2MpZfKHzC2rb+jeOCo5npGGqpxISpTzRcyzqNIV0xBr4FYfw+XRFeO03bkTY2mVW9Xr
wHbnYg60t3BKycJkUHlKJh/dNqy3fc2Da18IrCUIKfpn4Hy0VQNEvWDpvGH96pucFHpMI7QnuIDm
nwF36QyQadZvmZd/6Udff227ljZHuPLWLBwIyAPoJpMU23VBcNbd56cenZDhQZCUXBilWs6BPSCN
X27VkU6WF0k2IGPGfuVWY7cbawaNi3ULBVef0JEuTUMyChqneHSqO1HUnJmSULjvn89ADAgF6zaJ
GzdDngJOrx7op22PQ7U0gyXJZedZkkUy9kw1Pi9Da6T15fKuxGHsUD87kk7Tbqbq7rPTLmwuH+gD
GN1NOlYM6eqIQDWBhMKLTAVecOkiIJ6fbZkhDQ6DU9FRMOjh0C8DlDkJpl2G9HWNhvMnjPrpOnO7
4VLFsh6thpEZRCCZGgg9ZveVdkZ4vnEWUh/yKuxKf/xSLZDCuCAmC9cRiOlx5hsJL7RonmduwRL2
9aMVeShKZSbcte4MlPIpl2DBwGTYFjl3jBxz99ZiIPvAi0bUDBz65qVFJ0uWtZNVLCkcBhQuiKpv
EkjOthHt9FQY3OaRVaujsTS1NhEVGZexFSGIoEMGxiPYF/tFvS7mhH8pt2iyq5lHHOufZP/ZN/sO
HdqYMTMrSuJpDWH8EOIzfdxf2Boq5yVVNSJjXblcmii7dwz61bEo2fEJUxUXXVqkRLhOcAnaBqGg
yewCETKzjG4Z4wy5vdARqHDXUrQ83A3CbEsVlu8juUwoZKqQBDCes+UQcwhjoNbfRGFzQrIMsj25
LLTQpN6j/eCeXq7nql4ewwRaNmfVKCZBYeJTa2Q1P46lDpCFzYs2XqaNQ5UubwEK43cz4JJw5o54
+SoqP2Izkrd+B5TfrJfrh93CgRKTIZDH14mWqcNnWRHA19hJaGb3OXjz3ezwmkT8ZD1+vhvMltEb
DLf41ueRT7+/UMrxU9/60gDpHA5hcKlCjnA1ZdbjUCM3DxEzEutCBeLQhqxjLzUfNS7GVdJxIhF1
qeOkBBFecAPIeKN4yJdzEFMvvTXNUOtdPZcURYPJ08yRPcg9yhONJPQiSmU9GjmhWxHPsdeSZcxb
7KnoRN+IdmQZxfQtw6LA0tFJwkHapCODDPaEkwaU15ACTNLNrirH+dDhXl7l3Nh7tsFMn0rFTTGJ
vnyH18tgELjas51ElGgtBYvtkfljMdTDjPEZ57k8Zkefo0HHPp1rYEYvdFMT7ARroZ3kzUj3X4PY
q2mWn/RCbzNgl0/rHgL7rS94vMU991EWsnkSXq+prW2uNQOaw4iJ691SY54cC/DOp0ErhjfLoxL5
m7WtseXdIhYicpXINqYNRrO1q5D3AykoTAXRl5rrovWnK3ka5iMem+6HT4jlnsBbKCNVxo2bhBR/
sJf01yavKTkqEA1HLAoUjzqJby2/eO97l6M248Q5QkjnVukzjkGrBFUofrVXqpKUEMhxImBeiTKk
bunc5GYw8F3gkaWcQJIA3HMiuLjvOOFTkM3XzGKU+fmfnzcm2DpeMYbZ1d9czD/3bKKdYzFD9Rst
A+RqnBKwNpTc0IlTnaTv8pDpXa5sqFazC2A7ma/am6mEB7LGxyb72Tlz6W3jhsbhc0DnN/rdsegI
hqUKmKASAHi35m5PA8c3Ho6+QrPWBc7bXMsYgBkT8JZGdtu5Pr8sK7vg1EbkTv77cvWPWlym3CYK
RR8QERt0Ftd/kBB2pQ0OJK3ag0N0JOqRuXNvfa+1tpK859Pk8GiLQ4rvVorxiy/LHHa/ax9Arr5j
hqZ3KQC9N3Y/EXauq9euc5zbHmDXE4+EefcXH5b9yZ/m81CL8IsFWLxBF/2+tMavkfm9YTcHA7nV
qmeD+jCR3bsWZgrMveO+Y1pBIWr2NEVZ21BaMco4ZdQ8H0Q7s51ensL//kN9Zqr8fjdiu761aDFR
NDt/2o3IjiuZaKHmAD6y4kIL7WjTAHS7IMLu93XdxRu693k72TaziahjyJZqzq4fL52c02f3SLWr
k608ngaRW36Hlu3fBeRcbXnKUhgadUkKZ0vM0r//5P+kUwFz8Hn20V2gl0Oo+munUlthVkpptAdp
WNUpCtlVMLmneqzSqr4DgcQmwq6CTc8z8b2ZeIsUBPyitWvd33Yv/5Uq/4VU2bS9Rf7+r1eVh4/h
I0l+XVT+9iP/wCe4pPEt+0Tfdm0gIx4n8bdFJbusv1kgxOAWLBphpPb/s6m0LMAKpg/XWiyXrBX8
L7fWDP7G5svF2GAL3q8BS7L/gDLmLt3u/94d1MjIIBySzC3myGyAPiXMv6zUqM/UnLrSemgajcME
Fg4teG+izFrPS0uqHVnfxYliFO3z6o7jzLinK6cSdwye+yqh/FPNSFUlIgXSEAtsGxo4+Ucm+Y0Q
/DvERtJ2Gn2ZfEnrUePu1a59LGNesZ1jwZo2KWgsg+cXWarDhuQbJggWu7Y5BeYXStqDZfTwY4Fs
gxpzBodgCN4+Y6GANce8tj9CqacPn+1IQvYxh41Kt6dgrrN63iFOqE7uRNHbWXH60cphwuk9mRuL
oOa3qSZnJdQy89cAVtoffS0B1QBvPUpMCHcy9u7M1kgSaNyN9dTZjJj/4ja3l9v4D6fA8xCjL8AM
VNzBMrD45RTkswMnIWq8hxme2dG1O3errbFGtk3gEXaX/8femXRHblxZ+K/49D50EJix6E3OmSST
Y3HwBoclVmGeAlMAv74/ZEl2VVmW2ntv3GodkcwEAoEX7937XbNZUu/MIrgjts28LkdzmTG6foXh
KTOG/RynE5onh+yIuR9u5tCJz2ZvV3TIM/FSNk4LVlxwHE/S9KZ3OhkTuAAgKM9Dfx/FVFJ9a1W3
vq8+dQTQHZwaYz49syczNtkFg4+UCIfP3z0kd9++3d/KvrirEsIM//d/gh+5Haw7BlvLAsahY3DM
sH/qwpDq4kc03MpHzJThG01TfReRF/gqTVvfCZA9oJssmDPp2G1R5RQmIAQGEC2prze618bnOluO
RIEz6tuotLPTWDHgDSf+qbFM8wtcdXnFvjnexr0rr62o0XeOHz5HtjbpWCf5c1Yye3Sz3DjQ8in3
sVBinwFr2EyV6razUbCmrc4YrozZ+uDYfz0qUx6wYjsH2rNthybe2iR6yrba4exnQE3YOclbXgfp
ybar8Vfg8NYq76zx15pc1aM35TDfO6BGYYxPux76XZeM+oGHMjvz2uRharPkkFkfRpGkMOJC5ZI0
lRKV62NNXcOC1/0mYeqxqrw02BuzMtdmsrQry1I/AIVHKw+4Lb0pYquhjMrNl6kr6y8+STdqVY6q
dUmsDMh4mT25K+O2PYB7TqBpdsZNGE/6zi/lcONkDV/OtPq82DbxnB4mFafBeia140Eknb5tEQNe
W4Qq7JKZ8/boLM+myGbSIMb2hbCv5nMQZdG1DU9sbURa/5U758c9y0FYgTVDGpBnYNAyfFrKkO8e
mGWGHUaDJ4hfMub7LuhLpqpt/jzpkYOU16OqxkR1LFQ1/zqa8Avbjv4l7aIp/mA0oM+1y9mw6Yzm
xWMIuAGTZOwbv37VS7mLBKj4VDT8lmxQDqFfg1Xuc+79dUWXaWV09BRahzBHUuTNB4y8GU32ia86
XU7mcYj+SFKUokkwlw21wnfq1J3cOp0wt4nRN/xOFABnlVXz/WXZUuAF+NE48qvGkdeyrsKvHDSM
V18U7QuMQxo/Ym7OSZuAnSpo9McIHcvkc2lke4AaAog3MWxYu/ve3QPSyrxt5sc4Go2mmrZ//uj+
XFBx+Re8Co1TsvIcx/eWR/u7yz82siWQW4UPyB5dsenArq8m1YjHdA74BpJUt7XbtAIHfjLEK0fX
QU1zrYz13jcSXi8WzyCgmbwJTz4D3/dscAGdBEQXR+Sxq/AN1jlfxjBzeWySXvxFmfpHX8BeXq9E
8fFeNp2f1k85Y72UceQ9UNJ1W51KfW7qCGu9G+a0HEr2GWKb2C/MpW1exo7YuowT3tFoOldydMOv
PHsWG/NUvVvaA7o56uwUm3Uf7oD+hE+519A0iUno8Vd/fvEv7+N/viyWtW/ZKJQk8hsP99vPnx0o
3qJHHZ2HqneopMe2Db+ymkP/oFqVP8uZk06qW32bE5e77wqfb2CWpXv062Q4VQXWgTEw1TF3RnUk
OUU8dW4R7IMRAOaahnPJkbFNrj2T7z+Cb6Af2I7t14HXBLcosT+34Yh6dZ59UBPNrO96e8zKvTd4
0C1SOg/axOTZ9X34YsYyJShJ+KcWj+g29BGcEyMX7WoMvm+0dOa9GoeQjOwYrE/plTjDkdp9kRGH
zRURwIJubW3KLf3gYGdV2WdZoDInZ67B0FzXx9wewjeam+pITQClfnn0QnxR+JkhAm/pZfDxygxh
ilbmAzHnU4+XgJZKYDbxh8HQbJeC5H1j5Q1f7LxYdpDl0qToD/qknG9sY+by2QTIPtSJYg4JSurJ
4FgYrezGTV69ImWoWlTITmJ9BKbOZArmIw544txjDbzT8XJ9TuXMu+TPFwJF4g9lAyshsBYNFJwo
OFqUgz+VDezVRd9mQ/NA0iy9WBw/zGwve3OO4hMJFFZ8zjB8Acio0Y5SrH53zW6+n7E2w68s2iM6
SW8T52l+ahIAxVjQjCRbDyJNFo92ueOAuzyu0jM+T7T0PrH9d5/N0R6+9Gi+xAZUXeFtML7CwSgp
x24G2n9brMuwXkllhktH/luY73LJQAIfV9EffBLON7iHvKO2i0/Ec6CtISIMZ4Iwk33QuOIe5d40
btre6D/gWLBFZmW84YxVHch1a/f2chDz8qWRZyz3FY9099Lq7OAIdJ4bbSbzNrCmF8lQZmNVPi5y
g/gFJoU8EEFks1hTs2UEjCDwV+DAxQbKX3aqGIse5iBHx4G+u9nPjRlXN8xAbOaifRY/8x5InluB
M4BGGnbzVZUU6QvjhGBGsdy40SGmbiFs2WI3WLUxln3YffKB9uFS4ChdnQxf86pqC3ejCHDHvxf3
3baDrG3wdTO2vLxquVB0t/jnsOt5DCaI1eHad1sbw+AMaDTCNQONxOatM8vU+hwjwprQeLl1diVQ
D1H+BNN91CWV2M6oxT8XtG8W3XHhbyZ2dmMtSvDnkTNmp4mF4NOtraorYU8QuOlBWK+yohvMeurn
e1o9YY9uN9UPitryQNoc4WhtO89fTTfzj34/C5gZRUbAtxuirTMUXEJaJohj8OLRr1BgMEYlWIVJ
Q5W5otm56Yg/AwNYh8Ymseb8K3DcB5g5ebJ2KFvpNmeccfMxK86eV+ACLDxI5eCRuDLBNN9fHqT/
nmz/4mTrXfKK/v3BljlDpd4/fiADfvuZ30+2S+wAnltwfuRXMFJlA/r9ZLuk06MRhVRs/0bC/l2D
C/+P5qNFe+ifxtzf3bdLQoFE3ul6DpKQJYb3PzjZ2kuW7vdvSrpNHKqA2/v8OTv4+YRhFDEOBDGL
K/8bjp1Qb3/qX9VvxPZv/HagT8Q67r22o0d6beF/HNkZA47rMEuqya6jE2kdfmbdlIIDOVh80cWR
kRLnkSuAf32GVzzExAZpP7l2onFJYJr5t2F/gD/P3/pkOLRBeWNEfQGl4VoOSMnmbDX6nljFPrxY
MVBdFCe2IqtfZ8yaEjRZYTgYbyYRs4sqq+Pl+5g2s5TQMexopP0U6z4ObpOk245dYEN8KnxERDxA
2DpXeU8GHNQaFA7kuDgVte23189/n5q/eGqouFzW+b9/bG7Vl6gqv+8H/fYjvz81kkRpWqNLc8ez
0PxyuPn9qTHJ+MCRzsSM87HBf/WPfpDt/kIs89JSvWjTL6L2356aC1AzQAvPrJDK0P3PnhprCWb7
4bEhy8vhATSdhdBJWfFTRHUGVDYb+4BeDTMHzn28MfCPKFJib4Owtu17221QWFfMZtQORDSGo9U4
JO46C4E6Uklfwm68rOEd2CUZ7pX4WyKO4w8CWiX5vng4hzIDJLQAMrq8MT5Auo1wM1BS8uahNsdI
aGJ6YbxVxSagMxQlpB0WDC5OyyTgq8XUhgTDtvE/iwXooekmnLzMbgC6RfNad17+AP4o3GPdnTc8
1kCt4GYB2bHcvl81JuDM1ZzXitmAZYtPniE++xrgSLGgR8oFQuIuOJJkAZPoBVHiDU7/d8BR5tbm
pA9RpHTjB0XDG63vAjsZ+jkMmBhQoG+tmm+M3Q/xIKrXvN4ERhxfNSFzJVJm13Sg3M/JwlrBYhun
Z4ZbYgPUxrulxoTSMpFJRjyhu+jOvTimEgjAe68YdSbTo+d0XbnhTkyv4VRBSTOCoV/Bx48e2T8w
q7cVBiXQdPFwTKBUX82j1q8EMkpn79raOEbMFLfIAhGt0paHfeV17mIgTqz6ZVJaYU9o0naN5704
ibY0yMp0fAIvinDmPJmNXr+ycpslkaIfXzAtcTtvkF1hTnSZXL/hGmvcO77JEkmaDYXeEFKpN5x7
Laa1dLXAQsZfvQX+Ey8YoDax+x1qVEI0OettwLh7981sa0SfMVZcc+qqe6ad6jRVdrgyikbeiwVA
VA6Fewpt9riVWgBFOEXxxPHQgF9dGEbxVGHBgPtEy23XlGSt2uzb041R9iguT2Zmj35Nljixo/6W
C0FmK1zIsr5jzBxXx7kk7Bw/XjLht4z9xFUgwVsb9D0oUkrqks4WnB2YufammLl6930bca9mOXiP
RV0i3/GEDurnXA0eeOeqXULAAjfE4YljGXSi9toN4t22OqVIN1G311H8UTQeXdU09zKPoNGpENcD
oXgt6n1dnVvhwyMnG/3KDcvxHeWcy+SpHfstImNyX3CYxChaMAmolUA4DMoQ5COIVPgDctVJZJTr
cV4GCgZes10ZJckdDSw5r+NmINy4UmHBk81BLVxZ9ZR0G9K3+hFqYT0M1/Oc9A0yWdtag93urU09
FIOEviQU7tulMLxzCXnmCAQ7zLvRczGe89Yx9irzehThwAJYccuhLvUQ1eTCS86iwmFAzlWY0yeQ
hquwy/njq0nS+b4LdMPb12gfZt2l833Qi18FSeY8U8KtSDRz0ongwMriGEdAcdHton6qXjVHDRvr
ZU/uINPPam+HtSr3/Ms0WgUCgf2BnWh6tBmFYk5z3A7NZJ6b7j6HwMacL6VXZ1W1+gr485PTo52w
cMTOj7BJh/owZrGsjiqc9Mavhbyy2tag5Zqa90zEeR45LqTM4KKFAsQ0E3Npk+5nbfmnFB0CVL5R
aH2tJdGPePZLDOq1yvbgRdttLqMQLBH3qtqhPE435mxb96Jm2ryzelDebpCaV5ULIc7yUxFsBSAs
FIgx5pJ6tpONYeUm9xmQXfpZNV76nmJs/2SpfKATrwlAZ/5s86zZGplfOlvbQrqiO0JdsNe51aft
1o3bSF3xH4BMkKIWSC1Mt4bn5fpzEZ+IW4JvtZ5Qk9XGKp04gON3cOM14nsD9pWrIgAnQz0cRKPA
2IZdMUbkGCGZQ+da1r2PoTTMn+QUWc8EkL3YLOFulXB6496g7TlApvTuUTnITQT6FO543By9oPSM
LdNe7AOCoS5EU9qmZdjaZ2RD8EsKhdvnBpojPJFudtO931TWa9PpV5qP8Gqp7WZg5EmY++thMLp2
1Q+p7m9Qq8vzPMn2gYTcFLEP76/oHotWqCCz2/k0T4fC8jrPSdc25k16hi27xpmGrfzWk/pvPfVX
9RTonj+1Ap6/jH87fVHtl+mHmurbj/1uBrQYiZmuF+Bg4mTBqPwfNZXn/EJ7xPI9c5nBfW8GpG6i
EmGwajqBSfW0mPR+P4gwYuPXYW4IcB1KJvD/yUGEUf2PJRVdGsZ4jg/5wDc9hn0/lVRmo8qCqY46
oBRPrHWprG47RRWsyDgcnCtayM3wGDlteKoMSLXHgZnKfVwjPd9nSIczmkpDjloOxPjag7jKkJo2
sFnriJd1aJOLMrTG3stKC8plkyJLFLC7MhlbGxgk4ZM2Yce45fCeSzoF/KqnoQHT2i3951YFT/QH
YPaWNS0FApgRIhOfi29uGbX05FhCLoC5/QBL0IIP0RmvQSZRvHGmNx/KkjZCq4Zue2ktujU/OLqA
1DhB6XOhyTeRQsqHcAbOUrQi+NqaihYHOSp6XEFxUcdoIF4R7EVWv1uDZPIyElk72wjKLxcqm5lw
Ky/+zP1P1kIsDZJRDuroMNzz90zNQVSmRX+cs9Ree1bPD7bO2JrEWdSA0OluFsHLkM4NQOelp449
br5xa1oUAKSIRzFQ+XRjq46DoBszS38cV5DSCYxLumA9JpXVr2IITACUkgQ1zdgylVSp3xcbs47E
W98zePK7tFh8ZZa8Vn4bGPvRkbQTs9xjPB/18lVdOrGZNvhtQHb0rV/n4uscj0sqG41wFMP0i5ik
nmvH9/eXz0fjVR1Z2TTH6amro5l33IyLTs5zvXLcQZQp97giBySRKLiSiovcYuRhs8TBsfK6xLyO
fMkODUET1eI1neI4PoS5xJvqtp2yAId4WKYsiJIVhOoZnL1gYDHb1XGAfkz3N73MqSLzFc2R7+5k
PfkGKe1oOvuuYC34dXZKe3CK/PVkDXXcSba8HzBbogB9VsLKH+NaTa9NHbfXPqX1UzpDRYktU7kb
MC3WqXT66Ao3VvyS4hoBcTk5ILK52b6b0ljKOgd4S8WXZBQmAE+abbl3jMBeYTZf6DIBpnadkjYy
l+O0R94LPT43ra+jayH+D0HPE5VnzZr0EDNNsl3AazE+Z3m1QCxxpu3cyjVH4EyEmTDoHRTjNfQ0
WfsQIgtH1z2CNyXXCtGPEd4UbpFoQp1Hfy+7QO5UHlvPee9n+8LXolplWAhz2MhJ4e8zabSP5GG8
ovbtrwuHhBdfT4jOh2bEyE7zbN4OWX5TRKiL1y3+zR1qVfLTPbNeQ6IpTxG2TSKoel/dksZZ3bXu
XNy3wgLdMk3FHTIoeeqRPQPoazggea59mJEHgf6w51NsN8RvZOZIGHPuWJ80igS445OvIaogKhsX
Jr3dAl4tzTIZ1h7F7a7sBr01q24Rm4TpvO7HlvC82mpvetK2brWPyr0UEDU6VANb5ODdRZViwJov
cvKaCSyxr/NgqeVHbXivAy30m1BK7FwqTb+UHdXTxK2fa8xyJU0qgBoSKOZqSi1I2AY/8z43AQ+9
QC1QHpA0NY9NAK9yOw4y3vYxfdgVfsP5k3ZgmcwpiT2DhVR4NurqWbjOtDcbD5splrwKkkdUG2IL
pUoiCcs7pOdxiRCuLx3kZ2wUctXno7EZXGwMIzja+1jPzNz4/taR4FmdHpH5L6X6THpUH6bwbSf8
oxh2/KwDI+KgQTCaHnpU7FVy7ZW1WqvcjJ9cLwK/qXN41Bw306uhQ9iwHhSkNCM1XcgLbk2xHAwa
DxgAZVBm79XCSlDJZB6rsPHOgMjEU4ZRtVihXZhhXGhysL0y71Dc+bO6U36Wnbxy8Deo3+Z70x3Y
lVq3D98uO0uTdeFXQBHZicZyu+FcRPv38hShtMTKSKzEM04nf+MKg211gFTOrjHxhlGUmXvNlO8I
2YkkcM6s5gOBkPwhpJ56U5otn4S4IGyNxjhw3BpFUJ55bU/nlsHmtKkqZmttzxQFnaFz9d+m7f8n
zAVl3aIS+/ftpzPahPhv63dV5cmP2Ye//ejvJZPzC+Nn17N9gAemeRE5/daG8u1fLFO6YBUk4iSf
Du8/2lCWSwgtAj9AVQaDd9iL/6yZrF/4T8krNAEvGDR9/qNcF8+gZPu+DWUj8DUt+iwok3xG/d5P
M1qP9D/yv9oUMTLgd0wq2CY2cxst+tpBBXrbDTW9Cd/wYvcYmhNyXjaxwEchyaJbm6ObkgZK1kO2
rRwoqgeRVxIoL52nAhZObLUfRYK8HlmqjTmxk+fKQfTT2b00mfPhX8p5RijFJL1VcKgchTIyPLBe
ImUOMNi80Tio32pjDtV2SGnfrEZ6AtcyNu13FP/yTN0hCEAoI9dd9RW51XsTqT3c6kwsP2KFkAYI
IZvu0PcEz1QO/OGRvSph4urrh0g7wXMBSf+bgSTMkD9zKteeuo3MMqtOFaR5/+QGXvvR+oZ8yhe/
70rGpQC9FTFMqW0kHVOul65yH/A16sCm/2KakToY0pJP1L7Ou2dqfVdVoj/AhrcwWPr6rrQqBq2W
UbWUT608R2bD96+9KHxO3Zxf3TRJjVozSNt2X8MN/0DGzxUo7cp8SoiReLPCBj+OthT/ma1ldVVU
jvM+RfwcNkk+gCPxmq/GnL9mkAr5lIZLV6S3AAzwRtd8azvjb9J5xxAORABQe+5g1etHwzq72Bqu
ytiLzxYe1Wt/COUKE4W+ScNk4PAeZMcy8fgZDx1/snJ1yNm/wGblckZe1FPfbmhuRJkiUiwMns1+
ucMAZPQdt7RtX13ICPp6XGBzhJ2babExAI4n96Iw+QrVlPJb6iHmf/02zwFt5j3XZUwXcgSZnbj7
xslGIO4JL0r2TVc4w6HOith44c1rW7u8mCkWOAN/jcOeK2EMZfA85QzC5taB+hO7nMnDJHym3Env
sdRS74CrFggkCvOptFmAOh6XVUu04S7jwA4NHBkbwDIQx/Tzvk1+l0UE+gtpnTvyWb1uYDWYCms6
LNEOEznFlnX0bckBPfc8eiF11LL4hAnEIBxMHj1vxEjp2cEYbY2ulud4bHgIvUBzg6uaDvLKDyKk
RVlal9OpTAP6sVnAO2s7sERdKhPQDRU9U/tw6a0IfBtkZ2Dk1QiI+gQ7cxbqB4t3YIhKqWDFhBJ7
gtY2fxLRH/duWNbJhFrprV9ukW911rFwemxGsuWXdY3B7JhyfuvZqP4n5o/b2sabBc87fL4s4UR4
XN+sBZe6POzpskhDd9CAw3suyWiSP69pF9wVs0niPJ6ybAfZJXi2zIAL1+FHhIid+yyY3jOqq7xc
tCGXR4ISMoECARQFi37PzTbYOBKZNG9wWNWhcZYujYsK7Qn6WvgssNuKVd2mdLDTBmFXrpbEDpf0
6C14xWSfA9MeVmNS8HUMdO7f2iMNWcU8D4bBAhMWDzmzf65PCLD0aTCxqk3GzA5iI3k5ejF+VtyA
wfXcLH4bGscsiQqhJaNq4StA1R46iru0GYgRFaqd2E+jOdgYee0dXEeRMpgjysTfJDYWgnuQ+1XG
97XgR467GSFFvCWDiCeM0oYPNFvsWIWJdYWIKF3fRClhCwn817018SwDrcNtUWb0rLAm8XtslwyN
LKOcSPHpPBkG7IXOqXuuYGHrh5qFjmwlzpq3DMf4IcBHsw+72HzyLNY8oj3Y98zt1PzYMp60MUXh
sWOUHNCsz1hRMKu5UTg05FOIVqU+RZXn6K1F9FZMSjNugRTKyB75aTavh5G7lCeh/d6So6G2xE+w
pii8WeDEeHNbVZs778YIyZx8GrwSTT9htHGmcdowzWDgRqIi60W2HbC2xf02ciKn0w0L5ZyAOHsq
CsnnSYs6CrdDsKwcT8KaOdmp4tebUdh+RBkiiiR2WN0XO8ay9lTiyPTKrnt16BFhNLvLmrdNmx8y
Or7z2myW9Q/KUZ77ZAieHY7ufE9j2faGUTbd/YCGQu/oy7K/qbaj8Rpby3oMpha+VeMHzwSbcSO/
bWlw75NiQ3YhSwkUqYKE77eNWBFNOiqUukLe2S5PFwbuIOVswOWFor+7PHHF4NvPEGw1AIvGUfHu
srNWVSxJWoJd8SwTqywBbUZT9uLAE2DIYS/6FDlgu7LjznkP8jHY4igq7mXcmzjOyg9ULcFR1Usv
0m8YLa+mcPFUIVuW53Gmrw5flkP12ucIjAsxpjOPMWWKpwPbj4VvUkY9JcSKqR3luVvNwVVRtoR7
ml7IkEG1SZDfz2n+JTXQ9fvrvBPRM69SdUDLUnCLSoOnJus1ey3PJBw+thiGIqNJV9BqlPtRlcVz
FUl1CkLd0/edfPJ71mTaP+FKOFbB8iJq3TJ/YpZQX/GO8e8kHc2QZ3ewdqrhONNI2Z3JPqiu2j6P
lhji+FPiNagPpzL8e0PnU5hVA5QOMotC7GN4Kc8AEwlZiPHQddOxjfv6ClmoKsI7I7YrfA4d2t9+
V9dtsxM0T+7wq63SwnsImVgaL5MLDpP3RFW4IebGqmBXhbpq2S5nM8vozU1t1LQ4XHMu18zHHZrA
jZ2usbkVBylRPK0Su/bROmVLPJtJn9XD4Gz0ejzBJ8yytfDIvEB8VsfTbnKn3GMQIRIGTG2/hJGi
LL7qLHu+9RnXnTCq8ppLdEMMj6g5WI3yE0iY6kYYbnmbzJl/8syQ1StxbUL4q7YRlmyOUrWmV8uE
4UoBObzx8PkCphSOfs/tKsWMWXyyU/CE1zm92/smi8utQNHmY4Ej9cMfrOErzongcwxUG+ENaBPy
iswt6TvJxueguptEGhzgXg2bScP6JWtVxxgnU4JSrTa98RHHTjdcL/cj7fxyN/djyHs8MUCTjJ8C
rDk7IuXU3gvHvw+hXiPC9j4jRp4eYmcqNzJvzJ2VLYSGziEWyOCyukEJHE8X+lfGjU8CNdpKovO7
8ZMYje3MWLDy+mJXTcLeh+CerumV2NuoaZ8aZiTpSrlURtu2aKqbbqaJnmUF9cmIfRWhNMq2AlKK
2SpxcIKqPWZBb19X1owuyCFuB/cWB0OXbpBuGn8rAqQKKTvWihWS3YH22nhUnWLO5C0vAfDP9lBi
lxPuMVcWuiNyRi0kCAfy7NQesjQ161QzJcDFfnDgEa7aZBJvbaibTVqr4AbzwX2fFOamK0vjAaCv
f11NeffJxNh1PRU18b0Ca2+8GqldP3cDpLNNaJrzqUPwvE+TrsKtU3WUd+SvJKxvM3siQpwE29ES
Z8NtMKDTBt5kvr0DDjnt0iorjqPhee8iK161WFok0oMGMijV7oTHsgFGCaZgmrt+b2DXXjt+1qzZ
/GF3OjkvoijujkPpfNSkUmzNTo5rWRuLP7aURH0o6z1UBoQZjJlMXivQUpVQVIKJUW6mzMi2XWO7
TyFMsDM7v4IfXTFRpJvqHYxWW/sizqdNa04AbMdcjtfEcaGwrRnQgAduXV9x7TrHeBjGLJfbyCEl
kFocLWb6kIRSM7lhmpkfvLkdog82/2gXp2YDdxQQeyiGEgMqKBHySSKLoAw3FmxMKnHBq/bjs4CS
ge3JDU3SWHqJ8K7uOIHEzdZzVXWTtDwXidWNzxgQ8uPsTrg7FTCOmckLvRmD/zf1kh18FePTGGmf
JW6R3CROCZN1gnWyvkiCXzFhRddRU5xpH7UvIg76q0L5N25WEipHNfBYgPUGdw5GddVzdulOWdNM
yUvr1r1xRG4WdCfRyNlEUIhIYYdOvG+g9kpB5RRxcAtvwy4YqWbho6806Wz+WwjsQB2gWo0oWcU4
GZDuHalmCz1gShjo2sxtYayiVhggoiOHEeebjzSv2ZkwSN21f2FB0CNziqvGUPz7rKLk2hgOwZys
HjNQW6enBo0Vg2sqWSCaKxcWTr9OGogTJ0PO+mEyR0miHY79YpEYx4GgPvvuxP8H3grrX2x4kvO8
jcTK9enoOT/HDniDUatCNfGhdiNemBG9obzHhDsqTy+D/rZ8rOPct48TIV0cb6yKbCSsycNDbxPU
BVF6DJ4Ngy7dyr68pmVHVS0IG9hG9kw1wUSaEgBgNCXFcvQklyZXG1GEHN4yTzFaWzwUH99q5KRg
WtfPy6GknGr9gEoX5ysNefyKvFbekxKiVTm3tLIgRtUUZH9+Ocx/Gb9cPHQ2iAisVu6/CMEQ4zcL
0lXsrRgfKCjUuYxPBGlRRJWaT886DK7BBQ/isTRnznK6iPlYU9LPjzpwuVqRJSmWnBkTfJrb/CMX
i//VXk66+eW0apnkVyF0TDk09iNxdIcq4kAOGrEeom00NOowTwV/3SHsrNi42TS0K5/65OPPv+zF
E/id6o2+yZI24XgWoyvsNZ5JX+U7cf5AvqSwhJ8fSliEahVMmsir2M1qSh10xHzluii3rm6b9wLo
x0PT0WFoYk7gSaXVQ1E2f3H55R+tRsOy0TrZADZ5ef74iYTTiLnnbc/MZJGBusLVDx2NpOeWxgwX
QSyH1tHEDW9LzzoiNVh8jIBf9xJKKOTGtl5OThxH/vxS/eQiWTpMDv0vkz4TTDV7EWJ9f6X6OMyT
ukvSQ1gFrN6iYiT1Mi/O+FccFHOzs8m0VpuqdHKmEOOCBvjzD/AH9wpXqlw+CPZOPgUTyO8/AegJ
pLZmFx0cDTFsFZbQAjZ9IEPzLEUbR5zJwnqfWEkcXXV1OBOGR/T3OSo7+eQbvTzbFVT+v9g9/uCy
MC+1kH+h30RW9tPtKsFS0o23owOOE86yoOiirUZMHHBwgVfHSIkDQl8gB9iIIarf/uKa/CQ/Wy4G
f55IF38xZxDd8uM1KaFn9CWQqYMz5XQMUtlMoPgRehUpNySewAjP1uhbT8RciqNcTqmlnQP1Heym
Nm9tkuwyUn2zLooP3dJoqpuoTL+2ocNRv1yARpcP/N/B/V8N7nlsuDf/vhN9Gyc/aIeX54wf+K3/
7Bu/ONxpEsKZjC/d4n+Kh+k/+3hz2MOwbLMcDJYIdtMu/t//WbSOSBOXwB/P5f8s7pd/zuzpFhvs
8Uga+XEix/8D8bD8uf2McFiiDHA8mt1YDv2fHs1wFBFiMMc5DnqhgpnpnOGzABfh2GArrMlhRMR8
fFcrzjxyhOJAQFz9FqCz+eSUNIZtNwXYYIHsiTSzqO+u5B+84X9+Rvl0Js5cRJoObX335y01YBwY
yjGwj+lgg/GJbegrRlxel45mh8XLMe2DGhhoW1fM9P/8b7Mx8Qh+/4rxEVn4vEkdF76ye5kPfL9t
haDJardPmiOKmNeiAd7AGy8JiBZkarQB4u1dk/8ESN1amOrQdJJPkv7w3/Vczh9ev8DX63myTlEe
tdvM7fN9d8G0q6Zy770LvF1Tqh/Dhegua+KdkVzidlB9uEp1Eci1PbTFbUyuTr325IAGzac6RBXg
eZu+BxOE9hJrC+5Nl8zk1DXfINmA9qPltqLOQHnVwp9nhNI/MAssOUkteHrRLaj6qAmCeB0sBHtY
EsaLUEpswRo89ZpkPU6NDW8rWIflWaFR3Ip4qTjVwsafqH/WmZhJROTkMJGViBh8FQG8WdcxKcjF
AtkvL7x9saD3nZHsSIxv3QtCVWQTgNU4dUAEg9DBDaAeh865G+Pc3WtCzjlom+MC1DGbh+WYd2+0
iDo3xOMYb3llEExCT0FtEIYH27G3VLIbLFilq4RH6QHOfcTQ95I0MNNpeZLoLLfAP/ByBX4AzZ3h
SfegGTQToGyNRD2C3DJ2tK2AIJRhRxseeRf9H2KIZwsOpKLRQYyjOa4yqvcVrTi0YHUq7IMDL12s
cpvSfXScVy+dfNB4bnmXlUrvmOCY1PQOlaJ9CWKAWyF3RpqqneqYKk807fa0QcluiM1hlxnJLuhg
KPKkBqRTkvUww2VDiLIkQJAFn25AaXnvsdfVh3lJigjymsyIBO/nruPdOq9w+1C908DSxEwsiRNo
NeRVKHx9QhoaPlvpcooY47FeQQ2Nv9ijMdzKS35FUnrFFyQ9WbUyZ6IuGychpJy8RNJepksEhust
cRg8e49xJFLrDB+wd2qUFIU7PhKEAe9t1XglymNY1ChQUh0CMvHrLvsoUyphEFYq3ZtGNX7QDoWI
MmQxMlTCCGu6GW0TqOR9QJ5IXFBJ0XmLzHbhLM/WMTesdHh1CQiheHXAzMzC6nr8bz0aXg9AX/dr
STwpVC8oFRhxkCEk265XpdheANjDJMsJLLaHM7UfeNc/Tv/H3pltx21k2/ZXzg/AI9ADrwkgOyaT
rdjoBYOkRPR9oP36O8FSjSPRPnL5PteLh22JzExkILBj77XmIrmTTO2B0AxPCcu1J1i2ReRjRoqA
oxAuxQxMKZGgMDQAphSNGY4pGkE8CmR5auMxqf2GJtZLV1HIrdWbCQlu5VBnXXZLkMC6GdKf22RL
Ul6lS2/jU6+wviqay6u162ebY5RJbbgAhMK4Hq6HEQMCVGIBkWmTgXc/RUByPtg8STXCGADJ8TwO
RIVhBh9oNcQjNzJS435SNr2Y+leRtr24TJPWFGc3pN/v1bjDX2jquqZPX5G5+rqVQ6DhOhmrxBs8
IvtopsjhPCXa8oBrUUmIERh1rKME7Ghhvvg8CdT5xex7DvtHZwBXVR+zyHUN1tGsRsCmK3UZh6eS
IKOkQy5lli/9LAuWTrt0F1W7WOemU3nHnFErhSgaitGNobQ1XmQtv2IGNEyMBRIYap2aTrRJIgqc
ioyyDV7w/ApzclN4zBcr03fowB4mwhQ0JkkyLk6QPGkqkQo8snYhnh7oWzvD2WjaKaWCInrBL7vW
/ko/YERelLSZ65FLtmYFORZQGXo7DrCFxh6fK5WE89giMttHkVNtQrwL0BEgz2UExb52qvyCmMs6
DHS7zFUUM970FsY/X8mMkORzWr/GZsVO0QysXNQtZhpuVeQtl7E+hPR3SMo8xQB87zXarBajq958
I93N4pSoqzFArCwAx60sXg6a+GTkaXURxkNMaNDSdhvZ0IiYsLiYgTO1KHKVXB5cWkT2hgWEfoLn
zMJHdld8awOmVW0KW/MsJOvOOphFxD7LFdFE1MnM7jdYaeuzj0eeGRHyMa1xH10Bfum/heN/ImHA
tW9Qbf3fheP99+ml+1ns+eMnflSOrv4H4i5UBqpr2T90m/820AiLaEdNs8Wq+kNsSd30o3JEuWC4
Fn/EqcYQRDvSJPhROWrmHxx3IFCgeMAztkZJ/JPKkXrz1/qIOb3JaZKgBKSjHHo1bDw/10dCKgp5
x5U4jDzqHgfFIKw4n9+cScvPC82IIIZWsJmKKru1R+eS8y37+JA2d3Wl3NFZ6o499o1N49g4kKte
OczAAcPdUKUxduZGeeltG/OLVYlmbzihjXTexEdwXdLe1G8MI8m0YqOUhEofyH9ytDNaMFF96Wg1
E1UPqKHSEfDJur506pZJgicYQ0+k2rmDLIxNGCKkpJ8XkdkILrdtmy8wz0AKbWzGZ+oxdieL5GUt
dGUAOtDotnFuaPVRGlGCXZzBKUNKbOAz80wcsot6tKtZI1sp6vAELZUKt0Qa4YR2U7Nn89AD+BUh
QvnETu/DWVFQdKs2xmY/pkHwkpah8y0iZgj5h9bRtwjaGLop/ThakQINU5vWvuQtdLtsqrQLlCtL
R8/XjS9CjNfw89Bvd9uBEmMIFjCMju9U6b6Iqvp5KhMC5fJSl/sUtH8wCsd8ngcT/4DO+RHcwl3E
s5cvq08vG62s9qk2PqRVou+IFyD+vHCjfTZGFDNNEcWPBAkxkp0xDtnOdFkZ7QUx2P0jINzS6/Pu
WidUhi7Y4CJFi6w3nIPjpu1Hgt/MjlEexIlJP0RT9jANstzMrpoegfa8RkmFqSjM+rvF6ckfWJRi
13NJGQNXa8ts3HV2bG8drdxprns7LMmDlWsQJBJ5sXTVuHGz6Lywl3tFL5/JwTkWgOL3meR5TTvQ
nxbwKt1cWxd1LVA0Nst1HCGazLTsYRWk+H0LqjErhu9WUlooIJfwenQrC0sSz1gXr/+mA6qVzX0G
Lg2k67QMVxpyPn8YoLVHSGiAb7Bhh33eXjoSWoptGuJgV0kC7hZAWw/J0FtWO1fSa8OuwPTySjrC
BBtvngOwocptRIgUutzoO4VUdWUq8s6UyXSH7yXfMaiC0wCSbl9mq9omEdaGYoZeAdrSrcRvd2Bf
iLeY890tgGTDA8zq7gZr/F6ZjANkLCs/ZO/YZBHGfw/8/mulM0QbzLKAQw5r213DxWgR4SMv5Rot
pwBTEUMe0KlBA6JN96pZig3h2w+IPw4LWlTofjXOH6k8mnMI9jib0mPcmJQ7tZG8r4Lwr/1iw+OW
DLBG2OPd0JAg388iOxVD1l9YluSO71un8ZmTKSQwWUi8BxRaRLuTBkNplg4k5c3FpOy1TPS3M6NU
+y43svqaIJWixEfaJufa0Sz4CYkThATed56a9+l9R2CsJ+lJR7skrbRj2Uct1g7Is43PwqKJEhIl
0Ocg00Q4DNcpySXeMLAsInfATuRM0/wNEKhg0mUb85HqhakPCMXR3UmW1rTqJLHDN7zb9ew1yncV
4QgUU1SWW2vq+/h9TjtkLc7oNpwGRFOPZ80xO/LNWC0apCckj9hlxUVcusVuTPBrxY2i7YSG0abJ
8OrMqQWhqGKXmBDwViJCH6zjh9NrDLfMYPQgdJd810QhcgJneZroSTzYST2d81R54ZZ61JaE1I08
q4KikUepNMY5FZAvkXCm6FyTb2HntH4CZv+haFOqB863yaUGwVJl5LTo/qIW6jW4jy9NjlNxw2Rj
hWblQOlduUXXNpwGgkNvDd1V7jKjs1+0woRSlbkNeaMuOv4+irmNxwkSVoh4YDvns7i0MPeRpSs7
fDBS4qOKq4Dfw1lVEfOuXe9aiiuLcSAj5LBB26A0ebyz8+E6jyn0k7nbjyqGJjACy/osWRjqhFZ5
Q43zXPaVuTeGwn1rte7Gnox4JJyNI6zuSIRPKVnlCAgCTR8OmJEcH/6ozolLreV7iIMoSBWpXMyc
4Zif9qpfigW5TUWW2Bw50RamM/uBM58TFLJXiyKGyzlxUfPPve0nJePaqUu5tWyN9DZDi3axa0wb
8LmO56YpxBy13c0KicSofC7dnl1r0UmpcOEAIXqYygMGJ6LgRwT5YGNve4eotMyBaFERk7Hhs7n7
ZiJnZW7QDYgh9DjKCY7sbvE216TlCs5JXq8SSVp3GVPIokKs5Toa4WZJ6vo0AWa/MXIXHmhzcBV4
B61Sv0+N/aVI7CpYXODKoqsRe83uwqncAEpaTqDh+2IiWqL5topiczL0LlQ495tlpOmeQ8q80qhM
TjQBoJ2LOd2CrRCHxTStPUxvoL01LYqhLJG9R4wkMYvNG3zkOdV7xn7XWF+JSmHe6thqEGfyK0j7
7AKGAsPhmfDVUKeMx++gnlgDHRGARrySY9+pxN3tVC9fo3rVgi8uexm+ufCS1ONQozvC1o8857Wo
GWOKXIKdzrTQiwe1O4+GM/Bw1+oN7i6OAeZ77TbfAcVA9DApGIbJeCw4HXpF1jUEHPCrltZAY9lP
8r1FXEMgc5r5OEgKrL1jfI3EMr1xtao+CEdbTkMmuQx29rUvQEGwmVbs2snw6DCX8gyp34FEKpHa
M9IE0Mq+biX5K30KjV7KXB16o7C26WCT9Yevb9ulS3HSVI0M6nkxIH7Pr11MyOOADHYzurwHwgqy
QCAtf+iEtlxnoNO5oAt0vE1s9xMS7Kzm7Q8yS5+57TN5SYaQc9/YJj9LMvUdHagDwVNY9knsuem7
fLw2ZZg+26l1Z1oWlOc8Ohta1e11YLhEAMeQOTmEcKHjJDa+wL0YvcnkADdjDTYWYm+9prNJUe4H
tERLQ+sqQV6jelGlfTNBqpjQyJiLabVaXQ3qgnNzmey9PZnO1zHrBGFJqATqUF4tQicufECPv09r
qV+ZhTUE6gJ5mJ21lsDTY/JLUGlgJyYue6pFcYv4x7xlENoJj11TocTQas0zjS5/71pixtYbNeI7
xSm1zsRba1fXqsktQ2h1tW87cHMeIiSIaZF+V5PP6tlSnCC+pU8dAeuvZdQc85FZs59WceQ1kf4t
tzrzrrQS7U2NUngFCwM7gIBJPx1qZj7ETmZx2vso+6c3kTu5X1d9d7eMLd1GNs9LFJf5Dn3ENUSd
C4Jzpe0PPA6mvaosKcvZGuxvYWQXXqx1NsE+ZvJo1q1xqfaJ6bfFmEPB02tELPVCZ6Sxi6CSenXb
gpVOvJlLcUbsiVpIhGSH01Pqmfm3jiz8Yermq9JJ8h1KH+KhicTa0oaGXsj72snWUnYp59pi14Cm
eWQ3yx55xPVPsHjEHZCIcC+Yix+EOVLxho11bEo4O+QZdSHhl9aYk2CUpPPFoMx0mBZwyi4azGoT
C06/EEfdIzYyMMnFpGYrW6f2rSHC/SC69kZikH0UZKB+M+tx2Dtd5V5UaSqvDOh+X+DitRn3X5VK
X2+IEC1WOi7V1fLgtrKoUo4P3XgfqeywHuek3vUXt9bXBPR6HgLyTGV2Ac+vKAInzK0vY+gs1lOE
HJBAFWfiyer0hsuN2E6S1oZFVxQ4jXW29Cx+JjoM7Qh6lbt8KZHSdsiTLwmBSp5Dwrm3CDWK1T89
rcEFpfDp50XEHSH9dThzj8WjCCdCtPmr+6lge20L946ucEkR1vSvZVFWazp5urXkEl20JSVpXg6N
3MhiKO6JWIaIJmxtNzpFdkorhFBzIWMiFYgrrZUlx+nW1uZ2VMvxJjfMtvXNJSwgviUZmm4Vy065
4JDR0nLf21N0rRFlMN86dtpWVxPIJ9N36e43VubBtkJX/A0026qrQ7OgaXX3jXIzcfqImXgzGneo
VLDds43NlWO33T5148JFikwn8SKfDMWzulQN8qUuW9juMfvo5ORk0neWvpexZT4iDi16fyFlwd63
Gffiq2s5ZCQoaRidkmFImg1LuE0D2qfQuTXCC2hI2yO7j2yr0yCVet/Ter6dGjRkBT3C3WICPRjk
rBybsa0PLWsSfKyenGB5AdPSevsdjJ4BiRzHFw04Wra7qajvu8wNk2dVNQAD0BlEaASOyYELZPoW
hvrviPGivdWDUyBRKFa8JmnthyUdRQDlbjECFzH1ttO65YXEjO5inOs1hTY/Q7gUu4pfe1yQxd/U
dVI/QdEvbseRCKClJmgIMFjtm7FKR1qNCz2IMnCFlWAMIcBV7aaMgUCLcf1sGE3hI6s3vnRUkYGc
JnyFRC4FEc86ivNmDiYN1GOf2weFrA6/4uB+K6PE3baZ0F5MbNB7hID1JszYmcAoOagnqniXRMSj
txXuAT0pSKfKunh8zV1owlhlrvQJZCZwjKuBd7JppSDtSdPmPbl4DaVUH50yjrQTlgZjDFg3zbZ2
JzOAjM75hkVJhnaakHwbkizs5jzGQyigX8kmQnbu2sVeSeBOKsyjvXK0ShzVuew8dO4ADlNd35Kp
UWxK11aupL7M0LHifT/hMZuYq9LRKvWWClzJg3yO4+91bRmXYQgO02dOyiSc/n7WsfH3NS41uIge
Q48ClDhJU/Y0zjcQF93zMBGZlJZIhjKoOQFSHzbMrqqOiVCvHYc+X9d1U+X1dfQCrjj1y2qWKyyh
cc4ZznAEFqig1Dw0Nmnu6s+Rq9obhg7oJYokLp6VuntudJvs8sHZGeYa4lHVwzcx8WB1ErEcZqwh
XL+eYOXBlP1mwu/gzZlO98GOGEEt+Qum4DgY+LYQIE5PyNQv4ggA1tLQd8+fYIGt660XVdBLzBSb
SSdPbdWy54kbHtOkM18y2OybIhKWR838gc2a0jxoaY73GOSbU2WlJauls3eqgB6rtUZyysmsuqb/
IITfG1PvBANjuHMnqbdRfWt+s7Z/yBCs19idHKsrkQlR6ojvY8kRLcVsuS8MiXNOabQbEhfpCNTt
m4wnebSBgm4Ek6gjfS0/jucapJ/V8ABWsiNzkeFmycC8RUnzynmNUmwuEzqeJC8cyr4e4AAN3fw4
SFrq9HsudUbhD5RS9wn5056NqPQitvTRa6aFwpGAqnBcGrrvvdLCce+/umpzOaqzvkFL9lAqbHnM
Ho1tbSEmH03deYwntdighwVOImADanBS78GLmQQOZdpFOcenRCmfZW13+7mL71oLigs7KT5GqqOS
rJy7uNKe9TU4Tx9K41uHrs0XUQtnQikeJobF73VdKIQQlA7MALoeFN8ELzHSswgAnyUAgipKCT2r
nfDrQJo2wq9haGlQzOMtAtulgqgBKJH5zziS0G0AC8a0q3LGmcxdhrvxFqCtKVHamRUBkEMI6gR5
pyQ0nnvAEll71EpKySVhlkbuMdFbfJzLLDXrq8EyKKzVDE+HRmqWukE2m6OmdHK1C3oR12csV86B
f+GPstJ51yLt1kgrNg9knUemtdDYTB6uDN/ewgwl/C5TMpQXVg9d1EYyZObTcUlsZLVCfWh5JNEN
l5hptLUXSKaIN7u9jazcGtZ7giovgfiimVTCxHawJVhTO4x7eB57e2i+Rs5ynFjwAJxrccgi5TJ0
O2qd3GyCtLGPtTrILdovO7AzKz/WJu0/TJidV1Lqe1SmmhcazamNhhtMQCuxlhUfzmbgTuUNTNXS
pzFjk0tADLWtyHjH2YUG4lIoV6NmPCaoeC9kqNT+2FqJF+UgVmNRR0ghC3U/IRTyW7PvDiVYezoX
YPVFht5yDN2bHqviPg1HKKvV/DWLVDpnctaJnm6Rf0r9NTQH9W50gM1bEzFPXtpX43ezs4c79j5t
Y1km8zEcm8e2oRkFA8dTQwX3S+so9FmweActCS971yovDZmDXll0o/e1ZHT7gDzfwibrJQazx/OR
iI8Kee9cv3RqVT2biBOKdXSwvGVajNgX777yUllFS5IDEUgpD7x2o9v2hNYybU8AizTPdp00JiAy
OrYKjCO9mOdX6ixuraguXpJUda6qUQ8hW8T9m5JY71GrzujfY6U7NrShb5bJCJEV22Pp1eTOfXEm
s7/WtNhYzu3kVPjS7KLa0QUt0GZKvfaXxcXHXTEYRoeWTECLEqZ5yTLX26TWYs4LoXJWGZcNnsnD
YJ+Ew/0cmV+oEMy7JoygkzSz3HMfzIHVdthoXedhdEgaZM6t3UWYSDzcJVeO2oUvxYRVBRmw46FV
0xI/55CuXIwaRc0J5AChZ3KIL6gh5LSNUJgS7pdYPap79p+NJbH97qJwnNYmEYyYkV4YNU1hqURC
LozzdUIfkNZaVfvQ1kZzgWbZwYBVQdtm+EePb8YB5M3sC88wY1z9PCamuAcdpFq+0/TLY5+h++Y2
BnOo06DGJ1DO3aXe1/3JZvXgs6hHuRubMjktdV1jKqHBw9C2j6iY5lFib5IFLmOMg17BLvOMONX+
arQxgq6sT+W+dvD5NMrUULQ6hlNuIiUnlsvRpzsMTJLmk8hq9GWzIHxMUwgK1Dpku3GUMpSPwmjy
6anNt3M2TNjQudGCBfU4BpKOgzeRxzmZOaKo/UGv30fK64ARwQ3OZ6Z8QFmOdWZJ36z7cYcbo7mZ
okF7TFMqcOaXbNhLa6rXXbMKkPNmcG47s+V5yl5WXeeLMjwqRtIfdbhb/Yfz8bKdFfmY1Yo4i2LE
aF1DveDw2uk3HaTgW1IhOb4Q3OVeKEqsvaLfy47YGYc7TdNphk5az11alWyrm8J0SrxjXRz78HXA
r9ijwROrH+kKbvTWjdIzHf4VduW2en6RqtpsbqU1mnzTRQpbpo1SrHnd9RJ1DFutudYgb1XTvVjs
6JgabJVlTlZwDuXlOVQ7CrXFwv9Cp6M9xy6REJsoTZrH3jKr7ajw1I0qg4cZS8rnsJMEIurSXa2M
wMhojV604WQfhlHIoO6s7FSrZUkuCxjDU0UQzReZ4nxhl0UdhyYEvGhrhGwnUrmps6Y+YxZy9kWs
RkE3LPVu7IThEXPGKlHaUV46eaE/0b3FkcFQ+15Q351Ano7bXlL908606dIouKvilOhL4oJp2lep
F9VdcdlL900ZVKTgahHurdiUvoLd/dIduDVQN8TE2q+8fdW5LidrOoyzORwtxV5gJ4SEQCKHYNG4
tke/uT12yDkuGR5nJ1R6r/AK1GAIZ7FNnfklIvHQI92Ok4GT0lZUw4JeWTs/gDUJtzbgtgA4rh4o
LHRya+oOWTRedlx39GyqrJw1Gm2LH+uT6iMvsTfSrKhloSk/Jzn5qhwVlj0QMgvVhtr1145d0QdW
MROSaKgN+e1kxgkYLR42qZlVGf2sITspduOPJuMbeqwqlUYVb1WCwMDnL2f4sfx/Ed50+jRfjeiY
N9qQPbid9qQTb+ibxOImBtGgdEpe3BLFsxsx8BjHOPJxTAm/tJVqq6mZsR+NYgdZ6XZxGNlXBqlK
LlHViGCWKz1O4FakzSNem/TaimA/KtqewkruBnQxXxVw356mK0+6QFQjFirk1eG2qxnVbyanfykI
TLwZ++aGeXQ+b0Tl8GhX14NgnCtXDrNrj1DE+NDASDoZg/LNUOz+8gP01bL/bxLGYDR6XOMJDc1K
YphOQ11PhzZv/ju2hjmRyPlv9I42z+HfTa0xcpff32Ty1sufZ9f/+rF/m+7VP9b58ipH15lTM6T+
X06R/oetmTTSdBuVOjE/P7EfwawyndZWqR1v4mOq/WN0bYg/UGdZ5jq/pteEMfCfjK6NFXn0q7KP
nCGUhegdVdtctZm/Tq5NhFKMlZNhj2udfAxiP4J4KekKSfk0W9mrQ84n6B7ADiW8edzrQEQYA2VH
R81qmvPOvTM42REBRkZIQ37CEIgzRbHO9K64QYRSosYCvEOwM0902BBbCibhNxHYF1QiLidhBYaM
BXsf+PlNDQMVbVVYblKQW4HaYF+IVF7zI7EtVXGyCNGwF2TdE8ag+x6fB330ahV3pK+WUgs/L/jr
2ToGrgYbmMXQPqnwBLzFREP2QcIoQvtBGcVtqquvnBYSfrZ+yqvkvYqkju3VhrlkafgRiSfSytV8
VhOYDLLpySK3hErAhsKu8PFK6mxOtnSxBsU+tK0DalHKIOy4NEinCWwq9M2SZu9apvCgYOK/qZy2
80XDL80HLoGRRV/4CFwG4RyKBGIHDkFEMIL3MNSGEsQhWqA+BumXGsR20G1ec3UpoIfMuBkd8EXr
T6YGmr3EZda/aHRloplLUOcwp0ypLji08ht3zoeA5GW+k4h4CdNA24b6hQDDhjek1xZppUv0Jetc
RIM2CRNuVb7PJQTuhhLaM0NAduNHfjvSwTfSPaHOwZFyBQ9HvVzLP6bt9CpRVRmSpFnm9RqFndvd
h06YkQRnhfTfEF7ViyBAwuHq6TxT2cXtg6Mq9x+LhFRHDuxG0/m1zTrg7HmDwxRIvXDvR4ekQi3j
H4Uwb4aENxWlmXHQFUx9Kjgieny0C20X5ySaMFaR5O8KsJ5JRxRrU5FkaIM89KwQieiisbCIu4AA
aZpn1vP75GY6oATeej4mrxgb+O4X/itFRr4ZVKX0R+l0nj1U/EzBVULHRbavTYqoaMBXIWV7+vi+
C5SnuNdZViTFcXaNWTL2OvWrGmrNHg/VUajROzc5qxoMMH1ZVqdjs1Sq9V6IGjl/yWlzbSwnfUUW
zfePWWAz1FlyJnrsYBv2/bzwzY8N9wkk7fBIt3O5JGQUuqXdPRHIV3uWzTfs9CwmnHrnj4tR1qs2
QuGvgiV4JVuY8aOwadhrnRkYHEG9PININpf0C4suJaO8RvEwMvj0dLQjWzQDa8ZcJfwCVAO6Pxhg
KCG6C6dTpl1kkZcB1wpUhFwQitnclFj+T8mYQrDqwYLpJX84jWV26WjcqFS2wneGOA+yOcoDwX0i
8iG5GWKTrLh1gaTkIAsVdd5kkN7cV7TQ0IByMgSDDwTRzY5RLIDWCJ3mrbrehkwFvY/vVgEztUHS
eLKwYLKFsATKGrmFjinS+1jlyxraCYrR3XWRkRHtwdTM0mEu0iqrvY8FsK5wbvEb4kzLnT6zjaGX
IZxmWSFi69cs+5EpacsyYoYg1wZy+FJje9ubazDBgtHLK5k77kOXCALaq6/JzL+MavZO0LkOj4G7
RyjczYUOeEwr1fC4Ar5OyFyms0mPwhnTVyWCDk1Ptzwxp8sCHMuJ1y9C2Ucm9yk2NvU046zd4tZj
5Io3/YTYmFcv13S1tHgpOzYHdSkpGYydG9MCF+R2n5CTcyjpdGsd4eg+RFVOZpxWDyPtXAJm8ORQ
2Yq9wFMdKHnEphjBaiNdW/iKnbm7sNduYt11djDq5x0TKCYjxsAJsuFjhwNvYexRPXGLVHtQ1fyD
DN9/7U2ai5Tw46YFI0x4QqQwjED5YLYsidY0brQ5nXcWil3EFNX62GHWPzdTvQUxz/cHitiPG1Ge
JgC3597O3l3D5NLM3AEf1xolfcbYYxVTqHyvRmllAWrgzldwYKFUNpuNnSvhNXwkrFmA6HdO2Lw3
YFvtok8DbnoiSxP2E0PJk63atm+OUMyA2FFYlI39gL8ReYwSXysj9NlKphxL4RHD8cXoBtMtp9pF
1RFo2QhlqZwUiy5+vnzNzJxK0KIisAKkyB3WFtRMr1paTb5ap3i9E6Hdk6Kc+50z1uklEqr+mIyC
r1AXqO83YUSrPEhFk3LmTSSyHcMKMWqreWRv224a6OJmUgTT7LZdgPK7xgLfNMqxDvsXRVbVt84d
3oxEVBSN+pS9O42uLMD86WF0Hts/5vKyrbZukcGy3bQKapA6bbnnU6pQsra0CqqUE1664KeULW2c
sTvT+3Bo/bhGV+wZxUrlCToPo6se9OApjF2d43Kbq2iy56xJzuZgaXMA0yYkxrynfIht6/6nUuw/
8Es4NrZ1TE0WUEeL1O9VsfeTKY7WPCjVqqX1lcyoJ5b4Pcl4uOgMd/sWqqEJIdQzElb671/3s5np
43VX4KNGK83Wxad6yp0NbXYZIu7V8WOz4x7UE5Tf5FZvCEJ7//2rffasfLwapAcL4SHBIJ8xk8yF
OK0vZb/PZxbIWgm4WagEkQJ6+OOV/mt6+ptDgKvqv/U8+QnMxORN/k/1/j/M+vviNXn5+TTwr5//
92mAuANBoc9Z+F+HAb7PH0JW2/4DLCoSUqF/tkDpsEldg6gCPFBo/+yfEVwOSYMsbv7Q+oB6/TMh
6ycZ62rOMsl3UE1wEBxX1k/+802DPQCC6DyJPbJKr4je80i5IsUVIMhHzuSelu+xg2JBQsgTje9N
qnd/c/usJ6xfziPrW+CmRV3EZ9ZwZP36Fio0FbXjkNxetbM4h8bT7NanbsiCsiCLGF2KkE3vk97H
2TcPL2s4pjtkuWUwas8GJecS85xXoktifDZJ5WwlWoPaVs9NDIfbMNGZ1unqYlwxEm9rpPU6L+rL
GJHsV5q1dEViEkANwJ/zl26pdkmBFF8JZtPdGxWuCoKsrROVT4nbR+BIoZfT6Tp58T1CuvKBJNtN
y5rY02nfFDqhQZp+EfUjaX7pcmPIbk2RoFR3lEvTTNnTpd6BBzsZSn+Tx2UfMNfa0BKUN5b7rOqw
PSPYiB3voEhVBMC6Z1jMcRsXnhlgxCpHpVB4bZ/dTkp4n9KvDbIODJOsv/Yc+3ZJ3l8zr6KVVr4u
Ue8BJPQapAc7BmbOZpR0QgG0vBWTIQDP4h2axfhWGpEfWX13KruRmRmWK0yovBi40Uy/ioo08v67
ufwnHQZVFeuD6f8Wxm8JZEm+/bKh/PiZHzsKpkp+BYZ/QKxE1tvOT6ZKe1XGW+YasEKwygci+d/S
eBJZBMNmNhShC6KGjf+Vxht/mLQqaDoIi0MuddI/6S/86W62dNPQYcqZOmtTfHYtRihh6J0xgNK0
PpIcL1wIeIZGnLrB8I3y1GxLgs1ROfouk9+/2Uw+PR3xM689FHJqEPmbOAE+7SVNA99qQCizG1EY
B/ZcWIGaaLk/20mx/+lr+Yty4y9fynXooNiGwaX79FKAk+nGMkncGWu8PEz2keMt+BWsps3/x6fi
Uro6Wetrg2itQH6qbBYVbDI7lNzl05TsJoKr/JYQKE9Odn/4/adabQs/2T4/LiC2cGEInUUBB/LX
l0KS3mfI/iTpmcRMDLN2U7a99T4Nlg+5LfXsSocThXvAqwXS6d+/OGvwL16cc9a6ivELf/qcZGSF
oV5LuVMqA6RcOuFeVBlA/v5V/vzFmRrrkuAgw9KYPn96lS5ydDTYYb9rXeyLrE1AURsT6ecQpGAT
ir/5UHhOPn0ok+KY6nDNUxTWRzvupy/PbAaNeTeUGVo0Erx3+93WtXcH4u1GzQtCHtK/Q4P8+TKa
mqa5GFQw8OJO+fRMD2POTo5e9eDP6F+XIRiSWrhV8PvLuF6mX1cKr8Lz2iUkkqOWvl7mnz4XKEJq
hybrd3oyEB+nKCdq0KtZ1eiPicLc/P7V/uoq/vxqn740QKZRAwSn3zkAzzZhhcJ8YCJXpx+CGZfD
Rpa9/v4lP7L1Pn9CvEIWwgYLVPznrWyOM4IKRm47NbYMPHkG8j2xikOrxdn3VZT5fXNrD7PjNRhT
vjHHdJih63s09tVu6N0h6Cess+1o12/TpGPxAfe20ULZ3C3QvuGERp5KvOLfbEzqX3z/ujCwydMz
/rBC/frNOB19mQpB+S4ZewwHBmMmmw6uOQSKoguCGFSQOU41+jpXD2HPZHxlmjZxbnbqsy0XnYlT
5F6p2GP+5l4w//KtsT+vdzgpSJ9hGKmbWxl4JbmbZByAKTf9pI1X+wA0666Jui9TomNVGgms9sHW
lMepZITehTgl/GJC4DqsaRsrNr6ZMWLoKrb9sGR2V4J2pOrS2rNmLQqYeOZ7DZ0bf7TNmvZUC3x1
TJQHOTih5+oJuD+mK1tSCFEX6a1DrTMdZdbCy1ZyiqbQdDdTbl7ERvalHx3OuwaymBlr6LbVe2ZH
irxCqIVHNbEXykfaHFOYhycRz6udvBl2WKQULzTn92zWb6WDNMq1o2wPikle8ZvL7e9X659vECIi
KQy46/HA2Z+JHlNHa8ikutslXXxWiBn0Ekcc1GS6J7OoDtCtq//4luQVTTZrU6wHEZey5ucNwG2n
wQEcJndtCFuuM9Zokze3NE6tXhrAQa2n33/CP+/bDhJ5lO+YAuGIap+2tQ5HSsl3I3dEktQM+Izx
APSIrDR8Gv7vX+rPy9Qxscto4Bfc9XT2/9g7k964kS0L/5VG79ngEGSQDfQm50wNKaVkSdaGsCyL
8xhkcPj1/VH13kOVq1DG63VvjCrYUmYyyYgb957zneXvf7e2Rb2r00FX7II+0Q0VEKpjNSC8+T+8
ivB8yhQH2sLPX1mBAqPoBi6g4bVmi4M8MA59E/l3f/8yFgXhTys1n8a3LFAXEv2F+9MXlSXGbHl1
gGoSRu+mshRS2hHLN9CjinxrtG2jw41PbwN5iv/c4taoGP/+ally/uJtUMJYYCUggYD8+ONFbZpK
zImWZHuOuaSTHeS7cEi7nRg68sDwPomjVcI1aM3qR14N8oJxAEED/qubYp6dE7Pgf3Bdvo//Hf2o
7n5by//jdwHlP1MuKHd8N5CkqgWMV6lZf9pWImEYRhg7al9GfXk0W6RNZj+s5rJrbkNFIBaWAdDE
JFmu88aYzj0C+LVHw24T+MiSgbT/yImSuc38EcXN8NqnBmL/pKsfphLdIuQhktajeDiVU35rmN2v
iou//gABkYCYjAA6LoSV39+podUGoP4HLmo8XaJWEvM+iOgLoHY2fdKBNqFC1UhkQMeO1RY47+dv
fiIfVesFxx5jyXr0W72NzSq4r2ZZPfpi/jG7YXlyfBrMhDVPDIFSALFpl+9aGGe/2BKs5Wv/4y7L
V/C7T/DT3Tl0OW+4mhR2oDQ6hWQ/nbChlpvUMDcdCWPEXRPImKYmyGfGEqpG5vb3D8jPKLXf7gJa
aabLwwgp46fHHVu9QC7Rq31qxIvaLvfdN8qqOykUMYuB+U5+1fgsbSv+rtp112sQD5UdbzInZu4T
qZ2NMHbTAloC6GsN+GDsHhcbL7gfXWZkhFJZPya8+SyV8kEyunDNtNp4RvBc+2l7sLRrXhuulR9m
XG7MwR68iReKhAXFYAiU+4tr/ufSzfc4DYIuWPAunJb+eNO45H5nIYO6fZPmz2W4lxqChDEj8GW0
4PyiTvyLZdsz2ZUIMpafgeJ/fDEk4B7NZQuEeFR+oJSHFWkxohIjfrK//x6Xs8lPdxKvBJw+ELRE
zJ8Le0RrPRIvlzupjR4zy4me03wGp1xMnCZcYlrIcPAM/xR6VvyLW+gvdl8Pw7nHaJ2NicL7jx8S
OTlW6dQkKpRwvLDz70bZXEwRfuSye+PI6/1ig/qsPf/0WV3875bNgdv7eU0PtKHGJOGW5RheXiDB
3NoYyDcLTmLt6PmHGRaPVZKPm2iqKW4EAyRN6tfGpFr5+6v+lzeT66FnsB0p/iQnSPpOu7Hm+R38
qtuYtcRTEod015IKuEKcfvz9y/3F1uxhuF9kEJy9OeT/8UqTjpZFRT/yJSMh2iPyD9czPJtfnBH/
8vpadDK4k7i8f0JDQUiOMCjUas8ZuV37mlwZDfWcUbJvHAkH4unUCEbxH+aI+OF70w3It6M2rubZ
+9Ua+edDue9BxbM5lAvJtOqn53XAhTnHCtuDoxnzkGkf7VQ730x6AmFZWODiVYG0VsIFqbLe/MVj
9TMma1keWRc9LjZ1u0+ixB8veRfp0HZKE8OmJeK3WrYGYaBt1J0V6mNMcyTreOuq5xesjGnhqGuv
yd0N+bnogsk6jDNG0NOArcthmmV3XW8t1A31/vd3xl8sNEzQPY/zKHBE+TMQMyY3EWKN1+xJAmh3
vZj1VsDWwWBLWNG//VIofAT6UpR/Plfnj1cEvS6m71Y2e9C7xYdwJnkPbhISo+GZ/4ePRQ2KU95b
Wmp/WtVgBM2I3UWzd+2kvQ8AgYKykuFV2nZ0Ef/VaPyLaugvFjFeibYIJaKkqfXTNkgEeYRynFdK
wPRvwq6sHwpATlt2N2B7I9QIUcXTL5aPv/jWsAoA7GSkBTMk+Ol5jiKz7ILYJcreXoQeLukbCXbV
DdGi6hcv9UmO+3mHoNIwCdgNsBL8iZvpZ5A2otniFhEL2tWbpg5NdCwGQD9FWOboOYkU86jJ83Xj
6MHYcXLsxy12TKe4L3yXhytx6DEeQzXlT3atCVBoYWH0mzrPSfshhDr+Vg2ucZORr6KQguRMhxVh
ovGq5COR6+NVjFYC7Q4W0nvTma5cyLh74Lxy3gKTICMpIn3y0ettqK25GF17l1rF6G2doI5tcLmw
2394Kc2SaFVzgomvxrgFzNAmWRvD/6is6ZiXdNf2cWIVYmuYtXXCfDcae+Lntbp1CwawqN77Kbz3
lJWXO/7fGHbF0KoMiYwIMoT9mRbRjS9LF9qa61Tprneb/EEbqHpO4KWqg9XicMIh0UL6CmKM84i9
F08RQO6jjLCvrf2+qrLdhHSe0Kp6KtvrVHOcRHwV1MwjFCDubDNqXKCbSgNPuCrwSZr0HYoaLjkG
RoqrBKncN6lC+iUy7EYCkRjxPuDON+S+6lQ63YFVQ/SfwBnbTkYTyItJSF207ScS2Y4UseOu8ccg
QRAQEaQq6mieoY2mwb5EB1YBuF3afyZwqmzVIG/+AgU5J9CpgHGtBA7pVVrXLmqG/p4+767Xbv0c
1nb+QsSCeelKb1iFhHMcDFJYt04TnPt82pWN2o2Icy4hnm8t4mibETW7R1Q7bLIgY67V65OjJ3xu
tfpG/plYub0dbvp0dHaF47wLxxi2TJwYz4tW7j2Fpy4QibcXmBGQK2HTS8livVKiHt9kR1SH6InB
K6UmVstzD1DhZpzb04rgKiC/3hYga3PnBuQWW2aZ4IrGWNObiXXlE5Zw4wx8H5wWEsDd4dMIOWrv
GtZ9kuAhZToYHsNAZOsxzXqKCiXXYIXdjVJyvicu59h0gnhPkOX8kZ0zukvjINpTNo72ZjYzvFAd
Ti5AaHqdyay4GhzE4Hyzd6QvXAojHrfW4MfAaNp5jfK8B/092Ytp0byEUV6/omoxrwmCQSjWYW0d
za798IymXIPuqjc+Deu9rCoXHWyApLgMx6NjJvZRTdLf0qQ42RYwY7e2dpk7vRRm37yUSXgATvKQ
9NOLC6xtO5jBAmmBdOgtUIIoK/yj7mW500YTAgQHMBX44UmFTrLxospHuiTA3w0L0iINEDtzbrgk
raHvmqhFYN8zZhwcdd1NIRG/4ww1wSh/qGaoAf51CdCZojiUha8/hEKKPyUDGudNppMO0ge0tJKo
PgaJZkuURJUE3WNW+fBnbG6e5wKk6riRDecINlMWiZRp49eaa3/bDNxl6YRGjPDSo9lH05Z0tGrn
WbN/xX9U2NK43CHMyUld+9MQDerrFLdSYSq1QzFkpC/Z7VfDcqD1wXlYGTbveS8JJvg+yjmrD06G
o25T+C3coKlivn1tGB5imEz6eKNyuDrGifasSb5L1SSHtuVKkVZb5qDJC/0Y09W/s/PUfgyLMkuO
Q+oB1A6S5taCDbFDloojZAT8dooTZb55Zkg9ScpBvZWzmV/VbLLfsRpEHsqfiEjIwU2c63FU3oPQ
GTFoNPd7nEvE960+haUzOXhfmDMVH23dopOcSDp6LUfZbjiiueegtOuvSVAOeJbVtO+oWB79SaRf
MTsw3jXyEeu43ZxmKNjrZCxBzAggYXThGIOkCnRJp3vuBERRzQvew+Z7U4tsl41G8yIbOzmkbdjh
dRu7bJdgPH92qwbvhKwGrLswxrtNPyseDniI7jozkdhFnueuUwquY0+mx0bSQoY/STLlLuPcVByK
GmgyWS+RfmrCIZq3Pjm6EEkAriSwUQSCt4LR4LEuYwLlwOMPpyhI4wcT4DwW7ba3d4rLaTwh3eEj
guKGoRQBSDmkXqaftD32w00UhtE58Ynnq0zUjhXyzmsRC36rQwqOMBPvQXfYzsgTkc3Jq+P4nA6q
fqV1Z29pnLnnqOVR3ZbEQxKWMGa7ocLfuwf1FZ1hLWm5rt3YPfMQNTxUfLs04ZtTVgTiTBh6/dbq
qL0Xc2s9qoTrnRCqt58nNGd+zEU1WjFhPbGb+xpr95u7nDDXpTcj2c8aYl+4ssnBxcHMskeQkNWK
Bq8bEOFZq/qtm+r2Rcdc11nK5ntlRfh+5z7msjbwEE8R3Yh9H3TqHTS9ewYGahBiWgXReUzcBKeV
VxTT+5w6AnFibQ+OYKI+kCdzbbEtY3YLmJYbKJ3hgpZEDLFC9fgxm8q0Hmtrcs+JW4VfavLYbz23
r149DOObro+xWtjGTMiV9iki3R5xXQSn5zS1ZriJAGZdtcRSHUQgxy++kbIuArzBNcJPw2+Kzn3Q
YKmIfZcKvDR9JhZOkx/bLIS62AU0cTZJhnCUDG3+AWI9H1fDkHebdK4RNcw857SxQNlOE01rX2r1
LiPhrsNwysE8dstd3sc16JbUdh+SItZPyCN6iY+UN5m7Znbxu5Z41zT2HkiUaMgSK4f4PHkFMEgl
yvYlb8DB+57qn8x6zC5kH4nzEuNw7aKivDRC80IZmax07DDpUmTEZ6G4anjnpjuwP9OHOZOfY4xL
XC1N+/BiI1E7flJxsbXyGysIvpTs4xfS0NU7zlsyCeaWlvjWACv9IWvafOsQKvgSeG/h0yPgCUud
Z1QIvAVsEaK5DS+8COiEM4gT7OPHQmtAbXHPnTTja2bp9QR3GmtWfM6zlLyZAtvpneGkNHH1tETr
msqP9dFzKr8kLLX7qHzAkMwuinTdFEPzgXHLehJRPWz0oKwfqMSJluTRa+5ZLeaPyiY1Y+3Z5ZIK
nLr9D9vv4WeFWnLv1zWXBc5Nq/ZQI6x2BV7Zepzt3LgEnclqJj39Y6z95r4LSxr/jV3fdnqCg5Zi
DbM6PzqHHplNHYBhpE6+c2QdI9Vgwtd4LI2oe26SpDTvWwP2GuFfkCSO1VRx8XxH3nAmDnd1T6AF
sB1b0jftyLoFD+y/At3tbkPSj/Y6z/VBLOlPDdvmtYN0uAdhFiV3nlD1rkZg/6WtNTBQRHodjLZd
rbDdEUVWO29uELk7UUPor8WE8NAB2YKO39tbXK8VE02xydBnkXeFi/JiFe14RxFCmq8gBczOl5Rz
o3roAnGj5aLHM82EswzUh6EP0tuG/o9JuuiJmKaWl828szkQEB7jvN57DjD00UyMmxFfwbmEoPNA
RkZ1DGDmRiy6xbyySoaNjeWaRzfpTnqa8k3Cs3ljRkN7XUaSNNcYpRClPiVgwPiPFuq3wCXhPJPl
eMkq7bzrXJwabPQsaT5/OODuSs9CUdyJq3FMxTP1NtEkWOHfgmGZM1Ud6R6GfWyAoTAtiylIdVpN
z/44RBezjIedHOuDV8EeCAYDz1uCit8f5m/0/4qvWSFxlsmKi2TjPmWh54SzltMEdiDNMtJhDBPi
WGiY5wzswk71PYMvq8duOA3DHa4Mc++kqXroG3hozhBEl17xIr0byrveDMoVjWl0RJJwrSAJvCdC
h/NDksinkUy/Pe3SmDqQUm5VJFO1qpIhvkmA8q4ryz6Gzmy9xWY47LRvmPsOee7GT3pnM2geRlXH
HVR+WoXRNHlXFBfiORXuHgZ2teNxYgGuUk6nkdcE+yAPgg+QavbzWAvrNiiCGdVCIR7reEzXIzXs
zmXtuipClT9BJpf3MIbVztVqbHaSuhCDZ0uOwzjWP2ZGTSAdoi65bVJug6REDg3ntoRTX9fkoYgi
VesRmSwUXSy3M963XgIHsnGPfSMgAqH6UB66rMlBrwiDvBvgrrNpP3eJUex4FHeJMyOTZ8ZGQSb7
20K44RcQZZQZAiQySyAuHL9LLr7ZzgibHf9KTQu2zowhLefY4pzWPRe1W1XreAgshhY50ISp0jce
KSwlNZqR8cB55amOxvScp87iUU1nQFhtW3IszY2Ux4gZmr4hfCV9KWzh7eG4l2w5UBhWzVzT0ugT
Y7wLQqe5nmhmL7YFnRCL1KbZKRgS8+JKcWpT3M6hBr3sq+wm51u+UiUKOCUqwq0Y8GA8Ud01fd9p
Bf/kYI1G8BIwM+WcQ8ppias2dud1U6MMT2UZY33QnfUyTqI9VrZ8s2bvR4hT8pWKNX/NVVGxaCnj
i8xdYwcKjhAFwpLuJ4+KJZ9a4DlYjWc8syG6dLK/D9omN+hkONUgNlqaCrpSBuKTRcOrzsawhFMQ
SlCdad8g3rYB1FSMAZbIR4BY6WtRpOW93fjFPQmAELY+Q+9SGMTvubJBIMEcf2/IoMM/YfALG1QA
Jxc6yQPaYH94aal4+N4SDjlF7OXsEoYH27n22VGWuEN2S3pnc26BnUDbjY0zTOxH6mNOpqRJilOU
jSSZZlX3rnpFE4FovuIjI6KMpKW5C19NmDJvWUws2Kpa8kAViQ6vhONxCBdhYgTreiZ8znCBLGBx
0YHczplbPuRwIPiS4nGodjLqdLUTwUBHowdgidbc7hf3RZlXD7HXw3gIoip8dS2XnwlqIo83JJFl
7obsNG6j0oH+sQHZDmQvdZFLbUpUWpJDzMiLpoko1VUyux3nRrPUFviJekiiHcUrv3mG010dxUD7
keS1YDIAuy0lAPAAPhKHqeA6BUJabry2oGjNQ7CoK2jW0lvnYw8IotUxOk349FiZIrf4sPueV+0b
mB6bAcfo628X08V6iwWc8SRmCWWiTJPWPBIwC155T+RtRNabp7I1vSAuPYzb8sFFP1bu8ySl3YOy
AEt2mY3ZobboAp3tBm7JrnOxV01tVz24A4oKvkLmreshbPh8mXTph7SQH9IrhYoB7CUZaTG23U5/
aI/e6Kq33Tq+8QwrfiQwxt6XfVk+F1Yg7zMZNHio4Jo84mFRExJTsHtn0fOhD7Y2eY9U5bzrhBwY
TnkTNnzmfwDY1nwnPLv0/uNpQ1+Gq6iNjn8/k+n8nnB6SVa8WaDiSqsfCQQ3gFt92zDACECQ7M0s
scd1bvL8wC5y8W+V9P9OAwGD5or7kIqOQII6PZpeSxOlZbaCSadJMJbzTHHgZhNm/wJFSrbWqsQF
WKzteZzzc6wdc90sJWQuS7vDmGHHJAeQngC12Twxk24PQ9FjA4v8ESNBljzNxFx/GWzcBZ/9zv8X
uP9C4G4hV6Rj/a/W8OZb9+0/fvPH3n4rfvzPfx5J9y1p5Pxe1f6PH/qnCFVCWmbgwygfbA8AKn7f
P2TtgQW6mUHqMlNHg/apT/1nsofNX8GEw/zqEcqDRulfIlTQzYtqhV56QBZ0YHr2vyNCRf5FB/53
8zGUb2hcyahGmraMLRYS9O/n4omXiBQqS3waG0sSBVxDenNTSgiG4oZaTTBCaZmlwQO+fU4qy4wg
BJHsu0zMIPk0hxabfUjeZO6d5lmKcJvrCi99Z5rjfc8DJfZWKifjnoTM9rlhH3FxbzoRVhzwaZB/
baWvc1LXQUqF9PZWfWHOYJcZk1wHqQfORQ3tDLp57gBCpRWpsLl0SIxeVI9Y1iqaTSqs9UoALHkL
0kl+9/NYbzqwANsIDmC5iuuFCTX5NHOIvxyEfR3YcM9UUHg3g2DpLXR/UXQWdlIxDF1hB8X05XpW
8lCn6XQ/xmZ320Z2cSngIpdbOVYGBaE/Ri5EXRNEm5fWl9ytNaX30MAZrKZDhDTrZBOIcmXF/h5u
PugdTEnVzi1db22rmN2xGzBtQvejxhGdtJ/zgDlQ4rT5g2XTxw5i8RpxIDm7hOFu6HQ5d72dtkdN
QscmtmxSjGe1oYcjt8aUeHhojPzOkUZ+i/Ho4pqDIoc557RejzL+Tn1e7wWy1DUe3ezKKgoKcm9s
Lrp1JJc9TqIbNk1xO8Slw3vr5/7aJHbArqrbsG6Lj1R7wQ5r7bRTLjqUiGbYBZH0dzcMq40VUqZ6
RtxQtvAHRcpzIDDCthLYc527Jz0QaC3pID2kuAIuzhiMV04thzu6V7QnsvgtRf75DdbQsJmj8So3
3WnjUj2tPPptq9arjXtdjcVD3mZg/rNc3dog9dYdVwRfW3bf5ml3a8D1Wic8sV+yccbUoOzxdqKH
uKkZD2wtl3dqcBSArhlGj7Mv2ftyv6GaSMsq4NcSvLE1QcldAfkwT5PZv+f8+3PUi/xeagAaxF6G
wUXSJb33WWghhoRpuFp65bdiIammtTb2GQeS/Wz05cW0uaOl13fXdibE1QQRvIauCMfXVjcVAuWv
upVM3Yyui4m/ja0NXbGcrBZHi02TZcO+h2a3Mxrwx4jCT2bs3WitGoogIlRplfjp2k/hHeMz1iCT
uQdp+9I460OjI/y9ezKMfBer+cLMz4TTeEWkHf7cpnyZhj69i532bHQU+YR+bsCrXazGzLck9nxX
tZTHIq2epkW7gQ32tZBtDt7HhvdcJDY26YHdc/mmpneDZC7yHZCEzL35DDNxXOspCA/wF42bwQ+C
bQj9bJOa4iuLoTrbdTHuiMSskL1H7nFqlHgSNBjonEu1KULELAb4Mi81ThLtI/QmG3Zi2Gx7WbT7
nIYhZe1p7pLrDh8j0ByUhWVyW4bAp0FoYjwRBTLItNgOQ53ssiEd1yJL1cUPnfy+9t3oiJKDVu6c
OUc0dON9Mebzvuwy5il13e6J9fNuRKsp8J3h2E44gDeDpYb7QXRPvTUZ4CwmrLiCgHkesEqJwXwo
U2MB5TYWPKq7iWiNgtRp95Yox7eqqdyt583BY0oA6A4pNTg3PwnvJsdPzm6svpWiFke3KeiwJdY3
r4ZatYpbs3tVhBfuaUrWm7bO7aslR2+HjIRb2gTzpsm2pMMb53cTyy5Z66x3GCc46pDh8Dr3AUPm
kPVZ99yDyTROr2TgcSTFrtQ80KN5KE2P9ptfFueKApohTJD39V3khtbRgZaHGsUWkgwPV5uU0Gl1
rDNNUygpO4SndRlculR+1JU5rCObEm+IfcIVUbZBX6TdjfHOK4uKlAtYjSP+0N5dmMaJZ+ysmaaw
b3fFboqpwlncmXWN/VOcT8oSBK+U3Ql8QLxkGRvNd5LtwdPGBJLg34wH2ztnrU87Dneof8h6ACzX
o2i9+5EN+8FpQx6RbODWO7addl/IcW5PMVlIBGQwtHnruPsBViEiJOLCCKWgWVnLS8Osyt6Eltme
KpwTp2YKDWxSaQkMsOmOEyPNc0y0/QNtRUeuWtAG+xhX4bAO5iH+yvRZbbUtSAROovibj9g9WDEB
QNkUTZ24jpwWspAUNa36eUAgrWvMToOjNRlH4wwbh6X9A7YkaULIZ+BIaqXuptGG6iApWtsVdmKi
C+l0OeMiDOohgjrNt6Y1k6/syRi/qAhvFAnW51C7wYc5xj0zlzx0LgYl9bOR5fNtYeKTt7z8R1E4
HljdwE1WSew0PX0KCO4R47OjW+ljwWq7VtQP02YCBwaHNeQqIjCL/adeT+419Nr83UjNNDwVvc0U
2gNIeR82wntiHwGCPc7Rrp8m21hXUtYhGm4rjo5tMo7fsyQJBItRFD4xRdWLDAhiXTHFxl0CRwPZ
qlO0X5nQZLdOXkdk3oedACsYFPMx6JvsXXRNBs6RsxncYRteVxkeMysrNlYW87ASgtuc5wbP/VoN
4LdXNgO7YjvZgXlT5/Hw1QVX9SOE+/rqC9oIJbnGqBKiIELO3AAAba1U3zHU5XDgkA78XZgTon3a
AciyaPhBQKU7fpDGUL9CPS399TSH/bG2OmfYpElKABd0yvS58RMcc37ldBdAFD0k69Fpbr2uzkmA
Xw4QvW3WMOtBKMLLi4OtI1vzK2ESodiWiZlhfdaGu+9zkVxCuHh7TmoS43xfouz2RbpnecYr5zLx
WDuZLa+noWtOVtwt0WPC3EwaHAC8bXJk8posT78V28aEwU0HHgRGzHBjhUbj3upVt1GuG1znhu7p
WYZolEaZ1kclBTCdIi/br+QRd7j1ol5Za5RF1QvQi7rcdhxEG7rdzfyDMblzE5pDvcG48gZwN/gi
47L4VkWq2gEQ0PmGJR6oLLmElbFmrs2K6I6TeUwQq9wEs5Cv2m3zQx3XaHbsyMWbPzmT8yaHNoaR
ZzlPQRfHUHYLB9IPEGASICoM9ByC+M9s7jP/QAMHLm0WNnpBglnfdID7sS7d+jUSYXfvBl1Qkj1l
A4wmEAgWiTn03EumgnBYSus9aOwGpBYwU+NEOkb4wmCx/IJ321M7hwT2q171017D5aNf10IALBgx
HlNgl+bcJy9NKW+jCSpSXGgaPcYWFkm8LqcuwOUYmHjyFxNhUJAd7AakNNLoMFa+Fck98BLM9W6r
xRuSeQIYRFUTvy4mibCzGJgsWIZjQYZSiUkXL4puVWfP2wFFytFOc72fBbiruXbyXW+a/bVlxFuv
b4sfYCp7BBy9J1FE4CRYaVUiy4Rw9SVyZfjmiSrc6QpYxIpvE7N73Yr+JrbHjGgjJ2NGGbpmvUqA
jAmGviJ9xyijS/yc/FEbcc7S4gw3FaqO5zwcCXd3zXhvLrgH8Gf9dVuPMO8tfCJXWVsE68ikRiyG
6OQzSVC7sm0IHUsCPKT4E7IXhbiduKWQlAxQ4UDFt3Vte9smnOerzLDq08D5/ppPmF/bIkm+h3PS
7Yqk65j6NXoXBU55bPLI2djZ/FxP49CvMQK23yKnkXcOjv8flpm0vznC/v+U/MtTMl6Dvz0lVwMC
q9/Ozcf3//lPS3z+wD9OyIH5X0sLmWMzQCdET/88HRNehE4U+z4+BolXE73TP0/HS+YR+cVScHRe
JIfor1TVf0Zimv+F9y9wF5vhYgfnp/6N9CL6W388HTP/XUyanu3g/+ac/CmI/p2/AT52p0uZMApp
ivHKSBVTS0Ajl9Fxs/eCZNbj8Lkv0V9lj8o+t6vPjetzDyNdxLjjuWZnYznTd8Lpwqds5jxz1Syb
YEzEWXSsPnepsOwdwNCfWybAwC0PkXya3G6479vaUasWCAszydTP3/Wy+eqm95/isUopCj535+5z
py6XTZs96EiMRHLUy4aefu7t3uc+DwLFeycmO/9RUgWQ5jPfpsGo6bU34kIhQ7XQ6zr8AJZcnCND
32R5T/lPcZ1+nZdSQ4SRfh4jktbsScUfhuNQjzCIYobbjvKOvjS5aOPkqLvUjcabGQoegTuMoT9k
YRj3VYldZCV1Ed1qw8Yh9lkLRVQZtB7ImLm24zTD15TOgBR5bONvM2roQ+6FauvqMP4K9yga145f
+Hu19DNWHOLzh8lisN67PXULdrNDMpBLT9vRP+Hm13uzGmuSSYrCeyjiiMkVEsRcAgdnfePUYvfU
zVlpAZgUVfAO3His6Ra00lyzYXHwCtpubYdZc+rJgtqieGV6zKmYlmozBlctgpTPjkm5MoPav2UW
h4iKEWR/0bJoDtEUVwcGR+otNkK/WwdJkVdrgfj1ocmH7oQyhPqI5u99BdmvW8Hezs8WyTQm3dY5
PUMIr+h2u1K/5D2RFyBwO5+mQkXSVTxP49LIlcHJMb2wY4gzpKCswG2X8bLgj2CjVo5XNxsxjEw1
TJANpy4tnHjlxSDcAet9IM6Y+oPZzU0CAsapPujy54Lx1ZwjMRQzyYmt4wHqIWXvKezH9KidstnO
wZQu6glPf6utwL8jgoQtj112FxhOCxbWaRy4qgENlRGt/3nuVJQ+NWYWjsCZ0aBWOZ0SDr57QksT
ghdkfFfYwWTl73y7NsxIJCwJ1xa8P3TXa7CIU5XcYs0uCH1WTbAprAocouj018ElcM/HUvkl8nmN
UJHKkM8PQkHfJ+bYImLLsnR5IG2y3hkV9QcnfQ8OmS1PFOaw1wvkVtT07ZqodqZZ2UD7mi0IhmC1
VWZd4Iyzwl0aZwtuCIxWMhLz2S7MxDyzruwusG6QLeAerARy9uCQD6YLIhUW7WS2nFjMcjrQbOG6
90zNCrRuU7gB/MkdKMrGvDXo8XgoxXpnzeEl2IFE6E520RYkDkAOpl0yXPdMXTdDU2T7xuU4t0Iz
0lx5CnavnfYFaUelAGRUee4eFnd3MQJ1T8xVQxs6/Zh954tl9Csv97N3H4b9huEmNgY62o9GD2qe
ZAa5JkcgBoXkWg9Molm1/IImQ0Atjx+AIzSMpXiVDhGJ7zZKNt1nd44onwJBFGyEhmBlVM4h7aKL
55XxtqiACYdNSamVmNolPiP3D+3sFQChvOVqV8MjnrKYZswUHCWmJyyWHgmJdmpfPCQFG5Yn4FOi
dY9o0GBOuwG8sUio/sYNMnPbjOl4PRW0mpxciBdZuOkG23BOIyyOT7Lv5KOUbn9VD6SUsEgp1hT6
X5xkEjc0vpMdAg44ziBWmghjONJG6d2sWRuzqPYP1SzEoTeC9HqwjGDcRioad6FNyEdXmsUaxQua
8iRrboteJ3vZFktpY38zvYD8kijRRCUyBXeDptsWSpsZj2EZ3zM1yrYwlBcJbZRztW0n5UH1jSD4
nqD/5Jo7S3JBMqLhjEOjvE7oDpxTiEfv2nQNtI7ZvC8629yaPlxpwK79rlV+8UIvyL+Lu4jTRMTX
/5L67s52ewPo51ieLeKSOMZF5iP+RAJNJtF9lcRyPshmQVQTeb+d6P3s8pq6T88d3DyEIdkqh7u9
xQKYs+jGSf+QCKc6+bFyvjmKW9pxmuGa82l541u1OoxoRc5KuUggu6bnqRqmBzCsC+/DsBLUFUF3
bQahvgZnTgRI7KZrnapsA2mWJTOPzlbA0DMJjeQOZ6b0V5n2JWdnJ1psVfYS3xTPJ4jKzAeztLiF
WBB+iUvO3ivmu+p1SmxGrpB6k2u4puqg7BBq+2yNbwV2fZKT6vnR0Q6HgTCV7Yrufkd8caO+NNFg
X88UnNccCPT/sncmW3Eza9a+ItVSqAlJ02xF0qbBgD3RwjZW34faq69HnKZMwoHf9U9rUoNa3yEs
ZSia99372cjzpJ4w3+roiy07cWvACd5BmK0201BT/5KTih6qumqh28vxJmrLBTO1rPbs6ONTRDP7
zowWTl4nxUgRykzXumHN9Gw7RcNTHVU3tQniL1Mo9UhmxlL5JfdEpPojaU9Z4ZdI7+IHPAZBQTBZ
KTt2olR3k+u5jKDAEkyfbzsh6w3UtDGHdDjOv1zVy22QTgWJDzFLcAR+gjjmZghWYTR1+0HP74Zx
RLeeEszHJA3O+CmzDX207GhWE2jkwjl0ISDymnbV/3WR/p9YqWx+S9flP3eRLp/i4vnVAfkf/4t/
HpAlHR9T2rSzjaVbZHscd/9FRhL/pYPSsjAz4ONwl+Pzv87I9J0WU7uL9QLXLErX/zkjmxBUWfh0
jO+ou5bwz784I5/YEiwXpqup83cWYyjH9RMvxISbzSQwZfa5RxNxaU+XzNE/3sY7dou3Q3AitakZ
YkfQhf1i4//jEB4MXaaFBlzBPjC54buYZ5CDSF7pv9/5/2KU5V/xxyhsujj/I0Zxiu+t9r0cn9Vn
dsLPHuTEwkFaikX2NUN089HRjyQu1POPj59i+ROv2nkuFSzMXp61+L6o67x+CjlmBklKLq1hi44a
LgR63lV5zHNsMRHC0o9He/NAL6PBbNKBP8g3yA6Ct0aY1U7jTyW9MB1r/SrOnXGbhVW2+fuhBMY5
QDIG0rVTYI3eApqlwMyDwZK/Q/tF1Ror2aWuOCJ+PNTS8jx9h3RFufRBFmPEk3eIzkKfMpOhiqbo
LlLwvT74SJjT40zsQzjme7aI6R+r4390WL/3Kg1h4k/GEgAs5GRQuqrC0Ghc+RMdkRXiKEL9GpdG
KPTwT57v5FJr4QTxDEPy5TqYpfDVv54jqalVwPu1xqfcaga0XbWEdoabnKWGPrIpNvVNNQkScLM5
ukRCMX4y/rIknL5fAx82+AV3WZpOl4zQqiI9DVvfzbVxS2iPtZL18PXjH3F5iNNBTIOJSWubJfKU
GYCBX1FwMxpfqVrsHQLtIaE4ZnCVGYg05omDN+QRVOu0V3YfD/3e/KG8aRtQBxFyv7Tc/1hJPNsa
BVWzxk+gAm8r0+aQkaDTWTuavvT2QjpaU0RR6+Nh4VMtk+T1QwMvsHhYBEMWsqyTN9tmWpWEfd34
gNybn6UjaeASggHdd2DVsYM0+2LqKLf1rAsOJqHwuxES/JazvdhPYz/s46pp7o1oNgUV9TbZNMo5
0mvq7U3Uj8OFRzwJkUoQL0019nQxAwR/9DijFzTo3ZS6pJokDgoekufo21Tfc7cixsxtt9iter+j
V8uJOKK95xE5QRpXdJmhElyldUeWaNyU57LpkrNIz5xzItzkNy3nHkY7eYpACWvyHMbztJ51rSU2
2u7PVUhbaZWONKOo/HYXiHLmr9QBs02EB4zjVv1TGrlzCGKisRAI9Bu8OIDrjfbCSg31dSwmUNFB
J/Za52Tb0mySM4s4plXWCWvXpqyhCEYFwShpvkXIPpLZMPZfTEfxR1JXXThzMm3B3BgTiuZWkB5l
shUmLLth2UXHIOmHn57Kp2M/m12LK5ZblgMLd09eHDFHMniMKprcm9zL5q9yQN2/GWbx3DQjPgq7
tdRvMlgROhC2pO49Y1HGjVJZx77X+UPLCya44pJwXxRCuQK2KydbbnIyEGnPBCZ2IyvM8bEUDjUN
YM9rzybsrCPv9SoJrWfVarS+JtX9SubxqzUbzx51om+jweXG6rT4URHTe6ZPXNtXTcSHVAzW86zK
xltFA0CepGbFSDIiLld2QLe50/l7OYYCyutOesg9u72Pl6mfgY06xxsWXVb5EGxNuxH7jhBMLkRG
AhqcCDEP48kObwuJZwapQSs2nHDtBVOwdWkQJGuofOHBRijoL5SOdWLMMFPrBIRZ7qY+cYP9bVrO
3a3icL+eG69lYrixfcxCtLR6FsBlX1IcLa3stj2ExWsXkz3NY1OQXdTgpMOv7lwpXAnJWWLIfFdl
NTexsY6RNnRNIL6AcgqPU0jOdlJ0OAAR5tnXRiaSfYQ9cy+sJvgRUJWidGVowZVBKnSwTiPHIUNE
FPQqg8C6xkVkEBE5yTW1PutAF6m+qDVHoNCekcJ7lbwJNBMPYhWZN47Iw4vBsu+DvJ6PyonaJTGz
1/0uqiUy5wZIIXp7bmdpHAU/FJh5JIdDiSZP67R9OUXubytJ3d906NW61drhvKHe+iPCtbsNu5p0
6gV3t9Va5aG58Zb3EXAb3qD2+5XVLW+y7Ue492Gl+6IVk5+jZVqCvaw7fUznbYAwm+Yl9749Hshm
bw/W8OgaQf+9COzoqOe17vdc0yQiojFex04MaT4HEvtTINo81HmXX9HMHJ4a0ywuSV32rkcxm3eZ
pyb0DC3dE4RJNhE54XRjkiW7C6vGvaGHUTxNkT0cScQeb8YkUldjW8sLMTrTJcUh+zytSFESNbE9
XGzkbUWnfYNpDBDRoJHIhZmbAWqqfxHqBrpCDdLSYoX8GgZUgbdoE1ML2/XBoP/GT6jyVZSVES3z
Pvllz7KFRcEilGp5C6tC2JsRXOCumjDCq3II801bxS3SnsjadniNzrNBzihFyzrCgZBzW4T+y9+0
g0huEs8J1oZTzKQo9eGdIcr5MKVTfY4Ie1pndgCEKZEFMmc7T7wzwL72jkBLuaGP5J3ZrVcSBDOW
3AFDbd8gBKS8JU3mhAslfMcFAZD21DRnWqPjdIpqd9oFlBa2pPwEzdbQM29Nd5X3MJYccAxCTm4K
DgE/uOoqlrE+PWZc0PdRok9rxSrwnd4tFtzecXzUN/2zoxNdYISufQ6lu9gP4BTI4cN489Smpfih
nKIF4gUn73frddn91KKo8QQRXy//uVFIm7osAuZpDJfMXNsZrgcCSK5p28INd9Ny2jKHweMTE7ux
REhL9mXIeK4ICZQtekfy30EmmpnSf6Spah+chWcNboH/1GpAhRKdO13SOk9QXoXGF6sYg2+JFZX3
fZzni8Oj2NuEXW7jmXQ9gCrUd2rdW+tjlx5k2T3Bn1VnLqrbFPFsYm/g9uvL9p6yeDb9FX4SXl8R
UZ9phBdfynTsL4WmaCZPgjjWUvMIe3ErYZ415EgTxu32+YFK8kgUaSlxcmKpmYFLLzpyncAX34tT
eSvGVn9UJORAWW/56aocOoVduQXnGYkwda6IDV9xmQ8O4wxNWTQdyQ5Ord2hsBgGes389C6+gYsS
ydxZl5nRLw/48iHNEmrhjbTPAyq04OkJVzDqkG5bzXlzz0W0Qf2hpfeDF+P/LWp5i2eKNHGr8dau
UsU+TGGYN8tm13qAzDV07TeDdEjNFaDgS68lwoIwgRsT7cyTyIE/FBUTXAZWeoCaAzBdtyiMWXrx
nLCHnxmt3hKjKed7JlJ4IyN8WirpPEQ1NFFxw+D8bqpi71KKflTcRRV6eyNAOVhwFIfq4O2NAP09
tMeZ6rLeP/cQtL/mi+xgVmT6bBbU/z9+p1SNwe9J5x87Wuaw061KXGH/hbNO7eTGNNPpkODd3Gr2
GH8rutY9emWPXknv7Aezm6wHgjFwV9jVdMVOJXdRHWmbKY61DVH2ke+gh7ucQ635QgO42BpNkW/p
jo5XL29d2TmRq63rXhsp4TcFcCRg5Mm5DfoFPVdU0tyfiU5mIu5Gu9TPnZoUq8JL1Fk+KXNb1blY
j42ODA/PNEHzxpRdB3SPzwTGLVCXy1yeXaItPM0i3olSw/nsxuOV0xbBNs8cUHqUzOuVbRfpNaj0
/AxliXz0gqDfq0AnTNyN2QwRYfLzz/V8SV7RfClqchzCwTPztT6lEUugEF8iLf7RpNN4xaIwnRlV
UFw7zTxv4tLGBTS11XSPEs5GJTnTlpgpee0ckSIxoHVAmreTXKPgQ4htGunBImzwPBnwvQln0LYB
HePr2mnZuhEQ0COoSw1y3Jw76YZO7hKzK1BLsDf1Z15D8XlF8HB1CSSpEOvCKco7OHXFrmPB4QxU
OO25sAx1Dfa0X8Pp7NcABwCDDPSS60AOO9MQ2rSq00K7a8l3piKbE0ZJb3AJI2HZIP2KT1PZ1RIk
FlNodntCCuqqL/ZKFFjHO6ZTjnvgYHqx+KGH1nRp5aR1WMOg/5gIVCeXMwaurlnESEQtHyZMEOMw
j8N8bDCxHORgTVtXTQ2NDKOvVmQqEBGWe7IfVzgOljhUhD1HXY5885qZlUsIkhzvcIaGCm1O1F90
SqPizn96k5gwJ4EU1YHfisTax7o5g6oOJNltMFh5IuyjI0hoDFdXYo6Ndt3F+S39/maLprDYzlWk
7bnbK+Qv9mR8x1LqJuwN9S3104no9Fg7D4P+pqsmBytFjU0h0Z7dWjk7zACPZpcJIqCm4ILHSDeZ
XrJy2mHb7Fy3GbZEtRh7glZ7YmICdW4FdoNZodadLSfE6FDNNk1MrIxGFZfrtJX5T6fQfrazfT0a
rbkzRtBRnNtqypdIV505viOjc143rhb6rFZ7XkS/FosPIgy43nmp+6gRdwji2SzRrrVY1d1hadia
DSQeV2lniEPg8jkVz1tUNkbVzoA1QIX9cqxAaRcQKNM+LLZkroPULLHS7GcS976HcA5AgosMBWI3
9tjG5/K2gqc6EyajU3zOjeg8SmR1UxRp9aiFKfE9xpR/a7Wq+4m/V94idbDGTeZW6RmyqvlgxF66
t7Ko87UoRWZNPrOFt6yZb5JQNrcVTYdtn6M/Wo9jQ0LDLOWWYnGwDpoo2mPtT3Z9nVKN07P4QNTf
1K2EQhrdzPm5oDfnz4BrPWx+ZWgO1c7FdZziQvrB8V58G7mOX5Ilq/R1Y9jlsa8TxClG2Q03wUzK
vJpgcED/ancKnsDGyHNkIUsWW0idmV9xMwb2D7wW9bDu6SteW0Ilx4Kgil0HueObxKJLR09ExtXk
eupbmkXOIbXi4iGYHD3AV9yZ9/qyQ0qRAzSP3Mgfi6I7j2LXuozyVj0UyrR92gsDVtqwPweYk/5U
WBrphpI6SQiKCm56p8p/5S0d3F4K6wmKRUnWWlA5B5EacBcVN3B8JJj5kBla3HVbciMgKlhfzYIQ
9DSwcUYRIR1dldr0nPaO+2hgfN3q3ozwOSS6xm6zBJQRCfWc8Wa2wiiPENAhFt7IqWElS7KE6Pke
8bV0dH5edtvDxK0CVZA5rwbhIp+v5k0b53fEaDyOgPRW+M9JUMQWsCm8iUuxqB6gJ5vodMjdWeES
AO9uczLel56EWpXm5YWaM+OsaQKOUtswn4IQCnpauR2K4JY4G5/rktSeJ4WoczXQSBOddO8VTAgU
CZ275xazeB1jDHWmpi7YFBGSEhf9NAqz/JrUaf1YdcjH95VmT2JFZmKc7rGtB/YqRfzFZUoVR6j5
WIPbMh6/p400ejxvQ3Loje45HNwBVaErLkYwgOcmJ9ufRUWGMLSHFqxbejWXPbHurUmOvSIXnLZa
Ul6kPcrTlVdX6opCYHiVcBgi9CpL2q3r2vVlE5KY1Da0Cfn+f9GOo6vKnkb0omPQZwvUfPDKtrtJ
dYoMVphF92PTEog9OWIrcK4f28osf1AG+24l7fAdI9jt3BmttXMkzgGtGMQeMRsre6WZKGwXvafn
DGodRXWDrh5b3TpACiajTt/NfY/elRnva25p7aNIOmi95cTi0nTOGZnm3E0TI/xhT4TIFKyEK9vU
wp0bjs4dVx32E6Rg34Pc0TfAZB9I2R7OIdEYe/4KEcljrW6t2PrlZG5zDWlz+hHOQY8Of3CBkJhT
cumhPd0jI+eN0QLc12GCUFTzeClm4DyQ62TdxX3Z7JIu5oNtPHJDC85UU4Sc30ZbqMzIuOEOcs+C
nF6P1SwPNeYu3AlKbqusCJ5KL53XWUNkI4knyRXYKFR5tsYtxmg43Y4tesKwH4ovxdyi7zQ06s25
OlPulB9x1ckbp4aTJBNpXAlsTb9FSFO4TIZq23QkvQZoFa4xqkYX8CPtW9xS3hLgOyNH+ZYU2gpv
U7uHbJlse7AKm1mN+jEIOkmTHfBkqdJyP/VmdqtYcWmv4+X2vF7fN1l3F8J0XY3EoBzMBVaghuZ7
5BWOn4QROxYHQZSrjubnptdfcJRzDsQaIqoL65TzLylfHRnUpLSq6odZJ9U3jNtoT1dhHaU/SkK9
9HOBxfvcHQJy4rUYuAyRSHdkUI/TWsPz413FGcYR0vLqesSITzrrri4oI6/dqPGuiqnJ7oocX3Bu
Tx4YIjKHK0pYd9Jon8cR3ok+c1RparM56PPw07G5NdiZka85VHFJqnuSFkSakI7miUWY4muGkRz4
/m264fI+DzkbWwGKGE6FGUZ892drxB2sigkPD0ggA9uy343yyeEKMiKhthv9yBmKvGeHMpHWueKn
5WXDubUEHcka1oqeIi4JA+H3pJv+joDC3dhAgY7t6P2uR0u7D/n0vhqG00Qbu4VsgvpnDDYofICe
FXa5172x2xpxjUcRYBqCSyoAHxdC31ZBDbpOOhs0JW4kZLS+/uzkmC2pfQ42Gt8B23gQef+VnjzJ
4pLbredQyP94uPcq9zBRcWkhRXOFabweDiiGLjR3YrhW2XdIR/fcAEbEio7+SbvlFAH6UrnHrAXf
juYeOOETMqw3z/8sasu5G362L0X6Keh+IRYYVxrJSpfUlfS9dGf9KUIs6auBetzHj/te9Z7kKgm8
wSRE4E33wDEV2Tp645tQL45wOSjpwXP5ZJT3Xio/4VLDXiCGpyR/C0NAZ+X0YF7aIT0mmDUq4xG5
D87qv38gS8d3YuFnpcW4/FP+KNenY1cAoxjoLA11tjEGQCNu+f3/b4yT7g4SVkPytUIwNdTlLJu9
hUX64yHenRzMP8GPw/Rw3kwOL3GHxlCND02EidDpxsEoC6rl/RA/Rhqtlrro9UVz0G8w4OlnmGE+
a+28/fSIdSKA0+X7AxN82oCw7AoVY+mhehPocFSpsPdCbkdUnsB1qLxi8/FDv52MjEc0kMdiagjn
9NurOVu5U2XWfl6MrFJyOjqRcD5ZT97ORYJAXPza1HcWJ+fJB+6FQs0Yd2sftUi3bqsSflDVXzgJ
Bc2PH+edkXgI6N1A/mwQlifTxGtj6GCTW/osbTDdtPYctf9d1ST3H4/zzs8kHMvQBb8VK9diL/1z
yssqT02vcUp/jvVtkz1pbgbgoljHdXD4eCTjbbMRfOAfQ500G7moSoT0DNUB0sECb+HyGBylVqPX
d9u6L+avE+KuPfTpoNnUaBs3elMH3yTn1i1hiWqb0ALaGy136Zzk65zq8ZwebDepDsoctbNwiObL
AFDWF6suTKRXlIw5XKltZqhEHZw+G6+GsqOMNXUyW3PXJrdRxvMnD2otAOnXvTdamRT3dT4AsWAo
X79TtGoahNmOd9pG6sHDunQliBCfpIyf8rlDV5PBomiy4FszpuHOSScuTqM8kxKNn017RtRVuja6
r3jqizX0+zVQKFwJ7iVo3nmVl/Dh2pRMxTpG9ho0CQa5ELESLiRUjFqidevRKi2fBtewUcolYnQE
ZcQ93rlILbQMSeoBsWa93sDAWpMKPm4sntDjbRkah0d8/j+cYCg+2bTedkMtYQkE3iRWATU//URl
3aKYknXhUxB/qkf15EYVxCVwFHm5xTpV/vXOYcEn52slAYav/xTCakcks5rhBFKkJuqbjg4m2zOi
rv+h9v+P/fq385ph0Agwu9GHE3vx+ue2xjQym9FDU6qnx6qK4dwO7s86/cpx65Kr17qzje8hET4f
f0+ninSOAMu4LEW8Ub7f08wSr8rrvBrsws/LaX6MEJau8PRoR1q6ODe5HXI+rWF0blXa15usoByG
ERX4UW30kHio+yWDBvevw4GnLCgplEBXyVTtUTdwVvOSH3iJytVAWCMQwjnceErIPTj6eROK4BYb
a7t2ZxtVqUrIzFDos7fA5YqNyqpnupviBon6vK/God4hW+L/n8/2OmpVsnU0x7ivTfuzn+LtqolN
HikbIcj0R02x/FR/bOAg9CB1psh7dfU0IX5YTQOJXYIQjI/f/dvN5tU4p7kKfdWj3PaA1bh2pq8L
WB/QWKLtx4O8XZqXQcgttA0OlVCEXz+MDoWqrHFc+ZysMJXB72ph4ZQpuFPAe58oq94dbIlVgCSA
hOv0LCfBbSD941vRIpmj3p33PVgjap10DVT8yet7byGQ7G1k/KBLo0v1+smyaTIx9KrCb5LmaLQg
SUDBPZRZ86xiFEqR/ORNnuKYXz4Vh+MjlHMEQyTdvR5wbquM94uWMhkzUj5mQ2A3aoYzgw1nQzxT
5FtVrWATeeaXGIKHP4W078IyRs0auunOAxHz1aH5TSMygFXyyft4b9ryO5tCR4LHjeVkBRnGoNVw
/OX+UFfPphfeR0Z/m5ncmD6eUe+OQ2oqLV0kWm+UMG2vTRHuqdxv26w6TJl6KiZt2JRdc/fxQG8l
N3yD/LicP5f/45x8h+bg0aukyugruqNRSzF3KI5NaR8SV1xnZX1HjPD5x0O+N4H/GPI05DOZLWgT
tp772gDjvCufPSujjSMPTdl/cgo035u/CBE5CbpkHbmnn78aXKuCb5yzzBjTdxVVvwcYXus+Ey7w
owVlWBFRnbMib6GK0VXTxFKDbChveX37YMGreAjqxTpq0JtDv0FHPVLNLUaVcuMWWQZNp3V3ozO4
967NqrmSBbEK+OOIzEjzJfPA+K0PBo3bkvzhSv8OhPoK4V21VVH5HLv9gIHWjLddPhm3Fe0FLHbG
Z/lSb9+4SWyAQJDJFZRr/PKW/lhsCRiqUVVNHHMSTBk9WWxnHOJGP0zAOBHtYw7+xz/x21lFthCQ
bdsilNHkS3k9YF1afT9Ueel7rrLO6KHkW9Cx6kKaldoHbqguItopd1YM5ffjkd9+OBi+qA0Rzs0v
/kZL2eDh1KJOFj6l6+mxR539vaaHewdZPHn+eKh3HhLRFpcL6peLLfxkqULrQA1p6tjVe0K3417Q
mKe7SyZzUjRnkJYAbrSIZqbVYNCI+3jwd56TMgmnGPIYeMmnE9tJw45SclH4LTzaPWjcu3AMkW8l
U/P3S9Fy5xAEoem49BZP35+Th7puS1pAkvnsD+Azocka7oiPJjPN/cfP9HaaUj1gn0HnjKryzTGp
aksA5n3HRyM6gCKSZoqZXA+DLQnqlL8+HuztC7TIimQd56CLMuR0JQ/jDFJjVvNYdm4CnpyICxom
+rRttnhnPx7svSfDlcg9lGMuQ55+D+i9OHksy4Fm3UWm9lDP7q9kNO/CQX5SUnhnxQOoj+qcR+MK
d3qUxiUWT4WGuMqsQHbT//AgZmEk72fwWP2B1sNnxaX3RwSoy5a4fHTLd/LH6qJhB4T2wIi16A+p
Vz2Vk7gzm7SGTyOzVdQZn5yn3/vpqKOZL0UERjyZkTaHK6kCJ/W1rmNvhMZppVju9E+GWb7f15dD
S4ftuDhWHYoJi2P1z+fqXZ0QEv60j+tRu9Mc+MgV6Mztx1Pj7SrCKNwJSI6CZ882/HqUUTNIgUtE
6jcmZxaqt+ss6X47hTwmtUIk485rE+Lgx4Maby++jMrC4XDrgkd1eiPB5aQ85Kyp79kTna3Mo7Re
VOl8OXoob2ag5Kt28iDfaIRlRWtn9oDgtbqzV2MdnmVoQ3aY/+7AotdfvC6F7FxV3PWXW35dQqFE
6iq/esYg/VC19if/+nd/mMVFTIPf5aB48sMgM4oyupUAB8AebZPJSw7aSO/i43f07izDJuF4Akvh
mwpSbtVsI2GZ+YVyoMWUva+n0Hod9VkR4r1p5snl8islDumTCWA7RM5XdcFChOMVcVoQnY1SH3cf
P817KxD+euwFhJ0g4n7zznRjDDstRRBIviBG10Xo1pFL2GY/+sT6+6IYZ3hcH2wZoNAwdr+e1ZA9
ZY+IMqUUHPxa3l0Ty2PeBA8fP9V7H88STe/gsOF0dzqNxxYL8Fzy8WSx7d6kk6BtHti/aKCWuya0
3Z9DBsYPUWr7yVb13prHuZKzM5vv2xom7RAdo1af+mFoXKtCe5qTcFcl91Uy37LIfDLaexOeKiYX
PtzuBLuevM2MZ3QkOF+/Cqt0nxOdfhwMYss+fpkvGTKnCx4vkRA9i6rPm8ue14FHt2mj+W436Pcx
sWk7vMVoTBOzBxDfOsPXRLglCH/VXxNRmV7ZYN32EViP7TxVxFCFuO0E6bPbbHDRWHVEPnyyk4p3
37xDwZwv07Q5/7yeWU3Q6vaQ5+w2o0XrT9VPQnklYeVuC4/EfcDrXAF+j2hMFmZ8nw59S8BD+T1C
pYV/Wx2qAXQzTSFvJSetIt2D5/j4Rb7zraFT4QjqQOlbzoev/4mZw78hHjluD8X8q5qF2ulAYMog
Q5M2PX081juvQ7z4BuzFgMKp+/VYhpiIO3YVR/tA/NLpH2xyW38iv6XwHa9Y/JBSfXLCeOejE5Sx
pM5ooAxPt9++yaAahSWPl9iPEOi0tYESj95kM69MY6q/1s1Qb1BY9f7fP6sQuDNoMHFAPF0pLXy9
ceO2pb9UCEl9p0DWZEdcRqAa0vAeWGD4yWx775fkyEZV34AFyVJ28nYlCoLWAjetkdC7nkSP0qgw
1ZF8R8IKJHXxj5/wnT2HB+QMZbKxcVhc/j1/HKWAqFlRXPJqxz7EkWU1w0avy3pjonL/3wzlActw
4UuioT/ZECrHihV50ETdeGVxY0OvXzWOkudxJ8Qny9d7c5S8AKYnWI6lvfv6qXpkrsVMod9v8+6u
49pr2/VdBiISLFF9BJ+q/vpyxALm6QRVCIMK9ukHKEb650Y7F/5szOh2neFL0zWbirL+JwO9szBj
FdIpYNJIxpW5/J5//F7VPKDqDLgCZqH9EI7j3p3ru0+mhMnfOFmVX41xMic8DbiGZTEGJh2xgpxT
HVq7tb8YnQxWQTa0vEV9AHjbVJtWJuHXcmgcBIDoLzq3IZ1MdCicC+DapYXpGBaRAG40wTA3VXPA
MB8dDWhYsI764FtAcXGftwguud1OoOnD4CyyXcxX+jje2KJBfw/bQHyZvRwBZSHadFfmLbC7viZS
fUAOfp1kOqfDMiaoIY2b6wiQ5V40LcFNQJKuejPKL3ut6X0XjlRcpu2aN5zuclo/4IMQ//oIjvNV
OcwVBEJClBV5xxelZcbrIU663cev97256S1OXc5E3F9OG7DEdbSQNyqmSgWwlMAZIKjWg13Z51yy
QKxMwyff3XtLymLPwDHocDs73b+qRIRTzdvz49qDDFB1TbUD2uFuiI8DXt4uwtS/fkRaHovb2MOI
82Y78uTkwh4wMz/1QmsbNZO8BEI++1NStg9JI2YfHdKPj8d80WuczFq0NwYvleole+HJNk2cRUZn
Nst9mc/eOho6eWtFZKBB0ga/X2bZfWXkLigEJFsvOmU3AmmZd7PaKrREe20AJPPJqz/NCl6Ky6gS
OCYuBW3IQCcLUTjaM7k5FDvbOUDPZobWDlWauSOBq917jjRXzBTkU3a29cImWk8UcZBfW+KTk9ZL
fPzp28EXjhwDhBKVuZN/CPS9UOYkLuBbTkxqKYu4OTaz+YjAsoDhrwznTCVIEvFZtKsw49YptJw+
Khiw/mYwB303kSn2GJEDuCYmSX/kOyIkcWBKYZuAjTISkYYu93lCkUk1m7RAmURbBIPWptEK5Uey
dmAyds7GDc+NMjVvU7MYr6lo4kSBmjY/RG7nHTLd+aZ3U/rJTv7OPke1yMWD7iwd+tO2AufzJGuJ
uPCdLB1vI/y50L/H+CEWWvTJB/7eUKgv0RrgRqeifrLPUaWq63yp2Hsl2JKqdhdLz1jB9ye97uGT
Wb/8bqe/63JdJCiVawl+7tf7QaHJrBvymL5pbwfuStEwxvExW2IfVGW/KZxMnItSD27UaAxXhqGF
R0NBsLfgJe4rUij/cYf9P7zZJ3gzumOSTsa/UQJvIOBXzz8anEwctv8HcfbP/9G/EGf2f4HAfylh
k8VmQ6D9N8GBw/1CY1iutdw7XwBo/yI4gGkgpp4zFYQFwkyXA9y/KWd/Q2zglv56ai37BXUi7n8O
FmK2qzfzuNNQAGIYMFlQ++hyBlxjSJSzVp1MxQXpOdZU5WcxwK3nqNMQd6WYjO4IeJVnLTEKt1nu
BjPZSaZxCSdTkk3Uyosx8agHKjzImKxAcK+wQGu7Yo67R4sUt6vGRY+36Q2v23nKja+M0TXXqU0+
6qrqZ2Nb0TNao5I1r3D1EqfkEDwJ1DS/SVO9uFEs4l+8QhoJoRJhet8gXTxYWuPiqyCvDIbKEGA/
jTQDLmbpfcm4Sn5BDnWPZ2s+Q344wplycBbV9vxFF1nzZQzNYGfCGL+eCUzcaoOpkE56QDIXXAvC
8XGLrBeGC5Cf7K5bwC7OgniJX2gvALzGm7oGAYNSLnqAytRNa31BxJgLLMaLHHHrvABkRolwVQd1
utL0YrxoFtSMW7df8xf6DBcUSDTWAqXRFzxNsYBqdIg1Kep+LG0LxkZfgDZ1XCQkBCyYm/iFeFPz
G5KDAgbHhZO40xY0ToO10iCJEGBO1oPOSYjcdPGdAtTBIIfNH8YOAVfJDvESEXYLgKeVnufrQwnH
JwJ3UCygnuiF2aMWfA9Jgh0xbR7OIpka124zgihYgD9oeocLcr8nn+KG+ZQsYKDEE+qW4grew3wB
BxEapxbjsOGe5QtYaBYghmrhaJsiyIqjpnTzVi0oIu6+2e/JoI9jLKAi/HPFdd7a2pUZO7vQ1tUj
2ivIRsCKvJt6wR2ZsMF2YkEgFQoY0rBgkYYFkAR8bPxVD217DY+6vEgWkJL3wlRKXvhK3oJaMl+o
S3UjIDBpLzQmWsQpGxuIpuKF1iQXcNO0IJxyvex3LpS0FdvvU2/07nmxIJ+QE1ZXViPCdbcAoTQD
NFS0QKLGF14U7I3kologUtAwXF9fwFKAhJMbHRkccwrsVEpMTAXNFxgVhFi4VMELo6p+4VVBe+nO
i1g6rF94YggtJT0tR2icaJn9SGKp/tAsACy5oLCiBYoVOxV8rLKq+2OjhfO3Oqto/2lZNZ5Xdhze
EU1pX7s1MHV3yZ7qneIG7YT6YvSRsU1tMC6rrqfTuBKicFYE8C1gPDXaG9my+8DhL8h3i10ZnBFy
BHDUE82ZPSVttnJrQXs8GGuaObIJ8nuWkepmImfHL8Ja30KUtbexVumXyPMKoOZ9RWGljomdjKb6
Og/z8LqJLBJla2l+z2JA+FgLmvGhDSIHfpzbTbdSpmYIxTWjppyIyLfRlR26uS+WFqkzgLjWsM/u
imrSr5OAm8law+GWX2mpG947oqirFZGyAUEvdR2wksS4L+a8/JUJABJwmvLx0pwdDB1xaiOUT2j+
3Yf/zd6ZLMmJpO36VtrOnjJGBxZnQxBzTgqlUkptsNTEDA7OfPXnIdTVpaFaOv3/215UWVl3ZhIB
jvs3vN/7DEr524x8PoLTgWDKSo2M2k9WNeYOI6WFmUxPTq/MQjfetgoPx00szVY2u0LQlp5uqdR7
U8qDW30KzF07yHh1Px1nAXl10nulvwaQa87iTeyWsrugxe+HQ40NeFqdFmkqbdl0XlZOMrQHMx9f
t9kUex/tOI+SapO4hT46b8ohG4nAPOlo+Y4+Rpd9ml0pjXyP+K9tv1aJ/hsH/CYOsABmc1D++zjg
bao+1pVKq28DgX/+1p80EPEHzqSUEmiqEUDSLflXIOCbf3irugDjASooV+fSb7ycdHxSVm05SQeF
QD7Gn5GACV6EHrXvYJZ61TD/J5EBV/8m5FyrKijL1vaUxV9j017//29KEKahJ3nvJOIMwKg9tKWx
pulgZtCkMgDStcr5TcXx7y5I6xn2CBw4j1Gs7y+Y860lLIBrguyFBkLl/eKDD8SlcDXOVMZvqqnf
B/BfvyAZJPeLAhJKsB8ySc76RdGgsc9unYiXzOcCbGXGo3LYz7959g9fA/V/MJvwgByoU//3/6zh
+V/h+/VSPGqeNV1upBw/xlhtMia01Q37nJej85K6GaYs3QL/SZixcdcti//k5plx10bOdPn1pf/m
W7KSUPZSGsA798fK39jkw6yDQDgrE+gjMAdCAvZChoGZYCx/U7b6IRG+flFWIIkKbWJkMT8K1qaa
cSh3Su3zWAsu5MpWH4IxY/hwM3RuBi/MymRyKqdJoWcj51TvbKOGpDEVqbbRzcr/Ta/1568v2LEp
EzBSAj3nR6cozgZ81mM8dr3R5uv67KV7Xcv51//sWhRDHESHBFaIzb5fwHFm6UUCH/DMtJ1x19sa
LNCunC49fNPnXz/V9V34fkEJnQzfdtZaj/dTMz7tZAsyrbfPROVfFCqQbW8C/vv1Rf7u3rEJ4bTG
xX7W7+u079zOLBgZZ+r7nHkDWCsP9MrGWHIMB359sR8mFtalQ+Eff2fEJza38MfaKvMHxrCAUD5n
ZopzvzVwTSPSlAiKVslnr8mdF1vMvKTwyi70mK1jjAfc18T23yp5/2YFC91m2wOJyX+Qun3/ECM0
FlEkcvs8eZ15sugDavggwOOUmmKFUp9nJDQ3W0Exo4eTdn15HanSPTtI+x+VM77eE5vUDGdZnvRP
RcS8gEZS5pKXd4imC2JzwJioys+2bP3tr+//3z1sIRg3QLWHLvtHeQfo07Zu3cY6pw631/djXllA
zmz1nuBJ/Ppi32/1jkm15Cr6obTN5X5avuApgW42EuY1Xj5LoGmtfIYzJJ+XEb+RleDu/WYtG99v
weslV9IqKS6oLB7wj2ojJAgMv1LJPOlRS7juQaoMVKumixi16ZKqiOdqOTgOJB6Y7TTmlSqnrj67
GigS2JqiOSwNx991B8ElWILDWsyUQDfRoImnjBv/5iY51yP2r7fc4eDHThElBfAv61pe/H4t4r2S
UVm37JMqdDgvKyOlXmkpMdXxPqj1kqr4BoZci7MQyeYstqiExKu21QroFjgxYdVfRjzIyIm7T4tV
dp8m+IagwZOF98psNHZevc0w7XGMEZqjAe/jpUm86VIIjMOAmXefWkayju7M74UKKtORBnHz3A1u
ffZi2wJiyQ0M5pwBQqRPWrtlgMt/6pYE94HEjxoDYYDDn1ZuQtOp9BORMz2aYt4IeBA+bVE1XING
I+bFDPk3DV1/MmD4dnh64MWhkpoVAplUPs+12y17LVp8cRoZ2j0ragNtCLmySnAxSbpPORyfZ1eS
aZ5KI50vBpn+g0YlDDaTzOP0vTH7PDJ3scTq1oLM7gl+Hmuvy8ULNCNWuw1k72XGevaTMuR6Qg+D
81LOufkRPwfzMDRuc2lxAMLciAllN43hPrH/Ymk8+g4njDEbxqNmNbykk+fdwArSNtZkc0ejNHqi
QJnuI8tSn1rFcItWm8Yjcy3cH3+M3ItSMZ4ng6M+Sd/mOZVi9J8MUv9PeRnjeCusDuSZAnyxYcbQ
f8JwgZ/SohlwUVTxV8oMidTScd/sXodFcT3lKk7qnVQCcuhcJm12iG080iDPuqxsOxH2HJTVvLin
ZA1Mru4tcQM8Us/MFb07CzqGuqYJDGEL4w4bLFZNTufwxRU5d3POMgnDtPawmh1W8vxJrvulNuCl
u1f20BR7E6eGZmM5LsZpbce5KOqE96/W4znelhiU3CVUoXmUsN09TCu8ZgxdQLvgivMoKsAHW6xl
GBv+k9Jx8d0zeovqVbOmB2l4nEUdOem0m6mog7+sUNNvGGpbcJwvFixO0tJ5GerGeWFI2zcD+jJ+
ETLCjtzWWnAQY4TRDc1Y2O+rYagevSWdb4sGPEmjJoxYyLENb2ekgIAwfBhwysdcPFB4IW5oxNd9
qKtIPDLzk0JaFh5eGy7QvDtaNfq5xFdIBmXu+5vUYex8cjR7M1fL/Jj7urPt60TKU65Tza1YkwmW
U6p61UnFxFcW9eXn2mm7L5691EfHBHeL3AcU9wyUetr0OTsTRmhsXKMOWy7otFm+E0Xeqp1yZvER
TKkRqq6qbmqlt/GOFo6L/34v05DEtWJ0v6/vfHwzxw2z2thX4NyFA1Enb2eRiH1TzdHZmDu32Xtq
FM8yLbsdqfwCe32sTxbD0RgejPbyvioafKEdc9koY+AxehFGW/DKqveZZHY4rIZEhbneuvs1GFW4
6DXKDNu21LYNMWAwELzssHnHuSRhRLuikH3pc4URR97IY9ZiMDE7/fw5grqL1V+qvZr9unyX5gPY
6rmiZFiltA8bgF9u3jK/bPN+pIsWRmaZbPqhNXalBH6LJcgd/nk6278VYQ+RtxaQNYFQqu42eeOj
Cwla4XpxvT55Od4Q6XoH0zJmJ6zSYQzsdSo+gOsV4WAWJ0dMDdUGniDkl3rWtmZZ929kLhq5GSq1
6518ZjJE/1i44HH8IoXn5xvTTmmRFfYFnwOAMHBcw8XgbmF7vxF2M8KP03mibmxmODX51YPe9fKB
rgaLWkPSz1hL1Bl3GrRztHSKjGFbS6y3zkziE2CbFnYYG3bb7lPc6mxI9eIbj7O+sGSxR/WfWlQk
MdYqk6Nv8YmbKiYzG30ISpfJMhQXWv0cGfb0gEmftnGBPaHg9zmPPcDVKe5odn2uW6C7AXVJJiTy
tGMLYjcmMJM1u+1EHoUUjBBODIvxOEibV592a3OwJ2TvB9w05LOULFvcqQaAyXlRFc9mjfwPz6l+
DDCbMAEgUwCW5XsHwJT8MsvBDtTgYpNZuJ3aVpk9fi69sYk3Tq45b30RwfZKfHXACSfGfGuK0z7A
iy/5oIbuJYMsjF1VGscbHAQb9Y7xvF57jWUYFvWemXh3Q5ulG1FgppIw+HvINLHsZq+SbxY/LuFK
uPb4BhRReRGx/GIWy7vJtI37vDO7A/uqW2xMv+23di/NT3GXxJ+WNB1fx73Lk+ONzxhtzLH/smN3
XIIhSQEHNIXC5sehfhxOiMmAawn28U3eq3hkQn/Sz8hD5tuGbtZFLFOqBS1VZSMQPIVsQ7DjP2nV
MFXbyeiK26lt7fslhRRL8a2/lKnXbPCQUh/tQcPJEszZB2xCsMgUcjExmjMhRAKxTzEkhP8zYjIF
m6wp2C78yAmz0sOLcBw+RFIbX49dnL8y+l6/bdPYeZ+PIo83bZHQXcoqUB0NBeY7357T23aC4Kz5
oy+CZIjVi5mO8gwOyYdeRf0S5Y8GhrHDPGlvsOXtNIJZEIVoLSKsKSN32iVoqx5FLuVhqCwUb/gY
3uhzj9shorHAH+LxGQ+npt/qStnpaUqxacZaVIew7kWjl2NHAW9q7ye9OpDlajeZu9RvwPuY/gYT
+bLC38TV80PP4rkbOeG/GEOjbnsJrnPiIDxXmQKFKf0kUkFtkF4kbG773IZ2tpFEFhreFu7wKjYH
hi+rLILQpNjynnEdtcCyFM7NlJpso5Y++x1o7mGVtZdtT8kQMtVt586Mcsx+Y3hbr3BtNkRj/Fyb
oo8gZTSroWFsH227MbfMyuKn1rvpRZVG86Y3ZvXkFbO9HaYF93rmjYOcPnBg60liYIaVuaElRxeQ
XbQkn/Sy4xzq9BmENg2DIrS5VQ8DdlV7CrEuzqvQsu+ZYZ3e6O2o3TppB5sjXTEd3pXYgUMb9hTK
dbAfw4QIzQdr90tUJNNbyTzYxxGM/adRdHjA6lLgZorhAATlrC7oYEQrOYReLxCR9goUcUGLOCtj
RGUrbmRZySPWFUJSY4cRJlc0ie22LQZPWEpoBRZh5hVi4sfE7PEVbaJfMScO7i7QFXroJ5rtDu+S
KxLFXeko+hWUEq3MlOqKT6lWkkqCgeaGM1sBEmRacsUKTskVMnhNav5bC/1NLRRf5RUU/O9roXef
x38cXkqpkrT9/G099J+/+c96qKv/IdCoIX5dq6L/qoW65h/kviTiOn39f5ZJ/+yK0kpdBe74NKwt
VaoG39ZC8djkxxnauSrgrf+kFvp9ucX56muPxGyVHFNH+1Ena2sCypHnLoe8cuAMLwikTBE/fXNT
/qZI+H0G/s+L4KXBKAzf86ch4q4eNOn76Gf63MRp1lXAGl2ck/G17La/vhQt5m/KR18vRZWVrpFN
OfKnGZW6pDuTEfsiB0xxxOPcOzOPFAVGDY2miFPQaUar7afFsbGEnevfXP6n24nonQ9BNXLVQBo/
5uKcnx6MHpNzthofcWR+62GP+utv+EOFAUUOl3Ao35I6/42AmxR4BqJuNIQb4yPH0pPyDQTGlCOw
0Wk+//pixMk/3lAPx0Dmy20CsOtw5feZuhXDuZx8pQ72aDWnOC8Nie+lVp5yh8ZUMdhv7GhsSiKA
ptPxfKozPOtwZ2tJDfAcD+kiE7tSDMZKOfPwfhtdCMQDfIBmMxVFzNiggjxKym5IBvsSP2hpsIP5
K60PZjbu6U11Xyqo12nQdrqJraovN9rs9yW+2pV1lzS9H1pJTtypz9PTnEXtTUoYHyOsXc15bOpa
j8JBuJLOULZ9zBVeEW079w7HyEUQwgApaiEJx1181w+4cNO6isLa65kh151mN/TLcqS5dttn2sA0
f/nFdotLndofxeK96lp4zyM2JyepT2CsbdKQMhOYavI3S4xpw1wuHLONg3laZeAVlI2fieeao5sl
9xQ2tDD163Zrm2W/pTst7qaJtryviehkxtaTqxnRKUtSTlwFnxazts9AqvzHiQ5NOBtZdrf4TfzY
CbvY9B4tdSKJ0K3Bd05jNGB8UUTbDD7qbaUcYtUo0CNvHs9OrIt8O7YalBfadLGPi1XWT7uUuPyx
cQcvTKinbUwvdW/k1QGqkrCvdxXhmHhjV672NskH8Fu1wd/xpsl8ZKZgOFP/gLFlocBK2xbjX7Nx
kjOmzu1tXZAUYqyIbHH0WSJlkz00Ne6O2Yin2zD35o7DXH+y69wD59lMGy1Jzf65h+BL71mfjRsN
M4fHNGkWgi6S10iU8MEbBGfBmBr+cdHa6CaKkvaVXKr2oWzVTeTP1jODY92j3Vvo37XEuDUmS+Cj
wlpoFo74vqumPby45yRvHczo0j7eZa41HWyV+thQxtles2S7Op3WD30xh6bq59t4ov+88WWh7zCB
a55rsYLxUgElzpicdN/6dn9OozEPCFnEQ+qqHZbpNa3vDkWqb8Tvsz5PjvzaW3TLJ7uMGkZdx1dy
zhkYUGgoKAnsbdB7504hWUnpJ5BMxuMrLcK2zbRSpmp1WRxA98FTlqo5z+SWRaDHTn1fzkxOsaKB
I1BCifVXVtTML0qrdUDUsJbwxdTwlBfm3pr8JBQFASWhcZXvgIm6YaM3XC3OVxNJX8MbDmxbtItk
Mp8mzYuevbzDUMGLmf2NovE8ZYB/XawTNwKDxD2ygoh3v8RO0YatBQ0WlYST+wgFi/G0mMnqkmd5
uygT/hPC7QwNRYpLlpu8WJH11jeWeRt3nX5hHkA/mIP1HtPHG6xbYnzPdTCuLnfawtikswHGDVEO
GRB/vhCKZh422KXCA89uNdVIxsGiIqya5VMae8oLEp3sxIPsd4y0uEceqL+a5n7XTTiH4SuSBTWe
4jCxVw5dJJo3raG5JdvTqCGCa7F2NGvrhZgYx9FEiq2ado2MrUfHkf6mMvK2OlbuoB56TVovdAO9
Y1qO1l43kmIzrdqDJOl5Qg7j1XdRQYaFcZ2c39SGV9ywIS1HA/pZgJbhua2RKJu+p1HIi4CHy8gM
lZ7cwK/eJxwAQTnoQxfEcQnWojSqO1V6x2Iw3+QlzAEzMqpN7LUnm6pAuCxaFFKq826x/cW5wsc0
vlFbtzftFyy75Yest4Z7UtnSD5yCd48tQdynM5ILODjFUZTAJaB3Q68al/FdjWoIVmnLlXU/m/Ht
FrxAWJ5N2RefctJbY2z0x8hd7FfWgne3VfjGxijKjKTDKay9SzFzKyrWl4F88VNZztp9zigXt7na
5K2bPTmJUx0oZtbFpsHbbkPGbm8yZvO2dEuLfb+49k1hpWMToCMakM942oERsdUk3/3IFAw6q8Hn
uTeRkx29zHPRzcN9qJyUCp1pzxt3mNMDBh/m1hB+wtQz9e2aMR4al45zL1Jmo7Bljt97zraM03kP
dpzbPyTTG4OdKzRt30OFNBePlhcbGKwbEtwxSPXXdiO2gkGbt8w52++nQSR3ohXLW1VZYZ2neFtm
cCfuekN2u7xEl93Nbnaw8wJEF6XmkMMTKrYC/9W0+U7EkTpyPo4w3C32jGZiouncGUy9Y99VqP5r
XPHfIP+3Qb4hiK5/HeQ/123+fXx//aU/43vjD05D5rAxrYGjQ/D5V4zv/wF+xMQJF+2281UT+VeM
D+bJYyxXsCzRP6Jf/FPvoKN38FFKGivZ5aqX/N+wqxwajzRvLeIVovAfheXGgCebrsf1cfDoD2/y
KnburXaUd1cR/Te35m9C/Z+iU66F3AZnjFWk/VOvc1C6trAJV0fXolO8DHQ12WD8p5k7cNOg4v9N
wP1D88v2UISszUyw2QyT/DTg1GpEedLTuV5p0CWgXMzOlE0L2gNcz49VFwlra02e8YgZlvn46y/7
U2zsYE5IJQIFArVTutbfx8YNtNOpVuz7S9t1nxCbry1dY/BuZmOZLtiH+k8R9JzffOW/ucU4b2E9
JyCR/Twb1OEx1I6eWx6vypVrd2iAsb4EftpODzHlmf/0giSijMSxiNZ2HX22779mpmsTEq3WZ1uM
aBt6kgAtoV1Tepb23ooG8RsJwM8Diy5D5OQ2pL/cXBqc31+Qeoa+xPBTD5ibM+HN1I4y75dlreV+
FTvMfWrceQXj5e6cG5dmcKqnSkp33NCEw7Q1dpV76WYTN/J2cPohkDJRQDP86d1ser9ZBbSr+Tzf
djN54dcBu6sBHDNUP4pgsDb14qzs+oPjMiDxqGFHEp1VXKDsjesGQUoTG+PJqBPIlAHumcYj7+AM
uZQStKknQpxSSpYY30sHdrei6owLAGtJRWZ9vjaRphTj5dOgm7Q/q3Yw7kpzrYCjHKBD2wN7yAKt
pQo/zuZCR8yZKKO3Lj3L3tXrs9Tm6WJ0KHmjlKMxWFrcZD54gyXnULQLft5e3lBnby0HURK7hIAK
MuT+IdMH7W1GQTS6NK3ZsuSirLGqAMN6jczNXBLDwNOHOQTi3hTp8G1n+4P9Ct7QeINfMQ1agREX
BzL98uC6EQB45j2dBkVBfeymBz9vWm8zRY18vqpJlla3jkxCU+qfhgF1RGkND9RESbP8ZmH7mvRs
1Sq2zovX6tPla8W+HCL5bKHivGiNhnXJ2kRLl9R5gaVqEpfN/vQs6s7sYSwYVObX5sKlt5GahBQh
yDvpQhDPVzQyzSynIdx7yJmKnvvoLQP3rbWNx97noS1e4z/BBKLlRu3kcm2nN9boWDuwvbT4/Emj
uXdVNXxdqwnlCBSzRCxIV/NJfSqymmTWdkz5bGJ+TydxHOhPaAyKJSfsAdPymDdaU3ZoqHyv33Z0
jN8mA/1ST7Kfhl3ew54r57WNOlTCfgGzIJ9B1/Dyr81Nf+2f0oWgZWJXKStjylG22KQs5xYtNSrN
tZvR9zM90kGY3FLebvk8TRmNi7jOlzXnbdfGbQLIo08yesWjXL/riEkutGZEc9f7T6/V2Vi9x4QU
zv4h8SrK9qby9bvrz3RRVG1KZBDsG0ty0PiurxK3G8Ix9v1d3ygWMKQYLxRdPkpsm+AGnQ3SB3pM
auzDvJk8H5CXa7RW0DEZ06O69/TsriPnk/AbytycXkuIMW0M1GfCLrqA3RJElsYvVEVq6MfR6FzA
AnGp0UhXqku1/az32Rg2jFtFF0kpGLsNbIbxakiwVL8x4T0/U8ECQzvD0cLuXy3pwzhr5vhWcfvJ
b6pq2CszqUY6W3kdQNkBbK3nKeKzweE+q0dpRcl2SuckiHA43/kWoSx12SMVFHsnvcy6c7w1dxnG
AxnqRCpWT4+i7OtNIqmWCFOb72wnF2uzy3indLPB33AWQTdPxr0mku4yJg1JYhcNznsUGz4QaZRZ
1ib20+k8uBr+Hl4dU9TQ136TXi93XtvHn2gjGneiTN1TlSbiTuqVHwX9Ys83qJVLHvikqTpgLp9S
uly6Tz7J9hgqDYRqyOL2TzYTBFXo24PyycPc6Mmq6MKGhma/oTekbdK2eakMN7tjoNGxD81osWXj
BcCiQy7HkppzFACJsWrn2JenC8ccaxn4a5Ie6BJxSi9oWGbVyWeHIfUn0H3kZW7slU7gDMN0WaYk
oshNbPFVOKHyqQhwCX+ZavTPmSPYMGszf8w0PWNSb+HF8pm1OEY6/YGUAbejJ1fPcB9VQcgxWlMb
KrdLmlWh4mvEO8MqPQf36UX332KtZrwvW01jzjGxe+9ole1ijRtDkvtZrdFCzWGw6cMSD45gYDQ/
Fb6MbkZNxg/ATpJj7PmPLnbqT0XXvszltO7+qfFErtWHWc99Ih1jn3ekkWLlLs33vRaRRxfJqN9K
f3Rfk8HnbkiD9uhYvTaE1tgYG95LF5hE3Xo7vzKr+6nHhWCHCuippKUY1pNCpT6UCRIIRhjwoy5s
hy6oFVV3FG7sD4Vh8fOSE6t94yS+GX3wvTFtA3RLUb1bPMBGgRnnvU3LItduGODouXVlJIOlc+J3
M941h9SuPNgalh5mfCVmTiRzs7MZqed6okEdyM7xbqwR6WNuDDzWxvfbbVoom83CLuKWMRnGW2cr
8+60aaZ3W1I4DLVCqE96kfk3WO+zvQHKYdE0oL8uKoYXEE/aupT6uErCOFkbs6bPXtoIkz098/k7
g8mnEV3i36iRR4OGyGcfLPtsFcdQ+QpSafM/JHnFEpys2L8RBe3/MDYR4RXtgBNzMrAPDlA8GHBk
IvGGKo+2yTzMCJhhMNm0qHGjzlj7wsLBS3l/bSXXLRe2osV+WQDG95vrFuiS8bcYQsbr0h/RUD50
Y4UAopejfTPSeCQfdha8TVflSAUlRtIjblkR5oKmwy04H1XqsE+X2AUgImlWQWnRMR94SmcLw8qv
H8uonLbYN/A3xCnSNI4vt2W3b4q2PVBZAxcEm+yRxqAPir6o5pM5mpiuBf1c2oj3RUwDXm/9+nk0
G5ncm87Ap05LyXcdh4VLVi3FU4xnZaE4LQSVF4rpCb4XBRUKHULWJp5scULZkDW46zrz60irnWeR
GGysc6sBF5ft2tYr+kxxZBjx40j7cmbfLMSNveBEwb7oGq+LWtNPsk+0L13bYBXfjz5m2LzF6NA0
138yp5Fl4RUtJ3mDZeej1TYcT3E7UbxqXRuZUzyl6x1tap544TDXs+mlh5SAemBXvY7WJ5plFo+p
L1lxheIxakZD1tCZiw7y0VH421FrcCL9CVgOhm3cJ0LL18JKtf71AHsWLF+K7jnxLhRMfMFRxTyV
hYQ0buj9zkBjYuNN5hEtx/tp7JCeGIQbMBGYDtHRTW2iokzDbmR4eRSzuS81nxjENRMdSEib3CFn
Y7hVS+Yt/1AYtB3GSrNFUkRNmgvgmuSYD4n2btL89AR+KwoGlXD0MLV8oOhnBPPkajvmKq81ExFW
uD4y0++f7VlFm6a0XgGfSkOrjfudocdG2C5GGbRMehzrAYpn3BXGpbLZYqjTMmKeDWhwjJyIpBNl
/kVLbWfnDXV08Je6RJ3TDHXIGzhu2BW+VG3zRSvme3+yxyPrmsCgb/R7v5P6vVPOQzgwRSTUXB6o
uTRbYuPo9ST6eZdxiIZZk4zbybbvbb2zbyezr17xtDmXq6k4cfLBo2TkKnA1q4NdJLaxX9z2mLXC
5kvme32W8RupiZ4Smmnd1UPJGAse4ASQUwMzpqDOODxYpXEh8oNZpUG9Y8DGOVnWgE1AUJp+htNs
5Y52BAUiWz47EMITJGe8wju6W2MSlhjQrr5n2kAfghMYtSRjUuwgyVp/5bxiN+yy+tw3pnYU1tzI
W5UXLNIyYbdJRcuKXIZ1cD1iGEs9zPmIQmMg7P5a0Pm3gt81S/ouK8GjkoTDobCA/uAnp59lMDOf
E08eJHM9BP3DpJvB/4cO/6fsh7Fk7NipZZD2Y4zxQ3oIkqnrM7RVh6JaaW09jr6PjUKpGQCIRfxo
r6nLdTv8dfb9U+rPdREOY0VEZvqzPxMpeWFl9SQPQEPFS6eVkH4VjMjd6CbsXzXKv4sQCXtxw0zR
7+yafmo0cnWcGm3BC86H+HH6AKw91RNDYOniREiGFq81H5kaRE3uKnZ7xvj4N+I10pI18mbshc39
egP+W7H7bcUOi4Rv1srPo8octsk/wpe87pjU+WZcGakxv/jnuLL4g/oNg8qMAGFFzzTAv6p213Hl
9dHqfw0w/Vm185lX1imE2LxTOuUfluWfVTsHgr2B/R2/tgKfadr/B1U7+2ok+9cLvHaRbYtJf3N1
0qGy+KP3AmUnpK2Ta94sBNPxsoebMne0Jk0dA1R1C8fJ38qSKCEYPCdrAsgPy7MGhJTGXWoc1CC1
m4jPvp0brdzhoVHTplnUbR1Xh6S1+hNiVDdE8yfOdV9pr5tK0dutYnpDqWcE0i7F64G5P44yvyNo
qWlJGbKpg3I95oUCd8nfM3ZmwxgfEqbI2mcNI4R87gmWcXxAhHcriJlPzP3LIGmiV5D27ieEYage
0EKX0jg0SlrMXtC6dAtxMmyaFX3uhwQXn3o63GGPGHCDXWi2aa1qvo3aON6OnR5Og/4x0QTBX6Hg
6DHetEMKuOyZ52QWB+4aFJbqrT8P2VbJPA2XAvDZ1N63OUIjdvPuhalpa1e4pbeRjqTHURI9GSWU
R+6UHXaV5x9m1acXl0gzLA1MP2SO2GqsZ45tZFX49GX37ezrtGZBxDJ/YwQ99h7olnClSxAnhHGK
YGpkJjIYmB865al7mxjkXCQZF18vxy2ejHu/7A/SXluFQO1RUEHlszmzQjPSwSdntBiS+cnphplB
o/VLyLwLu96KwmLukas5miBa6T+Uij74NNGIRrp2RjU7bywTBeXi7jScO3cOIv+wz4UW4AXlBo0j
Dn7knzr6hhsvN+ktQyJ6wli3RuLVO1tVSy+w+mnaQWn3aUiW89Gsk+zRzfB9UYY3hK6L+znNFWfH
BOccqkm3QXo5JDQegU+PhKthBG/rG9l7OTHr0Wjeca6icmM6VhP2qh1hmcZ7tmiEiI3Ex52p1zxr
HmslnrxpucnM0QUhK+ydVoFwoCyY7F1ZvixO9h6vR3ufQekmRx9XZlmmnRrT/2wvWhYiB0Xsx8gb
vZ9AjCwJr43xEsvo4sVoV02cYzZ5jLgbhOQG6qgOPM45UgQz3s/2YtCKUudJyz8ssz1h+uHJbZZm
88Gp4nKzYPZIUsVaYFa9Cd1Y2odkAa1mJ/O0IX1pwtxo3wEbRqPgQgUi1h4Ah83Nnl6fDX7bt3ci
g9gXWdmbFr3NLbWycmd5H2Jf6SdcaZuNI4X2iOq7BFkoEjt0izS9lEPubSolgLfmybyXqd8+MmzP
TKHr55eF/kSo1HKrurbYeVk+klknYrcgDwwdFHHbajI4mkxNfyAOWbY6U9BbQ3koiZ3cDJPOogfq
ZuJomHD2aJoOB9OMj50zmGcFFzTUzES+6elT7XqmmkLTztyNiP0xxF+uCXQHZIhyMv3NHNk6om1D
8OYi/cNE2t34PU5B7ZJXr3PNmh8i2esno1OjE/ic0jgV4RK+FdIbw6krBezuKt9aM2ZJfNT+hmEV
ix/Ubiqy032dizvNzj+k9NgY/veK49AwQN1TigndhfspF+Uc3KTARcHSv0xRgqZ+xKJ7dWAIMtG9
1r30CBBHYJXuUoxrnYugtInc3Kq3iT81wTKuMGdKXGgY/I99V1xSCMyR0T8UuG8FepbCkk+1zxh4
zruiXc5t596kIz+v4HgQ1s9BZVfVzoWQuiH3kOG8xooJXBToPulLU8djEHvLa0V3/eCuxZEid9eO
b99tCLRm4FE1UvIKJYQei/Z2Nt1dX5ovfrNmGmm2ItuU8zoyYTaWLmNys0ZLFkj3ZDefB1WQUCxz
dOdA0NjrhWGcIq/Id1lhDluYHEStXS5DGpregSz+vi7M93g+3kBLz47KmZ68UbmBm4oOHboljr2e
Vo/wxt4WEcMulNo/C/TEtN9Rpoxx8Wga/dm1u/ZOeuYprRG/OHVd3OJohH9G+1AklFsiK2EEomm+
tG2vI3uxo8BZ+npv23ghRIzYbxugXDcrpGhvT62Hmuj/sXcm23Eb2bp+lzOHFgI9BmeC7JnJJkmK
EjXBotWg7wI9nv5+kZSrJNqWTt1xLU9k2SQygUDE3v/+m9Df55CDWjP+5GP08zhb874i+/S4OMxP
B6zztp2Xw7T1uGK5LI8NdfwdAbunVHAIAReQjj4ygs5ElG9lb9uBXtgPNYNyYMcmOc5NeyDaqg6G
wdRofHqDxpbjJS4a5xmnnY9j2Pd7d3a/VD2RfzEpe/AAunE3lRNyJdK/V24x+LddDkodEU7XWJb6
4ON1Taz4qgPlxe/8HqVPtWECtSVmHTgcts5BxNqH3idotdGmL2ZSQwfI+/7gDYtkr0kkrgyhQ2rZ
lFzF0IrwWWeXGz0NGo/EQ8HLDXOXLKa9hXpNVmheI8GwarGL3PTDOCQ2fBjvce7aYwvCHtRa9M3U
SIaEkh5uNdQjgVU7YmtXrrcRVqFfeTXtQUVGJQBgFW6lI6s1pme4RvwBKlN273G/C+HaEDzTkAcy
jbSB9QpKvleNT/RBhcurCDKb5kHD6iu8WyAcf8SOIEZ9xEsGwINOZN8YFcbfK7d2jPC92Y9KHRLM
s2yxCiBJjd2bZI+FzHlcQIzQvkeN4TryuYIRvpRXpDq1rg8ZVzU/0JQR18Y5diFykfL6v+V12SXd
/LvyGotQHPX+eSB+97UkyjwfXsrk5/L69Qf/HIpb78DJlTiZiARE6B5D9vFr2/3v/2ie/s5WnpQE
mRApA0+Syfef5bXxjr9yYKMiPoHialOUfy+vTUbpaHUZlnuCmRIa4f+kvH7tf/9dXiuqKAJUOLQM
7KBrOm+njHlhtktR6xzqbpnN615UCfy8fDRvjHCq/I1PMWCuigKyy3bsnMYPGILKA8g6mdULjp3I
AFGP+ZR/XW6vYwofLaD369fS/1wPXXg7Os58LGahw1FnlBQsQMsiKLS2ZYA1W+vFyam7NBPkecNm
XXPWxDSTG5nGqAGFUT3hASivZkCRG0HrDZK4LO9DQzM5snI33khfr9NNXBXNQ5SBge1R8TJQEZPu
Yq9rOlBqmDpyqDumg4Kr9jPgCwqSPi73CXnCXzUhos/joiXXEz/z0Z6rtF9jHWOd4iIPU7D7lrEL
OgfcTzC6NTaVNtp3jDvz44Cn0G1Sxd31MLY0BmG6kNQckimM1+1EKEbIaeNG6bCyuSmE+I49M0qH
oOmiANQDKNeDIbfN957kNkO1AkzsFQRWOpCzSsbuFB9NtDF87jzRoOJqxAPwrtNMZ9s5S3HWl7y6
S3vyQuMQQwmiJrLyCr51DVi7hKtsjN2tQQvfEZhcXJeuiPTN7DpErko4memqtPUPDDG6U19ZH1t0
pA8YPZce2eshIjpDSyMwGziVu1L25tOUZwbZoqa3K+oonVbDEobXkBVhYZp6tiJYYLm27aG9x33F
w0T2giopfKlVSBMZf/fucFcoBKodrWZnAUpZPdwj6kKQKqG1/bNQ6JUszOl2aFMbRT80UqI4V/YF
8VLYF35z+RVT4xBQOi3PGAZZ1xCZPjCZc9aw47L1rJC0UmFqs0LXHM0meAXATa8EQjAske5Dhcb1
CpcLFUIXOdUuS01vUxDhvSLqtVqHF1TPVwBfimhmi2lM9s0fx88i9LVtdcEFsR4U9yxyJhoKNmwV
gLjkvrkREKDRUBoWVa99rlhtK4rTI+TEOCi8xlkzJPy4FIkdLAqkjBVcaSvgclQQZtQDZoqecUiu
AE6MEqNDrUBPO6/ra8BY/8r12gZzIMBRKaZhheMrgOnQsG4uKOqkANV6hunaM1Rapxe8FRmHvfEU
CDsrOHaIEgto1rGKGaDWC/Mp2cKiHimsbLFYALrpK7w7voK9s8Yc9sFgRDA+2FTfQMJ2k8XiSVis
hY1up8nRkbp77rw4jD9M1gJU2hMAYW5LXw17cych9FwMyQ2cc+ODzwRWJzdcSFJPqYqg/4pKsz/C
iyzTw1hRZQd5tTA4n1IC6sudrHD/fBjw1h8fOiiqoOpRpDFHRKw6pM9Z1smlXC9DVrp4GdmtscJb
2l/WQ2tM7Gykz0bPyIYjVCyxIL8106oC0JNWVt9M8yIQlolkUnUlFvV4alFSextw4i6L9nPnWc99
VY7dZzfzReYwmcO9ZAjyvquukq6ENBCUYdaRslg6YXZIwbk1gpd15qmPZdY7GIY1puHguiiNkBcL
x7H/ntT/l5MaQpfB0fnPJ/XTV+ZmZfcjBvb9Z/48pMU7i6Gn7wDfvh7F/zqkXfOdBW1M8ZuAjwVn
+78Pafsdf4FwBVMLjmHTtf91SFvGOxdHLCzX8Y4kA4XMxf8EA/sZwsYdmDrBxwrI5CI4KyiI+wen
Ht6Yfkkqz957XtsBoMeYvEWN+Yqj/iNQ/hcgmXQqviN4Gg7I3Ik3NK6wHxrDhDK/71Ny5DhHfC/w
prD6VHKQ3ZHqaB7ypWGqVqE//w3XST2vn1F6Lg4I6ek+t83lZv/8FSH65BD+wZoiy6+yrStbWBmT
4Lq2nt2nFAEvkV/UPtruxFy3y5x8nUgXKzdQS811jhct84c02XUD4ZYmvBGmcFV823pESq/SnP6k
m2W9aSNE433rhvcFNOz1D4vqb0h/f/slFP8OwRJwKkPpn7+ELq2amdXi75tlMhjfVMu20PCMT9xx
ft+wR61CkbnmRmP+Q3M71c+jD0PHrqKZz4fryZ2DoO0OIosX6MOS7Hzk0tvBy/ID+ZkZw6ZRPBZJ
r1TaSwfXqSh/Z2TEkv3Lc8BdVllfK18q443FTWuZMGLc0cfjmXmrpLiApCTnnVul3359t/7C3+OJ
I7UiO5MQJAiZb26WPYgW4JMrDaB8bK/49nSO11zJzmzOug3A9OvrqRX0U53L9QiVoARiif81gM0Q
MFYKLed6USLP7ChtsPSMon59lb+5f5YusB/BjMQzyMX9eQn4WGt6+ah5e2mMyc7jrtWmn+yz9nd0
u4tPzZvvQ9gRebi8eAx+3m4KaSQMn/k18vUFfvritjDrfdbMrAhNc2FiIEh0EHxzItPv5wEeAgF5
2dpKRXgf9+VyLGy7OePpzMHsDEhVYF8oPopANRbBtb8CYJh3CWvz/RC5JAubi26BDaRwU5A5cRGw
TMjjnpHsW8NpP4zOkux/fTdfias/fUtaIKZq1KtKMefbaur2w9YXGmHex4uciAyA/V0oHrirGOGa
4oZjXawsM6pvUy7hjSsGOYs33UP6AhW58MsV0xzcG9I5J/S6gSX1QTAFu7H92frkKpY6o01KqNF4
EDi/wKoYc7GSTgiWo2f+Nl4QZXSK9R5HpbEuFROePFeRDtEntrNs7yi2fNQb9n5QDHpOlxgRaoi8
N3KSvQbxifh2OPcxxMlda1beI7PH9JBqTN1LDCm7gCr1c8zBsypoEA7IItAh5OgHgmGB40+xmO+G
ULlLD4YFb6+GvNc7yAI6EVX7TFbZU4doIFfqgVLpCGy/nr/M89wCjqAyAOM3d3ZoIT1IndhYLVlN
9amUCTaI1yOxY8UHsP3sG46sFTCR7iNn8GVcAu9XuhlUZTx9dL0yW7tKAwFZNT+kShexNL5zixuF
t8bftUTYUiTjLTqi5g/wCPtFR16hQexZxQguNKW80HBzXFtREm00V14VBX0ZQ5pmwzjhMA1aeYNf
I7rLiRoLKgP6DpKTdnR2J3U/11VOPIep1CCt0oUItEqY12HZgN/DAUFegRULOhLtIinBL3O5wb5e
jaKV5kTnfFmlSodiVL53gOxlvsjQae/QbrTlodN7+le3NR8za1sqVYtU+pa+Mc2XSmlestjQUF9P
IE6VUcr3GBj1qyqbRh7NlFL8o50ZEdHEsXk2QjRs7G3DocOsIJi1qfOUK+oXU/LMpSPq8yzz6yRE
aaoptc4Q5f26VwqeGPbsSupwPwzYOXpkWdB5puihTKNrjL8/xUoLFCtVUCjQB6XS+QB++WIUZbke
oVqtNKUm6nCQhpclxcmd+vGqVKqjaljQH+lIwPu00YJOqZNcH50SDDyYXEWJ5QBT5KOm9ExZO+FB
ojROmlI71Ur3BHoFve4ihpIXYRSHkbvmGAKZjjwH4dSYJOteqalk22pHe6mqU6e0VnKy55d0bPVz
TxKMF5QXWZZupPXtQj/ENtUKdFuzsNDiT/leKFWXW/G6OBpTmYyZiAF2v4GtEwMcx4DSXUy2sZ6W
n+VgRR9T4OgvjtvOH81BjleF5w0QQ3zmgYwkTlLX6l2DzcwKKstw6AXvlzZndYCKbY5MIGy3FYcy
8d2lIYKGfOZChzM4acv03hr0couXWHzQs6jeWHmFBmfuw8A34TcIco5PCdR3sF06HUZu5Skte/Dk
xJmaK7+mEcXDbd5pDqlYTUtWQZgO87ehk2N1o89RviY1YYAGMesBTI1sXStn+yTi5BALLuCG3tcb
fRiNDd9YXrlOZyBWnLM1+MB8XDq9/bD4o3VLir1+M6MQhIITkiUNxFENXwX8+LWf68qvP5WfY3eK
tk6VuE/IKMtTacNP0HTqC/yR4lvMXKhOCO3mvBj1gGlGyqfDIoQsNqAj3Eud7D6PrOYjrKEMrxdi
pxONulCza7RBGRRZ+vlsW0d+/1R1bX5oEjiOixbrQNcQU1LJl0Qotlw7eRVeLb7F55rN+sbEEebK
bRXfcQSmWjGlhv9SlfXGlwPfnOnprRoSru3eNDYNZkobyEjR7eLWWDhk1sLPGH7efogI6wMUhts4
Zr2v74YB+lCoOWrWY5JtvOqy1N6YfmzfCjaG1YJ2dIexyrLXU6LCfbcPr6hV7FUdOj6z5FxeDegd
mFLG8zdq4OEpGST7emU0Vym4IAxi2zJ2Qi+aXVhq9hERrHY/c4H4wuALltCFN2rPsf1pBASGnas4
q7qLOjIEH7uXitFKgoL4iPoFfJqhhTs01Q4XrmVkZqibR3vSd13DpiAAX0jAUMRZRaGF86uySNN4
WymSbVX2j1jpGauxI8jXzmA8uYl+J8PSH4IsjoadvJB2uf1u9llaXhOfZFtA7E1nGzrTVPZz0BXQ
vqTJzOvkhwW9tTXNsGtLz7Dim2k0pmI5XI73/zI3fgMtk+eoGpxfNKyJjJI3sPL3H/qzY7Xfoabi
9yidvUKVaaj+hJXNd5jIW+4lo0/Jpqisv8PKYMc0pBZVI/wkjB/1H2BlaCAmoiVVT5L0ajjOf9Kx
ugKo/Odym8ubtKwObbGNqcKbhs4bHESt4Er0rDhDM+wh31ribMtrNzdMCM3NVIaf5pJ0bQaWUfye
vS4i0AXXtwQv1RuzgtTADmBubTcU4Ua65LTFZDYf8X/PH6uSCToTRO/QhN1jyCmM3WjfvOCqnklM
SbjB7yFflU+G0nvUxcg5Mxia/GKHJTpHxUGz5sl+KfUGbjTuZfaLWVP1Bap7eOqcSvuaTXincOAV
01ffpT1PkadY4w0eJRvJONqLpvSop1nt7ZwhLB9H04IJEURab930nSEEu3RF+qNlA2gvcTlsoLxH
gUvhGrRFArfCxcrpRsgpX8ss9j7lWe4xYKaD5bZUhrEX0xid0lr0OIE5WJczK6g2oUes6VY0SIAZ
Q/1hFUt55MAAsvMWa21LK/so07bc2CK0KPPYEnNSep8MI53vi8oWVJiwOXb4QNR3ob8QzMhY2Dro
FGDPbNsc4SCZ72Mdy6ssSXO4CwtD5ae6TYZu5TpwLTeLXEDmsChD2BNefCSpJjvjtklMRBMazrGP
svHQ1dYWNur02fWzFVke3uU45yGcVXeZzQ76cYVzlZ8B7wSzQWuLLwWHaV7b/PrOzOlGZIUTVkse
S7/CFopxrYn3S7Hx6B6NwIt9qLmabCC9XlwzhWQaiGUbBppYQ/Fcwxp4AOI0nd9qjgt+xjbnDC1/
Se9t+AsMZ7srwqfU8mDG2T2k2G6wFFIZR3BtiX1BbULESb9CQYdRXw/LFD91bBtYmpZg3GvzNQqI
j7sR6feymzoSkhHg2C/1lGNjZ3UenFFc9JejXypTOXJiaRIiAUOXBBu+kKtuitFIKz12GSTjK82b
+QCjaDDxYm6Aduii6mGUCDk3Cgd8t+xZmunam9zcWntu5Rg34ZCP4bbtQh2eQj3A+Y2qtPuSorFZ
JRm+UWoz59ciNIEinacp7MsKe6l2CBxN5z/gl8mvxyGJP3tgC2S+Ghl3UI4Tf7M0gD8WRgOHiWob
r0WlTGA+gZ5GI74zCHtDv/OgIcAp5oqO22PWN2j4StJNsTZfmYfpGIVPo8yQB+EQG8G5Go1h2VGo
Wi86dbj3qs5xdNiCjUGdBjtnkvsoSW3rHKW9v8nMJq4OiZnIdhM6PcT2xiDWKojMnK81U/md4jB3
PlhdOmtPl0/p5XT5e2yViLHCqYQPC6WEVaYxeLvxJfQKCActYq7WGXnOmWJqPHRjBghV5eqRGrq6
P8Qj6+1NBy3p6Cu71FlW/Ls/K2GR50dw1bWK5jurmJdgfQGY4Y45O5SbYrPJXFnM2wTe+LdlsVmR
qaOpNSUMKLSRrXnFruqHEVGhKCZEUnU2rSY368Z151OetIsz3usX49R0hkjJSoOoXvXCY52WBaJo
y69PnUdHUtveHNgGkp3g1TS4KCMTH+bWvcG3OjxexAE8TCdeq5ngfRrPHfxw5b/bWX0bbl0sIR8G
VvEuHb1iuzC0XOlDZFO7d+3nVDOFGUAK959gEU8PnqMVK9eQLGxDjmSfR9yAE/asGt+uyCozWCq7
bFfdSOjz2vZLnOK4ZQO+NLT6+xE/688NDoLMS8rKMzd4qMCXNdrMOkQRbtbmRbg1K7GLdF12kL6p
Bi5YjLejsK2NNUQG3WRnjtBTQrxVCiC4gzkl5q7KPZJpJSfGuRR1eU9yvFMikUF2hodgbLz3L5Qw
yumvlluYVyHChX0KD+pLbrvLkxf1k7tFzpSeGukkX81mGh/hTcyHmuw75b2KI2uivZepJp/o7VsM
FrKuCnLfo5AV2KngTJWjtUQflftTudW9Yt6Ukb58VYEmvAFj3h4ZErkYr6RYYQbFEprP2Ky2xw6n
UFR4oM40qjK7LvCXh1o0qgpy6ij8knBxT+Rt3sBOKL7ath9bG5i3VKTT3MxXZTd5N4BQ96IgI5i5
DGKKVeYNrTjlGbv5me43PoDvgpY603YZzGHdNll9PfZEWWdaH96Vg2Q3md2gTLS6vxdl+dGMRgxI
Or9dSJPA2fVUIx4x3ocoQJ7GOJcP+WjdxfbQ3GMliwQ5agVdqnAfSreLmZLQBd82+C8xcc3pauCJ
f4yMcULB4z0u0PU/9EQj7KrJruTOHstKmUnUOT5xclIv/rifahxzMOC7w0S1CpyijuH167F+Gqsl
X2H71+lnzGSrzWS4+gbTXBG0qSnhYA4wrzb5qJcQWsJ4/BTWU5HjqNDb6VYv+r7Yz02Ox4ImrHxD
kV2tvEnvHg3iVJ4Tw9fxtoQ/ddunVk8+iFYfBgfF12o000+IEurjCGPlpjP0T6P0musadLoLxDjV
zsotw+7U4sSxHgAlH2Zfs46Ye4pzJpzu2wC959OM/X7zMnV6PpzheIURfcSS4UGalSv8Nj4a8xKe
cYAL15mTAY94YjoNHbPinGH0ACfkqm9N7RafGbw4DBPLztktvubdOJ0aBF0bGEXGOU264RmP43Ad
FRix+LVvo5fCFTXISjg+cNbc+sbVwuwa91WjXDMA1c5WVtlr1+pRIhS5iz+QM13VbVF+AoG28Jer
34d9jVZDl08dR+ImxlkXC2H9WcCWS5EMnrTZtj6OY2QWvHOzxLmuFZtQi+NjG9HCmYAP170rVWxs
F2Qu/qCxLmiv3aqeUAbFncU39OjvYnKu1lFt9B2Hn3aDkZ+x05P4VCBd2xu5+BCmFhTJ3EG/YdCk
AyHRe2OstBb1wDowagRXE21dZPrhsqaPhZDlcIRvCWjQp8AwavOM3bFz5/mye6gk7p+BLBF0oF9j
YrxMkIW64Rp/BDuo++i9gx3PsZQaTqvmVK8iQA1yjoriIUmrAWtXyo+tAQN1PRl52m5wRdKCvnPs
JpjbOL4rJmlumVrOj7qUw3FuTf0Ds002KCeqrtmBhn0ytZhmdYV/Njt9IOOrx2O1M6z6SI5Tcx/b
RU7WYtmOeMyiYwzisRJXvZX25yRxaORC5+B1qXeqMhBcvc1D+KhF/xT3MYBJARpiC4+CAt+d90Pt
N4HbTh0nbmteOXVBqpoeGYHlx94WtJHn0Ml0xK+40IlM8tzekQh8Yps3oeiyVT3hEAW5g9MRlTRS
NbfId4i7vKcaMWUw1JN8CNPKhSXbhCkAixj3Xop1ExZZGV40uKhMUtzHoZJjQfuAEzJH7bGyZguA
Jp774yStajsaxmRu+Znp2i1go65c9psvadM734A6x02SOfayj/0u/1y7brP3pY+fqCqtapImg3yY
wY7gkuIlo8ypEq2Bz1oOCdanXn891sJYh3PerfBdGqCsusaRvKXhZkFYbL7nfMuuuzI342EFc6O4
S7vEXLWZXd33SBqd+9zXzGVla74Mhi6lLChH649MGHq09Z2SjJ1BpxbMHJHdRhyy0ZBPJ3xO2s0M
03tapa0XnlvKgGtIbDU772xGHyHVldV6MQFvQ8t/jmDn3C/hmELJiOJtQwrViURP+6YpY9htftNo
676y+yuzyrvjJJp555XJdCfsrn2Mx+KqGZtj7S3TuvENknjaqv2MZQdYSdfIK0H03E5G3hOF2rgF
klkPrrTOQFY5fj1DlsFkmYoovyIdaRTbxF+WORgtWacrZgVVim7IWe57U6//mLICjT9bXo7pQFkA
lZQ9NwRh4CnrpVZ8noepvdP8ebnVgPeTTVRjIPqH19UA0uRDu4FMeitUmjA2t0M44VYcm+59JfIP
tZlP8RHXTjc8maX+0o1+fT2R/kNaEWvhkI1JyHNOZxy5sjR27wkqg+OSFPwJqrXMyvAOW99mi5gw
QJ8Dx3j8gLC1gm8uvci9i4y6ueP0O3QFJ+j4m5nG2zkUMyjMOmjaMZPT6dPfzL0yiiWAZ73a2wCA
NB1obiFpiJzK/QfI4G/GkeoX/Tg6uVwIghgnAnbHxttppCcp5hvUdvs8Bo6nT8VHGnSeWu2iz2wT
JcWJqol6dGHD/c1E969XZ7anMh8gZPkmpK+fBzd4LQgXJ7pqL9PaeHRGckqTRjm2l7g9VBMUqMDp
XOpBjdjD75KgfxxlC0h1b767p1sGETkGsmr4dW9u8pjaqA5DWe3bi8f7MEa9de3i7vCI/ysdFHNw
vvxgzRWq84tESZY9PUAZublyTxePv34Wb4edyjCEsbpAjGoJC0nNz3cDbng/GxHNjCuldRiV4NZO
YuNxmd32iy/Fb8e4b+eQCHNMOEYGhAHdoj5U8/Yf5mYE8s2YtpB4XRbSP3Ux/RraBJaB1sH5Nar+
M6Q9y7qJBq83D5IhOt7EEPDi4jq1U9RjGrv5BoDbkreFVE4bOCbXVxL50NOgXE+GrGIlEcIaUqsX
Sq8c6aYPimN1y4OBiF1umimT+6Tv6S3q1H6p7GHsHlrh2+126YQY21WpNG2f8C2rEYN6E116FKJS
T8yIBjTjmHjEXJgpOd6uX9gnym+4UJQPph/RxnUX5wQm2PWzjn53whYMJpU6MHW6ahDe8wKbrN2q
6O92dxHezfyP8taqaiTDMhbY3qPfqJ4vAEjhNN/zh/4Lb/4W3kSm9cP78Rdh2ocXnGLLqKt+Ds9S
6q5/ydKgor7jfbEB7fF4BbRk8vsd4MRj5p0CFhXqybr/kzKrFGkGCkheNfZX6LT/ZuPY72yLLgdZ
mgF/RnCZ/4CN8/OrxQSAPQ3aLia2QgdDfbuBL9XSwBvsnXMx5MWy4nztzxLjFCeYxqb99MON+e0m
frmYD4/I1UnNcvi6b97jyJ4Uw7WzMDmm9S+tyoDMPvhPr67sl9Uf4Qn14g8kO/x/XNoEKla2Tkxd
3uzgiZYJ8lGEdV580LLSl0B/wzxiVEH5h+Tcm9gAWl0CubUh3Nng15f/ectU39w1LCBqgq3wAGP+
/fMOZphJVDKEMs95oey6PI0aZaV3PbtQAj0+CSYF9/z6msbP58b3i7JULOHibOa+1RriiR32Ue0b
ZxwOOCvw5TgYhQOqCdvLf7q4OViJycV70bOrIPntvjhgo7tcg02+apiv7WpQu2nfajIKN8uCEwIW
T5xzRCbo4jjUId41yVKBc2CrwV484Yhu/obr8rMW+fVrXIB3xgMoMd+yULzRQ7GG4OAMYsla6XOA
u1xhch4ytcc84dibMsZzv757DA9+OHS/X9Xn9XDxGcS16s0TA0gkZ9SW4pwqr4tSAw9r3DL+pqdT
c754gWH6KG5sF1bTq0L819f/64uJXtLDu9dB4MPI7M27Mvg+cRLZJM6vlkTqhcEgFzug4c+t/f9a
YFy+K8R83ixV5TB6eHOgh7Pblbrei7MFbeueMTkY9JAIoO1L+MuUWYSH6k79HOk6KDPGCbwsl+QV
JGv/aY4Xr4pp6khjbYG/3V9WrWFpld/oIQN2ZoXNyiLooToZXaEPQVJmv6M4/d1LogiPvJf841Jj
/PxmijrVE80cjDNWEt66nGNw4ouv0sVlq5AKuBvASNHDssp9XCtu0AaRZDSngkxRgQjoqDm42ETg
u9EmQ0Z86hjYby7eXHE8MDUt55S3zPbKaSRvW+/z7a/XykWY/u/q+PIAXYPnB1nLJhrZe0PUSsmM
673ZF+cwTJljLBRmWO9g7zR1Rf0siS5Z5R6Ti3LmBhbKMyQifQFhH97++/ri3pVkFtycZVzwJBGh
3n65OHH9+nP+zS5IAiTsUp1mgTblzcfUsH4YnNASZ3txuSGX2yxqAHKB+fUj1ibfi5Z/XNnqBP3p
LVYZ93QnvnIyIFTv7RWLjlwSHGLb8wiyd2Q8Yr+EPpOy0DeBtnudSB5pOgDexB1R5EG8jstgHGf/
IekzKnnkyd0XE53SHaRtlcXHS5CQen7CLolIKYlZWcup4UC1VvY0KmdqVq6IGkKqA17V2CXODHB+
fRtf26ofnzeHNfUnI0l8vCE2vp1HLl7mE0ELGoweD35TPS9ynbpaetuY+dztSbAZxlXqDmm3JiIl
B2QdijDe+jHjhyDnd+uk8uBwa6QoB6F7uNsBL+RuD8WuF0CV0WxiMmwDLukmmSKgFqP2vtaKqFvr
blVJAFGIACumpsA4SOp5M1LsvTYcAU4dkGtVMYOpyzOqyvjotUV6ggtS3QwpWPDaqyT6k9rItY9i
drNbUc35Zz1rxZpUafI9wAiXms83xF9mmzwn5MxxuU46zu8rZq6FCZsgre8aAhaK1RSTphJYRAat
bTcm7hvjGq1+6sscQzAzdN0H328w0MVAPnOA0wBDgsKOJM6KDqZqK1go3h8ki+FXVxZtl+2XaenI
4e57Sx4MrF/o12lJT0bU02PVQ3iFj4D/QNwIk0wXyF6eSd8WUJtskpyQDRlZvMIVpK7v3IiQqNXk
W3G49lKs3iLynJ7qjDXigpJEgVNh69jg6RRtKA38jSs6xkTMNe2XlsDjZFV67DaUgGrcq8za2mTm
x+iysO8JTbjAXhsy1JzA59wTplJZz8ksYuHVDKZ7uBlXsFHTGb1+1Zygr3kCx4CqiLOgTibvAHst
vsESsPsMIc5h3gETByAylWvfLKIbjHXlVvqI/Boa6lHXl4/oipMrY/CmNep+44+5qyp6fkaDLo5T
W2Mxq0+F39ofK5XN1Dh1/IWFMn2N+jBVY+OoXOs9jwcWXYcAIqptNPjusGJhXdhcYTlNHhwzDUvn
qvtiNTgA47wd1Y+ajVvxcSg9pilXZZn7xaM7hJXuswByktbWhVtghIqbGo73aA8RlYQqFl7As7Lr
VWYlmohJX9dmp1h7mfDrj1oM8M3HzdJSuTAxb9vi/UnxsyApqcCHYItoQ3XUI6ix7PYaWXPeyHQH
IWRNBhlq8/d4q/HELglHBfwf7N9cZU3FNCbZJTOrMojxTc22FqHL5gqueP3sy5Yn60CJygPgVUIa
demh2R1ZXmXE5L7NBrbsxIrOvcvwcrXM2AGGTEyCKNGpV/HLYzdSyawXM1JgRMLfQHwOQJtsPBb7
kGsVOHlK/OQAL2NGkQUxJpg2NWrAS8eBeyS806fewZ8mm4vqmJWZ8djoalQ9VzktdjewP7OdAWbm
ll9EayE6/iZaFEFsSCh8XieJMHCYLXrEhL1Ig5MaNz+T/4N+NL3pya32V4Ap3unVw9CtpnuiWDnU
X8lWao+khvNOIfy642W4SJha+6Xx1a28zKTbtuePl0/LaIPxJKQhOOWUnXih28l811xqkSx36IUZ
0jFgjejve1rymwsgMqtR/IC4ZXMhDfQJ7YaZk5mYhpDTMZdU/GJVPc4G915AOcV9gvc3hWk0tF+S
isWQqj/BG6dPZ4QNvSAjZA9itL9B7Ej4nbLkavyoeSZGiup3Str5/lIoLLhg46+urGyMifqevHEe
rTLMnQwv/cIYgNFYQjl0qPCdvdFjXmlyvvWbVuZZdWIZ8eyA3Cneq4aDp8Wl8eJyqac6RXhVNT7U
CAKqSI3lNCf2D3fQEGOOFwcZJA5SFWkzB3x7+OQDPzMoPtzMKEWToBOXAqdXpUq2MF5/bX4uxjZz
6isbLXsmgMDSsga3PtRW1vWIqAsRoW29IHlXM+oFhe8KRiUAh6eVpODUhQj/yAFeyEW7vEICfjDT
80mqMoiTp8Og7+xZI5aZPtFbdBAexR3/6keCA7i0bPY2AuXNQxYXMAdnCAVsA9iH8qRvytZ0D3yd
6mgykEe93yPJRyzMp2WKJ/eMFTEJVsvzEv6n44mfw6pThm3p4E53FpPv/roeIy3eF3FIDyicklUL
K5uBLSgnHya0WcCvkZmdILeK0BH3Mc1gLm+6RscP7mJPd4Eh42Lknk51wfe/bAJZbiJHS0ruSp4l
+NDNAECEVfDCOeryxQhd4MIqyDtRP6cqhvMSWE253+yb0OSpJkbrrXMOcu7DiNHrxcAUadx0N82R
83IJn8x0laNHnidepxF2fycpWz7JZSVaTOTa45iwBdgiZcN4JZKQ5RG1d/4UGiNBcOoBpY3F1mRU
YbMvJEhY0i2TT7waSNNmcYgoYDxHqGVgjFHxgOUnpCLlvmEw4ce3NaUNITMSG0BT2UKZxiyGgH0e
N9E58RWhouZFb5gc3l2+IScRNXLrsAPJCn7kpeFdsFV8XgAaH4l3Nh4Ttm49GGlpH2Eri0eCK3gs
narSFrSnmE8p26XLsTkvOiuqzjUYKt6FxYFj/6k0YFSn5POtpfIXvNw1yIKTD6FX5MsaajwvvcO3
yJLQeqn/H3dnstw2koThV1H4TgZ2AofuiNG+WPIiWT19YsAiBIALQGIhQD59f1UAJYKSZY9LMcMY
HBxhUSpWJbKysjL//LMs2K+JwE+RoKy/ausVFCwDc22eljSIouY/DzFHMVRfR4Yke4ryzIYrH5Uv
UXC63EaxIKOu6B55vopt0Dy2V07tr3VWJRmJO0Fe18toPtkiVmKAN0lNKJAMrQUlbNpLT+iiU00v
Z0uHv6Y+wFjcglGt8NiH4MCP1qJ9XjyWtq82YOtJQzgtI1yRUFzJrYL7Ckjr9GotBNDYInFxX4o2
ztKwZuGAE0fq7jCsOdbqAmqcehCvvlNpNPwi9dMyyuHZmEDA2TJZWJPrQemiIq5WAviwJ8vLKFxB
3tAoxKyauY9z6C3IHWWwK/bGiXcylUTHDrEUqRVOPRFRT/oWkN+ksEdfJLCG2yLaQKtESmRJIuk0
87MlmokOzUeDhUEQIqPucn0YiwU1sfQ4o09XZlV8tsIRyo65e+o3FGlCsyyMA7D5tDrWpyE7azBc
cMKARDNP0zlKA4UZ1t6M9U+UZKy/NH1kNYqwSwHiyM6lBbQmBTH0dDhA2MVQIl6KMVIyB5UIBnEA
QeATmqvqiNJYDGkaZsvhKbQ3kF8mVGmtUbiCbWYuVnxvOF/VXxse3zlXtXtPEGGGdsi6y9XSRbsN
q+gdj62M2nHYnOfr26XuxvV5QZ+a6JNOxjm9SDCjN5kkV7XdQuCf4hRt1+iVlt0VdokTEvYm3r1W
zQWray3WO/Aqio+NwW3p1rNPhmnDpDSEqRMy0nN7utAOJX0kbXPHj6EJI+wAjAntO7hS07jHZAPX
YOqgBeZEWsXV+qgg5Onhoayce7rlIud4zgtN7Wpdn/XKsXmqJe5qeRguUvLcy3p2Ec/n42vTynX9
iFNzdsHNvj4XaBX6ScznyfUwpbbFq6f4C45BdzcLJ3N4mOVG4Z7QYL3QLhfC+F+OhyGBSHDHXLRL
K+UGA73Fhew9mxBlg/ltCrDmNhwbvJ5sNuffhacjJNkPWXadds0K7ifQLNBWLPFxZsKlk42CoQfC
wxO9IssFECV5UZ6QVrqqTI+t6kUL8lcarImfQaUQbDJS/AOAPMy0lofJMMJur+04nQSppOCbAD84
AfRjXoCTGd4PXdHWUl4MQy1M5pc0PAYinRXYtBTir+EV8TQyJ6AFP8Ye3fOquaffSGye3ivykbFe
uceOKTBDqBO1xo7B+Um/R7R1FmKt6G9j3IlmGEfSbnrjCcYR2KwJIxgNn4EPYNRlS9tZ5kJhOAQy
cFfBIvL3ZFpX1PFj9zIAaTcFHKln8bA3uYTW89QJhWVer1NOIO520blhR3FgLR0tv7LnJTuu6IFs
tCcL72Ov8TAW8CEKVNxskriQtg+AX15wYatpMsn95tAty+wM8Hx5OrUMg46ckKT72mSt30E9SMjO
9rBKxHkQyYBWucSahgY3CZm6cEj43EVErI8lWG9uw9mdrUMOo8ZltrXZIwynMA4AmtROKZiB8cRZ
FcYp3xzdRVlZf6sjZ/0xotHjNyAOk+OcHYJ15razPgVZCTvVwJlpFFVb895nmCPT+ghu/8Q9MTMa
BRkA2R7KuWmPxnAcBVO8ysd0Wuf3lVGRC8avMq5gDNY+6jhlZ1OCK/8GqOzAMU4DYAhjFpBInSxS
CidsAFw38QB+/XDsxH/N5kV4S3ujJR1xZ3QemuS2drZy7dWNZ86H3yIoEx7SxYqR7ESLczzlxAs/
r5MeN1ayqhUkK4WWjQ8zb0PR/3+T4WkXIhIwJ7KS+ksZZKuvQU4PzXyTAhGffk7jpLhLf++X3h6o
JR78Sc4IGISoYOxA4uWk5IzfGmPqQ+ZSjoI/PphG37HAwltEf+VDdH8KUV/7cc+llBuuE2J+FBWK
p6F32RLSj8Tw9gobeb79O50VPMAjWIj3wCHUSYGRvvo1GeyMsCUDr29zHR2IvO9mjdsy8MiSESN3
4Fbz5NN84X9fBv5oRuVkDAdb/FB0KvOppyImqaYJdp86X88jddVIgVTAthRcp29aQCJ0QsDyQVP4
wj2SArgFl/yKkhSsQV+DOojsodWsEn3flgLlH2wYm0J1c++0AOS8xktTWj/2gPdLCx5qUpunu36X
5cPnAFCk1QKC7/ulBZT3CBoGNSm4vGTDBibJhhAPycJtLYCFisp4UDJaazX/V1bxhxYBgiy3mVST
xXg6sP6Ts0HrE6uFsdaBSUM+XSl49K6C9ACvSms+3rsdAS6msVIKQrBYpEfGEoIK+aBb26rgGXCd
wF4BZ0ljMBo7vE9m0XR0ZSmABgEKQqa0fdU7G2Lg9UFOmXQIg9FaPHtnFtBj5f2AbXSwC4axs3qO
RpKNVFRprbloTqG90gHJAa1mFK0+2BKRDGzf8Yuj0ekDIcAoCr6+/ToUYOUmC6y0fMfqg0KE1ch4
tnbbhgBWo75BpBDI0f69fgj2lT0Dt286oDbATDRbfMc/FIaQ2tUBcbHGUO6dITQhlWTnKmkBJFWs
Du7JHxwHujagMzuKAuygEcO+bQUAYp6yJeQ4oIsgxdSNKmhs+O294CEELAFEOxT5ymffpECuXFe1
CKbZBzjpYRSfvcBtKeAluh4XZxq6N0LYv0ORu7+yFHjXBLtdx24Pvx0HyaXqnlaTwMwELpJn7+yC
7lnKl2erL+ixRNlA86p3PARUoI/rAL4Pwjbx7N0JiVkwVVXBovcsnrCA3jZS2FUFHCgKGwBnPQda
9stPQAamsi54/RZN/boUBErboeEPl+zmyrB3ugBQ0VV2Fzyg6J4HaPA5cNgxjg5mAfpWdo3cEHto
FuB2Vj0oLatPQY8GKrs9AnZ2hK5DdQ3dCFjKvTOL4NebA0vh8uziLUH/I+qK5LPjJ8DySZUBtH9O
I+g9ujEBZRcgXiVn0XT7oFCBuQ9ae7ezfA+X2iW0jM15OjX2yx6a+EnK9hCiWEhyLPygV5WA8Dop
RiGkZwdiz6Rg4fCr6gKrNCD3AeTfSGHn+iQ9hEHLIvTLt+df2DBPOaujKJ6OZLYqDvLXklo/+oVN
lubl522G5mL0xweRhun8okheNd8dPBES/9mJV8rcwdaHm1yC/J72z9sFvvzqzndtVrX54XkcZD70
bLBDiK4F7TRv/BkZr39N/e/+zN9OnzSxoeeZ/PGhM8+tN/+TgfPJzrgi6qA8bkZpS9IdWHqs6gNP
/CT3880UxWtsIqaqIx/50/gxzXbYuCDVIDKiPDYUMpk/SjcjiVk3R5X6yEkSPBQxLXk6gxPU2fz/
1Yzs0xnxlnYcB1O/8rNgM5KYtuuKgjvVaW8Sggfp4wFF4+Xse7e3BhWB76CFUBpm8airhZRJYcVU
538WpDC3dUfGXSCZoDryORKP4804Ur1NLmCbH/z+y7wY+VFHAfXGV1Sd8AX4WbpQdXckV/R30L+L
ZBT7O1akcfOVJ51W3ZcHGzrXX9Vhr17apsYlUx6YAcqHyWozRakXTSBEdeiPKXSsL8TcpOJUx772
46RjPQRT/jts7Gs/W039ZLQtDvK77/EKr/089x+iMg+KoqPTdL+08PiVRRI/RHHod+EgBNveYYdf
x5wF+W4TUIKG72DwruMcGpocpGLHNrXpe3Wh5HQ9ynaHfpeJ0xBix4a0mAvVSd8E3zNKTjp2hGia
46kryU2w9LvnVhvkUZ9zdXDuz+Z5FHePdcYXgIH3GP8yyPKgY6mg2NPfafDroI4fOscYg7/HiX4T
VAd/Q+u0kYGwsAzt6Jsf/P7JeyP78x75WcpJ2VWXJs2tLPWfNAB+usv83iXhUxR3Jd6EXVVn/Wky
xSPp3mraRI/y0FkQ7iLuoCNVf5Wff9ILTlHSX6N0FBxc5C/ONpHDV5/9bVrSKPo1RWxTS6pyb77g
ZSdqMfw7+IN3SD/I86DjUlARL3CEqlO/C+rurbINI6mO+63wo83shE0xm7iM6rBvtDpS1MF7KJN/
xEmtOPTbfDCqgwd5cfDq5BtwnarE/4rzhxSq+I7nBru2qDBXHpvSYohyNgNJPWkS/2+P/Fqk6Qne
+jL+tAEwv/Zn3eCa+I2HaeBnf/4DAAD//w==</cx:binary>
              </cx:geoCache>
            </cx:geography>
          </cx:layoutPr>
          <cx:valueColors>
            <cx:maxColor>
              <a:schemeClr val="accent2">
                <a:lumMod val="75000"/>
              </a:schemeClr>
            </cx:maxColor>
          </cx:valueColors>
        </cx:series>
      </cx:plotAreaRegion>
    </cx:plotArea>
    <cx:legend pos="r" align="ctr" overlay="0"/>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Sheet1!$A$2:$A$51</cx:f>
        <cx:lvl ptCount="50">
          <cx:pt idx="0">MS</cx:pt>
          <cx:pt idx="1">LA</cx:pt>
          <cx:pt idx="2">AL</cx:pt>
          <cx:pt idx="3">AK</cx:pt>
          <cx:pt idx="4">TN</cx:pt>
          <cx:pt idx="5">AR</cx:pt>
          <cx:pt idx="6">MT</cx:pt>
          <cx:pt idx="7">WY</cx:pt>
          <cx:pt idx="8">MO</cx:pt>
          <cx:pt idx="9">OK</cx:pt>
          <cx:pt idx="10">GA</cx:pt>
          <cx:pt idx="11">AZ</cx:pt>
          <cx:pt idx="12">KY</cx:pt>
          <cx:pt idx="13">ID</cx:pt>
          <cx:pt idx="14">WV</cx:pt>
          <cx:pt idx="15">KS</cx:pt>
          <cx:pt idx="16">TX</cx:pt>
          <cx:pt idx="17">UT</cx:pt>
          <cx:pt idx="18">ND</cx:pt>
          <cx:pt idx="19">SD</cx:pt>
          <cx:pt idx="20">IA</cx:pt>
          <cx:pt idx="21">SC</cx:pt>
          <cx:pt idx="22">IN</cx:pt>
          <cx:pt idx="23">OH</cx:pt>
          <cx:pt idx="24">ME</cx:pt>
          <cx:pt idx="25">FL</cx:pt>
          <cx:pt idx="26">NH</cx:pt>
          <cx:pt idx="27">NM</cx:pt>
          <cx:pt idx="28">NC</cx:pt>
          <cx:pt idx="29">WI</cx:pt>
          <cx:pt idx="30">NE</cx:pt>
          <cx:pt idx="31">NV</cx:pt>
          <cx:pt idx="32">MI</cx:pt>
          <cx:pt idx="33">VA</cx:pt>
          <cx:pt idx="34">PA</cx:pt>
          <cx:pt idx="35">DE</cx:pt>
          <cx:pt idx="36">VT</cx:pt>
          <cx:pt idx="37">MN</cx:pt>
          <cx:pt idx="38">RI</cx:pt>
          <cx:pt idx="39">CO</cx:pt>
          <cx:pt idx="40">OR</cx:pt>
          <cx:pt idx="41">IL</cx:pt>
          <cx:pt idx="42">WA</cx:pt>
          <cx:pt idx="43">MD</cx:pt>
          <cx:pt idx="44">CA</cx:pt>
          <cx:pt idx="45">CT</cx:pt>
          <cx:pt idx="46">HI</cx:pt>
          <cx:pt idx="47">NY</cx:pt>
          <cx:pt idx="48">NJ</cx:pt>
          <cx:pt idx="49">MA</cx:pt>
        </cx:lvl>
      </cx:strDim>
      <cx:numDim type="colorVal">
        <cx:f>Sheet1!$B$2:$B$51</cx:f>
        <cx:nf>Sheet1!$B$1</cx:nf>
        <cx:lvl ptCount="50" formatCode="General" name="Likert Scale">
          <cx:pt idx="0">1</cx:pt>
          <cx:pt idx="1">1</cx:pt>
          <cx:pt idx="2">1</cx:pt>
          <cx:pt idx="3">1</cx:pt>
          <cx:pt idx="4">1</cx:pt>
          <cx:pt idx="5">1</cx:pt>
          <cx:pt idx="6">1</cx:pt>
          <cx:pt idx="7">1</cx:pt>
          <cx:pt idx="8">1</cx:pt>
          <cx:pt idx="9">1</cx:pt>
          <cx:pt idx="10">1</cx:pt>
          <cx:pt idx="11">1</cx:pt>
          <cx:pt idx="12">1</cx:pt>
          <cx:pt idx="13">1</cx:pt>
          <cx:pt idx="14">1</cx:pt>
          <cx:pt idx="15">1</cx:pt>
          <cx:pt idx="16">1</cx:pt>
          <cx:pt idx="17">1</cx:pt>
          <cx:pt idx="18">1</cx:pt>
          <cx:pt idx="19">1</cx:pt>
          <cx:pt idx="20">1</cx:pt>
          <cx:pt idx="21">2</cx:pt>
          <cx:pt idx="22">2</cx:pt>
          <cx:pt idx="23">2</cx:pt>
          <cx:pt idx="24">2</cx:pt>
          <cx:pt idx="25">2</cx:pt>
          <cx:pt idx="26">2</cx:pt>
          <cx:pt idx="27">3</cx:pt>
          <cx:pt idx="28">3</cx:pt>
          <cx:pt idx="29">3</cx:pt>
          <cx:pt idx="30">3</cx:pt>
          <cx:pt idx="31">4</cx:pt>
          <cx:pt idx="32">4</cx:pt>
          <cx:pt idx="33">4</cx:pt>
          <cx:pt idx="34">4</cx:pt>
          <cx:pt idx="35">4</cx:pt>
          <cx:pt idx="36">4</cx:pt>
          <cx:pt idx="37">4</cx:pt>
          <cx:pt idx="38">4</cx:pt>
          <cx:pt idx="39">5</cx:pt>
          <cx:pt idx="40">5</cx:pt>
          <cx:pt idx="41">5</cx:pt>
          <cx:pt idx="42">5</cx:pt>
          <cx:pt idx="43">5</cx:pt>
          <cx:pt idx="44">5</cx:pt>
          <cx:pt idx="45">5</cx:pt>
          <cx:pt idx="46">5</cx:pt>
          <cx:pt idx="47">5</cx:pt>
          <cx:pt idx="48">5</cx:pt>
          <cx:pt idx="49">5</cx:pt>
        </cx:lvl>
      </cx:numDim>
    </cx:data>
  </cx:chartData>
  <cx:chart>
    <cx:title pos="t" align="ctr" overlay="0">
      <cx:tx>
        <cx:txData>
          <cx:v>State Firearm Control Laws Strength – 2023  </cx:v>
        </cx:txData>
      </cx:tx>
      <cx:txPr>
        <a:bodyPr spcFirstLastPara="1" vertOverflow="ellipsis" horzOverflow="overflow" wrap="square" lIns="0" tIns="0" rIns="0" bIns="0" anchor="ctr" anchorCtr="1"/>
        <a:lstStyle/>
        <a:p>
          <a:pPr algn="ctr" rtl="0">
            <a:defRPr/>
          </a:pPr>
          <a:r>
            <a:rPr lang="en-US" sz="1862" b="0" i="0" u="none" strike="noStrike" baseline="0" dirty="0">
              <a:solidFill>
                <a:prstClr val="black">
                  <a:lumMod val="65000"/>
                  <a:lumOff val="35000"/>
                </a:prstClr>
              </a:solidFill>
              <a:latin typeface="Calibri" panose="020F0502020204030204"/>
            </a:rPr>
            <a:t>State Firearm Control Laws Strength – 2023  </a:t>
          </a:r>
        </a:p>
      </cx:txPr>
    </cx:title>
    <cx:plotArea>
      <cx:plotAreaRegion>
        <cx:series layoutId="regionMap" uniqueId="{97C02D63-F09E-4F87-986B-AB0E7E627E0D}">
          <cx:tx>
            <cx:txData>
              <cx:f>Sheet1!$B$1</cx:f>
              <cx:v>Likert Scale</cx:v>
            </cx:txData>
          </cx:tx>
          <cx:dataId val="0"/>
          <cx:layoutPr>
            <cx:geography cultureLanguage="en-US" cultureRegion="US" attribution="Powered by Bing">
              <cx:geoCache provider="{E9337A44-BEBE-4D9F-B70C-5C5E7DAFC167}">
                <cx:binary>3H1Zc9tIEuZfcfh5oQbqQtXE9EQ0wFsiLcuyLPcLgqYloIACCvf16zchkraE1qjbGsVGcNmKtk0w
BWR9lXdW8t+79l87dbfN37WxSop/7drf3wdlmf7rt9+KXXAXb4uzWO5yXej78myn49/0/b3c3f32
Pd82MvF/Q6ZFftsF27y8a9//59/w2/w7faF321Lq5GN1l3dXd0WlyuKFa89eerf9HstkIosyl7vS
+v39+df37+6SUpbddZfe/f7+yfX3734b/5a/3PGdgocqq+9Ai+0zimzEGUXi4cXfv1M68Q+XDU7P
ELdtG1vYfHjR47032xjoz+FBql3UHd997okenmf7/Xt+VxTAzMOfjymfPP+evZ2uknJYMR8W7/f3
nxNZ3n1/96nclnfF+3ey0O7+A64emPj86YHr356u+X/+PXoD1mH0ziNYxov2d5f+gsoaHuLNUEFn
NjK5zekeFCFGqIgzRhkyCUJ7VNjx3ntU1rIohp80lccL/xyYJ8QjbAYmTxCbz9cvLcMvSow4wwjb
NkN0v/boKTaWZZ0xmyOE2AiVz+U2eOk5npeTPdUIh4GhE8Th4o+X+P9FHMwzwS3TZMw6CMlTHIR1
xoUFOHBzf50c772XkQtdyUJuk+3x7X8uIY9IR7gMDJ4gLudvqbv4GeHERsK29/JhjXDhZ5ibFjfx
QbnZRwAOFmWbFNvi+N4/B+X8QDdCZGDtBBH58oY2nqAzkACGmHVY8ZGNt0xwAqhFCCi0vagcV3+P
yJdOgwPiH9/855D8IBxhMjB3gpgsli8twa9pLwssuAUW3sRgJB47XBalg0dGwLCTB/kB8dm7FXsw
FttmK19h1Y90IygGnk4Qij8ujqvy3G78NSgwOFuMgSuFQBM9hoKzM05MjJF58I3F8aZ7KP5Q22/b
+BX24wfhCIyBqxMEY/2G3hWxz2DFqSXs/e438VNMLBMEh1ALMTyy52udlK+y5j8IR2gMbJ0gGpvV
cZf+76JBzDMLC1NQDI7W8Br5ujYZXF0Koe/BBRthsrlr3q3u8uKue+mZnvd7H9OOkBlYPEFk3LeU
E+uM2tSiICt7ZEZelg1KDXPELTQK2F2dJHe7Uu6q8tcxeUI8AmXg7gRB+eP8pWX4NUvCyBl4UcQ2
0c+Q47FBsSg6Q7bgBEKW411/mJIiep0leaAbYTEwdYJYXG+Oq/K/qy5MwXiD3TY53wvISHWBcccE
g08MiZaH18jPur4DOSmKu7uXHul5zfWIdITLwOAJ4rKZvrQIvyYjBBQXsq0hgfIsLkKcQVQP4aM4
4DbSX5u7b/n2VbLyk3KEysDeCaLyx9XboYIJJEtgxfF/CREFOiNYQGxCn0fljzx6Zdj+k3KEysDe
CaKy/vCGqECqhNmw5OR592tABVLztoUO/tdIVoZMrq5y+dITPa/CflKOUBnYO0FUPryhlQfLQjkm
hB08L3PkegnIppgcyiW2ffCKj+u/t/UfIrUN9Gvixp+UI1QG9k4Qlfkfx5V5A3uPIC4Eh5eIg6yM
UOH4DFwzDGHlQYNBYPk4rzK/07kvt8c3n3ug50XlB+EIk4G5E8Tkjz9fWoJfs/VgVZDAkIG3yF4S
RgmWh1IJRPMCilnP+WB/5LLXr0nQ/yAcYTIwd4KYXL6hnEBIzwVjR+/KHGsv2z7jmPMhe7/HDJLF
j+XkEvziolP1NnmNsDylHqEzsHmC6Gzc4wo9pzR+UWLAtmCBbYoPqz+SGFucWZxiztjBex6VGDc6
L4N37jbXSr5GcMb0I4QGVk8QoeXk7RAiBMpXAgIUcvC5xsUUC3JiFCDk5sgbW34Hs//SgzxvXw5k
IyQGlk4QiQ9vGLMQfCZAEjjD7Ief9STbgkwoa0EwSQlI0WMd9iG/83VyfO85qX0eiiPdCIuBqRPE
4svNSyvwi3qLg/eFqA35xmctPTeh3IVtyCUfvLOR9/Xlrijf3UjwwF5lVkbkI3wGRk8Qn6vl2+ED
WReGOBIUovyH10hr2ZCVsSBTNjhjD68RPlcBNFq9WxZqm3x/6amel5un1CN0BjZPEJ3r25fW4Rel
xzojDHPCredjF8iJYShDgk92kK6RT3Z9176mY+JANsJjYOwE8di8pY23IVZk2ORQ/Nq/xkVIEwAb
Iptj3eu4F/YR/t6LmmwjXb4ioHxKPUJnYPME0VlDinVvgZ+ztr8mLYRC5h4K9vRRA9Fju8/EGbKY
RUz7EHWS47336Ky3Mrk7vvXc4zyvxA5kIzwGxk4Qj09vKS0EcsOw3vSY7xrFLKDTzhA2ITHDRkh8
0hVEK6+Vk6fUI1wGBk8Ql+VbRvroDESAUZs830ohMOQpoX/SOjQamaNYcqmbV2ivPdUIjYGtE0Tj
01tG9hCtmFgQdLTx4GE91lrgIXMByUnIie1NzgiN/W5/fWQ/ph8hNLB6gggt37JiLM4ErD3hxxrX
GCEGRyEsyOlDQ9jDaxzfJ99f1068PBKOMBmYO0FMPixeMq6/aOvB0YKqI7SD/cxGPpEaaHMxIdmC
oeni4QWYPYn0A/mKlMuHB6oRGgNbJ4jG7A07JRE/o2LoFD6cBRrnjjnUIzlggYbq1/AaoTFTOpff
X2FUfhCOMBmYO0FM1m/ofWF+JqChAnzhp/bEZiAZkI0Bk7O3JyMs1tu8e100/5NyhMbA1gmicXN9
1BnPBQO/qK8I+FwUwX8j4wH9eAw68AXjh5ByZDxu7vIYGlhfepLnw5IfhCMwBq5OEIzNWxoPfMY4
hV67Y4/kGJOhhxLOcUGD615doePyH8J46F5dbOO0CGT+ioBxaGB9RD7CZ2D0FPFZH9fofxcWKA+D
OwztK+RQzBrhY5nsDM5IQNKYW8e7/kRmfdfK3SuM+wDLkXaMCTB3gpjcQHT1VsmV4TywhbiAvqO9
2eAjswKJfqgdU6iAPWtWXp/D/0k5QmVg7wRR+fKW6XuoKYLdoJgd3OCRsecCur0huw91x70mGxn7
L7LY6aSQr6h5PSId4TIweIK4uNDB9mbSAs6X4JTCQez9uoOeehyeQO3xDKqPHLMRIK4GV3j7/RXq
6yflCI6BrxOEY/OWVUiok1AG5xiP3RMj5WVZDGrz0D5hH5rC/2JW6u1rwpPN3Z5uhMjA2gkisn5b
xcVtYgsoDD9rTmC8hA1ggS15Puu1lrtA+ttX6K2flCNUBvZOEZU3zHSR4eyDgDD+2AU2UlsCzrEI
iOGhwHXUlYfSiRwORbyqqrX+SToG5DTTXBOo/LyZHRFnJhwGZuhY0hrZd5tCvZEzgq1D/X4UPU7u
FBwLfk2Q8pNyhMrA3gmKyfIN013D6Udo8wLrfUihjFABr8si0H5Ef4xpOe6IvbQsFTThaVkc330u
Yno+qP9JOUJlYO8EUfkCLvxbyQqcECaWhaHX6BCBjMuND21f0At+PDUxMvJfthDPJ375mgawx7Qj
ZAYWTxAZ9w2RgdgRUajMgy1/3ht+GHpgw+mvY+/kcVfs5cXdKnmv81d1gD2mHSEzsHiCyGy+Hlfn
Ob3xi2lJmACCBSLDLIOH1yjTAvYFpkmZkCs7aLpR8XHImXzVefTSEz2vyX5SjlAZ2DtBVNZvKC8w
lwVOn8KRFHCBH17W0+gRmvKYSWEcAh/1r663RbHdBVVxV5avsC4j8hEwA4cnAMzLj/jY2Dz55K+O
xxPQIwG2Bg4OPSs40JkHo4wgvD9WWchRRPYqbTS47r8/1vPSMyJ/wsn/o6l4/31i3o+xgpNtuZ0+
zCN8NDTv5asP7MJ8xBHpS07Cfu2W339/bwkKkvJjzOHwOw6E+0X/eaR0THO3Lcrf3xvguEH7GDOh
b5xAW6wYOl8a6ECGSxD6MAvKNAwRG5rHqQBAk+FQBYxKZLAXmIDZPMJEcHbcBie8GDqY4BKGbQAH
MwQkTuF8PxxD+zEB8lKrDprNfyzH4d/vkiq+1DIpi9/fUw5hVrr/3MAfhRYR+MEmtS0ofsOTwkOk
u+0VuC3wcev/ZDJDJEUVWVLFuVtRo97kSVnPey9oV8rP6KI3dNi5umm671QX9gWNSOY70F3SXGld
mU5VpMZW2cpcR5SITZ94+JqFofQdlrJk4hfE3gSqLq66sJbXcUHVPKpquYx9Zv2pU49PVWiHK47Y
tOyK7FtdhOGiNXguHRk2be4UVdrvzDQyXOn5DLleG6FPeSGjlUhUcu7ZWM0rXDi4LZO1pki6Qnnx
xAjjYGXVRbNMZBzHbmwwPEGGb6/irEqV46n2g065mqeKi4uu8OvQsVmLPrZGJTa2jMy11Ulz3eHO
qJ1a42wG/oaaWxr5t5aQYmMZ0aXVsmrtIeu6Nzs9sZhXOUlGhOGYWYrvcdcFThN3zOVWnSA3j/Py
UnQWcazQxlNMaFs4uZLVnCoz/d40cBOc48jJZK7mSaWjzxkJWea0ioTzNG7DhSjKctKQJp6Ydme5
pYWqL5pL70NZBc3HUst+J7qmu03yCn/0I94tcBfmG4bD9iMMepSuiZCcZR6tzs2WZd9iXLWTOvHt
WVqrem5bEbDht61DokQt6qRBThaR6rshsCNz2rlYpOco8ZfEM9ppJZXpRKZOJgX11nGUxkuDG0sV
2dHEz3T/hdR5Ns+ymt77ItROEZbyvGSkmUP+2VuiOIgvrd7u0UwYYbQKusIzprgPq/OUdOGN30nx
1c5YPA0lS1deyppPad1k18Ijct2bzFw3hdnWTpVj+cUrSXERVqb6RDRJ5zEc4hROk2lzQVtlh06k
MP7Yd7Zc+z7pZ51tK+UYKbevEplatZOUGYfhqLi+YI00L0UOe0X7JfPcsCdqV7VtuvEYU4uurfA5
K1M1j1Mmv1bclrdZGlibxE/px5irftEGXbsxjRqfo4bqRV5p/0NJdHEd9li4bVyoZWxUyzTxGs8R
CeUblKXoawKtjevMJ9FSWipdhKEisRNHhZo1JKAfVNqco6AhsB2zfGGY5bQKfJgFWXGzc7o2sqYo
9exthps7mrXx0u/S2om7mC515pGZzVM+6ewE3WAS7boGp75r+AR9tXlyrWvc3xRF2s17MzE/6oCx
xGkDz1hRozADB07ImJugtqjlNgbLtoWXh5e2H2XKAW9Q7KTHg3lSA5HfS/WZSzN2a2zkU7OO4vPQ
BxAbjOWSVYpNOFHxJxsX5Tc4AlXnThlZ1xBHLX3UsJVusnmScOb2zI4TR6ow+ogtS11RTy1Y15Qr
5vXJkkSxnhRpFTkVKMuvpRZyadPYm3USZxO7KFvHS9rwKi1Mcte3mXZxFAZuH3SRE6Y0urVNo/1s
J6nxMUWxdgFQ23TyIEKTjFnppZG3s0ax7DzLax66QsxoGcZzr2jMNRxrVPNMfaw9r741vEZPIoat
j6Hp40UCEwkLVzVmvUnMOt/hsoMnIeakMVt7rq2mndbKqoxpAHN1bku7y1InNXslncbu9DTpO/9D
X+hobrRlL52uo7ab1y0TLjca7fheN62SviicXlcVnwhRf/b7joSOikQ6UbmfgZorpHJEmpvnfpql
6y7xzKllGbchinLu+H6Pp1IJ2wENYLoiT5irDPkl4o25VGZhTrUZZg4KI/1NsaA/93QgPtKYs2VR
0DZ2et8oP8rSiCa2nbg0SYstC+12HpqUX5oFi0s3jbG5qbk2Xe7FvXIQV2waYy1uBFiNTU+C4EvO
ibyI+/pP0ZdsARaxd7uwqDeFTyRspSa8KEKWuGVniIu4IvllGXrZOjSb7MbwpNoUUZxOtVX4M0to
f9KjIJ3SIsNfoiZGC1YCl7nH9SxoQ3TX2361bqhItwRng3GpenIbxEp+LpFVK4fJSMxwKPx51QfR
VHd+4xqWF1xalgQlLgh1aj9rP5kVLH0S0H7SdWU6LVrEz+GsOA0nrdLBB2yHDWw0q3GFQWgGyFb9
vPNxNU9kWy4j0aefVeXNpZWG06jz+suoxmSa1rWZOl1p9qFbGQlxqN/OWKbrjVX7aCUsP/qzyVA0
aRDjTm2BuZUg4ueFh9KFbfFWO1GWi68RY3ISJ415q7zcW4BmCpZeiSYdYvSyr0Jjl0KD2yotuTGL
fbv4YMlELSkxvBkjfvFRdQ3/7Dfcm1lmZn4KamnC7WzPcLvOYDMc2Pkm77JvSdF3O7OvQP1XedkX
jmqJP29xY016zLGDCuOcJiaqSyfJZZs5lW5obDhWUpkSNJo0P0JaOAfbH4b+dUXBEXHCKlOdm2BR
fsz8TC10ACLttKkdRU5f5E3i2B7P7kWeRstaBcghbWNcSBRPO57El3WdRIuSVl9pTn0HdG0WOLxq
qm9Ryb5SGWxNr7q3Vf+V6/YqsfrYNfomhftl8TJP7G6aZ/IaZX66SgPbvq7TCN1EYZPssGDtl9wD
wjphBmx12ZV5tEp94KJapVmR1eVcsTbr2RpcrcRnTo8ik04l0iWZMi2DixaOtE2qpq34ZVZmHbst
mHdfyQ7zhaobAM7oApTOjLqvXU+b86oDr2ceB6leyzQz9NcUFCj4XqKeWK0XzbKo8+MVN6J8UjQh
moCTF51bfpesYEqH/ZV2NPvTtD0/vPTaQJ3bAbXy6yroA2+u+kj1idsWTa8Lxy9p+J0HbWF8ppnX
0qkV1F7iaENGepnZEk8Sw+zmudDJrGbFl8L2GydvfTUxO0Cy9MmX1kDNgsnUdru4rDbwyXYmlA3u
pApWMicXlUDcd0xDUyfywcoYdm0swBf5nPSBmgYM2SuwIManwJD+RWsry/UTq9vUgZ9tckBz1ZeN
Uway2ZJIdKtcMMMpiFHNraTtnKQa3C3co8qBunZ+LuUy8maRzbpJrb1ywRUmbpRxOS9g0IbbeeRj
3AfFJMwMf9kTv1xWnuet8hjJVWn6F8xSyjVtK70IPFZOOt/O/qwwUy5vaTeXWS1nYVmIqeGb3jSX
Sk8bj6Sto4MIDJmXFi4FmBeVmSKnVCieU9Mz70nlgRudRqlspQMlEes74wnjXwqzSuxiVxE7i+hn
LyPgcbgyUzJWzuNZ5E+8/51Ou1z6wWEE/I9//udax/DzMJz855vDBPmf/4Jy1n70/IufglkUQwhU
jD80BHE/ftfPMehD5PRjJvooFNsPq/8vcdqLF/9ZEIeGmZsvRXFPDw3+jOQOhIdQDnIkFszntIZD
wKNQDi5BRz0xBfRsMz5Ea4dADvIuQDGk7jkcSTFhkPePQA7OScJBFhhnCBMP4e0j+09ghLD1mSAO
UjhPgzjC4QXHXiA1QCDExPYQ5D0O4nK/ymMh9MKwi8QJu0B/EhEq5dTnIgYtRG+buK7XykglKNn0
VvnUWJqNvUG6UpEL0hBN0oLEH0UdJ5eqMm+oZ/rSSVUWzjRp+KSvDLzMLVu5pDPsWdi1jcMLe5Oq
OnJQa12GbZNvBY7XrFFrbDRzr0y9SZlT4VZNTB1VV2BHcnlfmZXcxLCObmaniVMlOgPNwHunpahx
pNmfa2FeMqvAjsibrW6b1qFRPu0IuG15Ke8LcAcnMfa7qa35xsbtvJF26qZ+ci+iZN1Y9RWoscAh
spoRFK2rrr8kYXdu+vCpPDTAp5XbLi31RGf9jpbRStXWTtvsNuuKmVaegjAtwF9AFBcy58xpTBB2
XXi9kxh8Y5X4NqrV1jZ7a2b6zZWZR+thBcoYnDESqfswTQy38MtwhhXEhDhuwEP17cCpm/rax80V
T1oICBHzl7kSu8aLxNwKyML3u/OoQnrZQ7XHNZoCFsY0XULlCgUVctuovWZBd9Wk4LfgaOW3aptn
4Vb3dGMHOGcOI8WUAEMNgex32V0SBVh1uJxlIs0cg0SrHtSQ05ZB7CTIDx2kYaFQkHuOR/PSEcgM
puAGleCC1Pq8TGU39Y1hLYN4W1ld45hdHzllozt3uFdK4ANG1l9CEHZZomYOBubc4j5Y1to8T21t
uHUU3GMFH6OWXEdRe44AnAXXgjmhBA416W56r/QcVTI1kQIbk6iAG9WSh5NAkP4ip+FKd/1NTjLP
CWh7HZt00nZJ4yZBXk48DUcl6kZMFWp3XPfnNfKlGwa53ESZfStb8xvP8AfRSMtljTXrULnoaZUv
sra+7iG/IWVawkbFCz8GjAyTKzcqwW2pqv6c6S6YNg3gKeBrK1bChp3Q9mXpZCjGDgQWN4lv7QRu
Sidu8wSsoVpZdn2d5dU1adV9bILON5kuJ1XcXmPPCpxIlulMIS2mPTMCF5xLyFcM624lbANZpFud
JSH4YnSTQr/PrBzogE8naG3YipjdSjvvFqyF7WhY7SZFRvpn6BnCtcOgm+SGV3/EDLadan3P7TJC
3U6U9SKzu3qVaVovi5jxZVsbxoco6NQ069P4Q2Kk3cyELM0qDrLCRYbC8P0gxZ9dnbMLi0epD7tG
y4xM8ihIw4mIMzyxo77ZerbODcdPkWLzkGTJTZR4N3FrsGrSkwLcN7CqLkSRG5JEf+a4q92oVdM2
YJ3bYzlJyy6fZqQNrEkOk0hCR7a5v+K6DB1mZxtlBJeJJmBhDXKjDct3i4rSaV3RbZt0+S5JwOgn
RhhMIU5zuN2FTtoLNotlXE1Qp71Lq6Sl4yew/fsQ7bSlU6fI4tQJatOFZI81w7YG3DoQgaqHbZh5
ljlpEeEf4NRnNW8RbLousm9tg20qlDVLr87vjSY/JyyC2bE/UofP6HFIBaaPUnGgxSHjJ6D2DqJv
Q0JuuP5Ii8uQkSpsIr0gtRE5uMpK1+PtBtz8de9ZbO8N7L+Y5Jm7geX5y90EGDRMCZQvORtsyqO7
CdJUCYNcwMIHUZ8kVrRCCgcOw6DQX+YLWqHGd4LZsRxmx8FUXzheM7pTY9stDr1UL1AZbYUH2nBQ
x6HVQC6pcAq9hL+Zs5fvCfXyv96TgwHH0A40/PmUOx8nIuCFlyy6kgYQE9bXugXBNjBZNAZV7sCv
Uv15XoB2e/nWGCpcf703DJqCqWyQDLHJsB6PVjaN/KYPISJZFHGOJ6GO+WXnsWBQF+ehDqOFKdpd
U7T1LGrqehXWBcitSDCkHrpdwDzYrv155ddgdTFdCBEbbljlU8Sb84aB+uYMpW5EYK/qcJ2wfBbT
+qqN/RuTBvGEtWRTcWW4rdZiTqlOv/qUMpdwUA8vc/rMFsIwLxBROANtUviCmKeMIiVFrBFJFgEq
ZkSbl6boL+M+z/5mRYcTDX9ZUWLhwbXiBLbSaEVFA/EtXIS9KhRZFm172VmSTE0FSjhhIpwUPFqX
vhV/VHV3aZdm/DHwwYaS3r/PatDLg6sSRuBAWKg9940CUm5NdW0ItsF5PQ84qHuaytj1/YDNsxa1
tz5F3Tz2UTptZSfPKzMvrpKovWlzMPsVkmRVSg4ZLVbqc5LIe09S5iSQYYTYiOt5a4T3nu5vuF/N
+rIA453iRdDRRRAk0vXj3nNw2p5HtqFcVPWXkASCmBnB7xbc+DOnUefaFvhYLwP2jIaB42swcWv4
PgAEhw+fAtbbhs6IgZNF31gP7kQLmo2miDlGgxcv32soHIy0GRyGADvF4Uud4NzQqLCQo07ainTJ
gkb1FSnkKtZ/pzAfJGl0D5tB4wwZ/g8x5OgeMsiiUplmstCiTmeFbJFLvH43aHrZ425e5t4qQmQh
DLRpPBFM7UStjNb7AiWGb5zViYNiSD5yFeJFHYIRDwRop7SL15bl3/eswVPbk9FCYdY7IcWNU5l9
caEkm9Y8/cxLeJsVHHLhnexcRcFvgX6S0s1Els5QjgIHiwzNqzYtHRPJe5rAFsxktK7baBVRv3M5
C8FBtRrwfi1IRSSBdGuzvNIJCqYE9zCM8SULQ56RWMACDp5CI6QJ3avo6QZIUFq2uouThaUgUKiD
WLrw9VzgwRsR8BzACkCKP5yojm9iylLXK3LT6a34QxnCXvaiZGqwpJo1Xg/xOLP0pArM2yZM8YSb
du9ENdt4lc3cyqObQKBwQnPQRKmG/KgddjcmanZ9YTrSlp9aDN6hyIDh3GjnUWDedOCIOakXpHOs
mrlImyufssoJc9ifJAXFV7C6cSCrFk5iT4k5ov0NpDhrOGrx0iI9IySHFtJhID2yRmvU+JmtyqZO
Fg1PJuDitI7dwOMQs3K81P8bRODM9V/lhIMVBrVmwWmIv8hkRnCHEamSRY6KZGqxQk+4F648sFTC
Anx6DVuy7yBAqodkWhiCB+irNYvAAay0xxydiNSVcZ1NBetjyJYXkHLr+Lcisi6Mmn9QIi7cQIC3
3yYaT3Ba7OKwv2pVdx7bgzGGbebjaOs1g5faICh2mOusSiZhq5EL7uq0LkM+KwHSh/CyJy2eSAof
FJAEY0YJFGlTz1KvKh3Vl8Gy5e3lQxAE6Xc9acpIr5KquZYlBJI88iu3zyDUo31znZe+6XREQHGh
vkaRdZkZElJB4K1ZdjWRSdRNhr8YMbzj1cOGTKt6ZpG8mA5iVLR0o+3mmvlDAEGhQshZargqA2/J
9MJ1m0V8Yqfw6dygt1lIQcRKL7sQtN3lQxmtggUOlVxLDDGLaMEVJ4rchkF91cBgEBdrChWweGXU
4aqPs8zJfRDgslQrCIrnsQeWRfo1bEyQDtaUa2XRP4OiSVaRRTd1UU8wyjt3CIzaPpfzJss1pIrp
RpXkFuXy7+wxe0a8wdeBsxnQXwM7yhzZSdXhEMq5NF4UdrdLivqqMMHu1RBmeRTEevC/HkJtXQpr
Vgrw9B5kPgnKWdcUjZOFQJbFeBKVSTgVkZjwOsf2RJV+5sLwzWQq2qpbKKswIECL4syBRP00S5S/
ywwl1mkugknvg10s+0BcJKDL3d7GG2SAjgnL7qbG4G6ZOU5dZsrKbf0ychQHz9qHwBDsYYA1AOKD
m22H1XVZgwbNUXmVcwhJRaXWdVVdEVrJuYZ061TmEZ5kTX8eB8116MV8EltG71Dd7VjRp7M8La9s
iA4WkWSbGowIBJnVNWbt5eDNl/bRvh4aEy73pmdfX3+c43qc8vr/OcP2pCnk2H0ytBGABX6kY//S
JTHqLXmUYBvoDuk1xs6EjTEMEYEmF+gY/9kpAZ1Lw0kxOJsHxyuh629w/w75NUi8QfxiQ1fM4fsn
Dl0SFpyWweCXQrM/1OQFNAL+UoLtqf853BFiFwFj5SCQgDIn9Fw88eiVFeaJ1UT0jlteWQkospIU
HDczrWV/Q2mVRlti5LSYJZBC6sikRJCAal1De+Y3P8kJ5A80Al9rJQLaVZNIGEm2aESsirWicWp0
jo5amn6jUQlKd2JAjTnErm/bxLqzwWBXVwrCf7XlnKbeDsc4YxufSegwcGJLFvAoJKV5/CGwzLKB
lgtF8yh1hoJLfGGBawmP7Mex1Z1D1iIJ742i1kDzCNLD1n/cSgKNYo/8PZhRZULXn4AGEuhoGeLK
kS9mg62qAhbwOyiGJmG2KGNQpQtF6iK3Fz2kw2Tj9jKFvkxlehJ5fxPwPZjln74g3H8YTw6WEopL
gBQ8zFOM+hDzAvpw5PfQinAk3VJjCvGsEMiAJGbeNj4ki/IA6hWQ5CFGnyaXDdhecM0tMnh6q5IF
SRE5Wmc4tzYw3y6Day+v0Ug/w1lGSAJDBQiODoEjAF34T58xYkH2fyn71uY8dazZX0QVAnHRV3gu
vsexY7+Jv6jiZA9CXHQBScCvP42dqTPxnErOOzW1XbEfGySkpbV6dTdYGqDYiKmLcHPbEIr8RU/Z
6D6vUekoONl/SmX+X9eDYuydULYbuf5+vQKEBeQcsbvbBpslYJE0wsgqVl2bqQoMmub7/+566DPu
1n6QPQGjpm8mTP9Z+aaBEzL6Vt5x2fjocezkGifAiXpwXcbJFBjyny/4e66GgcGsDuA6NKSgk+77
/PcBAsmNgF6m0c88sh6XatDkLcypL+mcxmg8znn+0qH9Ml/++bofFvt+Xcrw5kG8mDNBr+bjdbVb
FcDNtPzZrNjEeYXebT99FZSDGFMF2br208jxyl9UFELh9Z1/Gfbv6MY+bKAK6CokaDrjtZMf11GT
+TaKF5H+jIq+MGmdhTjPviMyRfOl2lB33bURUeQ27czqHrspjjdRgaveY1L+PBG/rzDcSZYArwJ9
bX9JLKwIPjyAOW+BcALy+8HZNmb2rIwewE+I+DCx9byWdsFT+fMl/3vwENXlcJtCEbPbHH1Y1KIQ
vMe6sj9pHhA2TyvJN9KdMhvcRI9tyWn+ArpNgvU+5RDlv6gYMCY7+lbFOvxlIZAPRwMmgKHx8hb5
wFQBBeb3FdiwTYJSMEevorXFEF0AW98jzLAogVcLuyDpRpGdT2uiq4UlKe4qa2PhHsEcAjY8RsSO
jww0KDseTKZs8jD4dpxe/zxn+wH1H8ER5D60h4DzAY7CoQiVye936QIvbWy25XWxQLrjKnZdjMmK
l5BmaIjYFLtVJ53ZNw3Q/f1Lqxv3v50sqCJhE5aCyAEY57/JhqVJJlD8cvU69lmEQ1HiOEAl6dd4
XrPrlGc4SCf0srrvg8xGHFFWD5agXRDJCMmqETi+9qN0Ffitsd16f02XTqvhL3F6f0fSh/naZemA
YZFOI5fOPxz4oDGMmo1b+gp6RR6BfTZPunf3ZptbPdbBrEh366gYPH6mVjOoFYXNtkaPQWt+OTHb
ywZtNXACkZsa1BzVCGooR18li6P+IR9YA/pBkrIFZ0wSyZWMV/HGevzVruUBlcafn/+HKhORKoee
C33LGHIWeEZnH04erMzR+NHrlyJTmcxqHeNdaygLuGPM1mDg7ccRX9+jZ+8ofubewokmvMSPljCn
uTm5kP59Q9OPURxv2EN2lzEUwHBZ/i8Oard008CF0i/aYheZYzp1Jb1NiEjX63RyK6aDcd9vz4NY
1rWonLDBCAAlIIs9NGbj0YUdKGowG7kpvyvbfM+4FuoHoASdy/bHo6Z0r3dWXwAs1VZ22/PW5x3q
37jv9yygxezjASkAx/hmivY6EI9hWfDs0kyu+DJtcTOXB51N6XTKC7c/u25pWmRs5u3yrGwiQECg
lwDGBx0ADBpTtdG4J1uzzobu+zLlI6AhMN6If6Sp2uYbaztuq74fbIK2WcOH5aIBr6X5NpYjp88+
9gSLrCgbJG7ejAo535/XxscQjtkvdqgaLxopcjSjPyyNlK/oYTHdvwDnmWxTLUlc6KkKSqr+El2I
gEDx5yt+jEbgNVMAKzi34ceBxtmHKwJTmkQY0vAt3dy+GIOje/hLpqLD4Z17k+UvXILQYaqQuHlq
btEsKbBO/3wbyceRpyAGoFxGVx59fYqy4/eouKXeGWDAw/NAx2FOq1mB//yPMsIgGoluGgnoY4Vq
7z0wPkQcLTLVoKc+J16h2VSE3ldz0pjrnpc5AC3bl2s1BZL7B9Cr4rY22baoaywi0CdlTHmrK8qR
GmKzixjrUHmB7OKSy27ed76H3PzT/vJQvVZpZ9PFn/884o9xrYTAA/TefdQYbYoi6/cRdzkXYzBT
8eTdGKMqyCxw2uvEb/u6xbvkKL0QJCxYtkvHUnxp5rdSIcr1vqRT9KcS/siXfF/SiWmRV160Okn3
EGmA7JGT6b2e2vOWrR12HQ/DXqSQtRywOwtisI3+PKTkd/wM738GwIxjE1ENTxBc9g+h2qTjsCk5
JkBjRYq9Netmv4E5St2+dd/2MRpTK+4NlPZ9iyNW7iHFaoODJhIEdREBswffUqbD+8B6Jgu0/kO/
z4NZgwKoaRZ8qhXpPkQQr/Lp1EWFTU+6tD6d6hXnBYb7l6F9yDIxNEZgcUawVeAsj3zv96c1g89b
9E6tT2nj90g1W4OltfVbq37McdklIwiDIDE8F8m4n49DpAgeyJIPPdgR25CTuTmho+7CE7JUi+kI
hUyx+lK/IZqMbcSwxGjo9R7dHMLmRZvogLA2IyPBBduZx/gXilaCqRgaiqmY50JEc531TmJL7CAv
/vU+P3so3F89+P9fwuDx5lCS4fza+4dAYz+muiRsNF9zE33xQ6EQHd7T20SUi+9qlOqiGf8WFj4c
R/slgcbizYo4ltDA+FjJxlIhhdRL8WVyBCtkXiGNas84+zE/VGqqsiMPkQJzP+/TFRPegzCHlAVB
D7MU7NLP9wXaAlyewEgvEQywIf2DhZ0HToAhwsaflxEH1a/HBrhrxFQufTlir2AX7Y+j6Zb9QUSy
JfjCVsn8Q6wGhTvJug5nU5fPe+H/59mmLP0988Hg90MAQQKsJfiDfqxskA5O4LUt6xch1rznFboD
QOt4AJx6lycbtevRCJvrEmSRhEngc2BNmqu4d+mSVRrZTnRtmyGit3wAv7k2QS3NjxgygYvAHc0P
XQFY8CeV/WYfBpUP9nvYSB8+UU/iZTuUcmSAaQGL0wmNhpCVEKQYwcFvzYd4IDcgjRJ2GEfLSC2X
2aFxj9au2WQlRm/pUjdL57EZ/GbD2ldLlEkqTywhjj7m/bzSpo4XAlroWbMgCEf+xkEBnAXY4H1d
bH3YNuAEWIr6cgE/11Vm0jI/eVY06QEU1mX7EnKVtM+O9g0/pBT04RqSDqbWCkD0xA6sTUJXN1nf
XECUNx+gQABIydkYx2cSiEhOaEGWIj7qTg30ac1800VPTMXL8mWZl3S+jaZ5jB5wYhTuZwZihH3a
Ct+MqtJKETF9ZsvWd2feAi46bYqWg6pYp9JE1IXdJlO+kkGW408wSpVfQE2fV/MPc3MIcd31YSLy
YuajycoD6oAMzA0+RB3YJ6SIuu4MnD2ZevGPKMcUQHG9kLS09HZLlceS3oidtADHJJ7z+DiOVOvi
0jHeiv5mzJbONEfpGzRQbkLGm7Y9cToElz3wMUnNZS6paMoT1koOlYv2W4xjvZ/KNrCqiWhu5oPg
Fu3zy9BMkQBm3g44beqOBYoA63Xrsq8qcnk2XWJxhIjXIUXaQu6cRtbFwORI0Sv+1CdgHeSf5vdv
Rm3b42ew96S4HFiv1LxuzrAE3ffc6ia5IEsUFeCvyqxzxXkZJQH9MgMRA+dinEUthtOkGQ6V7wtf
IV2pZSZY1nxagw66uAcBR4b+VHRplOjLzq2s9J9ymWYtqwxjOyZRWDARuuei4TzarintJ8xUtBqE
7FtEbSOy6yjltuhvSGsg/riXMsiSHwOYdVNzVC26VbZGyNpvafVRHyfHuBFraw7QRklbHsY5jrLx
a9IkI643yJ6xJ9eUxtQWdTBmNildixOkJrnY/wjuHylLZQzbc3oqJoy+hoplTPOTFGGfsbSfO3xR
k5gB5wzFHvKpn5uyqFmYFRbANiLfOM/MDvicfh+qmLMN02dkgf/hLJk4rtYLskNCpN0fD9FUJNn/
kH7Z53mkTAKci1xk8SiisSsF/ccYFDTmZNsWmVYdSrIWpm5LkbkIT5A6455nObp2xHxFYlNnAT4/
WW5LWey33OJJ6+0xx8rCFVL8yLxCsLQvsNxG+5PP1gjfQ3dsnxrvCT6KI7Y0Affg4XCFMf4aj7Vp
al6BYAp8L1u0yh8hdeMsrWlgAIAqXQiCufi1evg2MfzJQkb74Pi8vk2Gw6qx9a8cl2Vbtv8rnbIO
lPHWRo+/pjp6//i/J/n9c0AKQGQsEj3gBsgYCf+KloZu7bkd0xWDNsm24FpNkjZt/IgCvFGsyt4f
lNr8jKWGytvZ5nIkbOVZRTrh1/wTG5zCLPlk6PGRRANjszVgDu4ZVF3rnvQ2Q5bgm33RxOaVvc+g
AlkUIzTvYxJJixoNXd4R/LqL1ZV7dR6/P9r35ZHzrsf85KBk4ktW9Pvgl3wVWKcNsftlBBU5vrkq
ExfiaYta6uYrjDTdp/d9IW3gxOMuMcj9r5DWTvg9KGpTrK5pFvutv08oaP0b/qH6VNHiGIGR38nL
DQT8RZ+bHdGKj6GFHsHfsDecUk/Q3b22vkjMK8mbEctnypCxYvDWI9n9NKE5sP/BxO9fqAetFjMy
xvt2GLZsv//R5Y0IT65v+qY9jU2JxS5MSqAHAp+xIPN1+r5WWjmxuTj/mnImwbCLwTFJ0WmucAIo
XFzqtsM57wkEBfETMjdZ+gNEADOoI/HUcFw8kwL2Boe518A2ewAGgGzwmIS7LFSzb2eH8xXf61aX
o3nbIVlc1quUTf2iLqBDiyGI7BntB1/xCWKeS8KIw+fFbCZ8QdKY9XfQSeK/6xtIncWBACoyaI70
d76bOUCBYCWuTkSj/HM+8gVVAF+3fe1DLZMDdV9SkyDClFb0DjLPAUfscFyikbPpMmM4qpZvcb5I
xJumV6rrLn7h83LuhZUnJ3rUuz9WOkFgdqGlwHSc07c9YxREdnjsYJPx7TkVpQrzE2RvIuQX8/vQ
F9ZMmCLQbLYOIwIra8qO+RYTRLnZ0n36CPBxTCbwqn2Jv+On5dQFzABxyT7euQV7OqosFjg+b1pA
oRFa7BtwZRiwdyMDaatd8+E21cTiE/lK9hrWZ24CovYOsmwk6y0/udFYnlw23Gz4G9s79MZRlgM1
NNkubDhz0qH0HQbUTlA99QAmsusBXQOMdKahRVcDgs4ZoTLN+Yozb1oRaeQJtd4+ea5Nd6ggceBr
jveyHxv8Oqx5McpvAekZlHwBhA4QY1kqd5BSORx3t0XH03z+TAFjrfy4cAklyikPOuunA6ALoPxV
ARAof6ENmOygEeOsxsPfIrphVPk47MfGkPF9udnEgi92eJ9JOSsg0Wkbt6m/ChuUecXnbnMherRI
poEqbNqw/AXxFiBtFEDcXEEhjfcxcFCoEfx/tS36FvkqMmuwzYJ+ydkqDHkFvTbv7/Lc6JWD562m
OfoXOL5y4UecaGmfVVMP/BuUgJ4U9hmIZOjmL3FjZNPUPFtTsTyEArmN+cl8603ybeIloImzhTp5
YHWUbFP3DL50QlXlcDpAZToTopBTFkXGHHFY5YNkSe3xTShaQBNBq285/BrJ+7M0WgIgruEUt+7D
egs3fe/3+MfWZo8myP73zdtOw/6J8Q295zLZv5eROMIn1mbdP8hToBMDuK/j3ttoe66xlRtki/xu
m1eijxIbdd+VbNh/8mvJIqdEJGJwp8WP3vHwPZxGTW2XFb19MOJsXN47AVmPAtV9BHpO142z5DIY
SLkF0rJthwMnNH3wBRoxRAuzxVjfNEb/4Q645X7n6CnhV39dKLMMRxrIHHjY7xXb2MqtAAlg1I5+
7t4DVvcONBq8WA2rIerNDkJONreUHoZmMAp8b5O76NG1mcaY54C2qL9qk2ZP4wRdcI3C9/ttubcN
F6kO5wjIDm7f5DrZ+7aHMSz7miw4NFltlYlpHIajkD124+l9QoAD70GvK/M9xaITieS1SFIomP4C
fH0o6IHlID5gBScIbtD+f4SVxQy6KvDq5FEoleOui6ZZsBuCQpg1Ed13EPQU++7yrdnv/S/V3e+1
3X75fG+cxLuzOq7/oQtg3aKgKigAVb2HRgkMGHeBOgA76c+X+gCgYzfF6DriWoCs8N83psp/cGBD
Cb0VRyr57zUSd6Cj1kZzSj/Bw29f3SwX+0N1rcQTVtRSPLJfwfHP9/I7zJfF8PTF/9GUzMEvwDpP
fodRuE8TwLeyeWToquUvbUb2fHya4C9/3BRS57/N839fEC/PAnCQlywBuMg+4IqdsDHph5g/mGXE
QdF0OPEvC7DId1jzbWf/eYBkh+3+b3tnHyGw293DAS9ewztWPgKZSy9pM859/vArYgSx7aD9mqdr
lp0WOpX+JDXf7GcX4AZwGBzU1S8U3NfoMZo2ivPoL3f0+0rHHaGUKhkOL9ANwTP82BZbWRxBzJya
B7B79k0VkNdhjy+u44jrbelbPAJB3d4fhnxiPxFNJPYbAZnQuK32BpX9KYNgOIurBaEFihOjDT6O
/cHJHZSTqCfr8N7P0u9h9s+D2LfDf8zqLqUC/IYFAz4KBQD3AX4L67a0dsu6C3CIbJfVxTAU6UsO
BcRfV8x/Xwq8AFBy85KiMC0+7syBJ8Pqmry5eD85fYZiHsNOwMX6W8f2QysIfx0MDTBAE7TokbYi
EPy+HcZ4Flwumv2IJVDVX6sgybs9s7EpKM8XPkDoOtTxQG1SVIXtAcyD2ReTqZ7TcSmeZIixZ/88
278oIv8x4YDcMAVvLz3Z+9vQzP1+Z3GM9gb0ytPZbhDETMckW/amvoMnrlP/mrYRfeFaTQ0gSlYN
fEPRVc1ZM5PhGoceqEFNrToNAOUmoSjh4/uBZ02jLlYcsZm640vbkWWteYLOzbfJmAHVhJUgsJvj
0LstmetYxfk0HEqbAbG6SRei0hx+HW9tsS5HTp9+4uNAzHLbNcIzUHmcz1sCaEGCQnKBfL1oh0Mf
SY0l8uucLyL8GnQ/76czEt0SMTd/iwbvGXv3NptBDAkiICqs/TQNPomQF6qkRLoNkQumG5lK7oq7
dOr3zl30Hkg0eox4brEuCawCumkeCGRqE+QE7SHXRS9d9W/kwOD0AfnuPR94S0TQoAqY382U+1lY
GA+ABil6lydHXSpccuiQnPurGKB/29Q9XCtQlgAW72X/lCJ7ZOldvs6M6kuZx9FeU0/eAq6EAcNe
zrCwTnBiEJ0bgF4CyCgA1ldSzKXidQRHjBAPlcErorPknkGiVoRjY8AoN1+ylflNfQFsvzeGkErF
SX6n5glY/JdWA7RtYDxA0ZU/CWsIkfVAkLv9a0UFN5VXWb6E5IVkyzqXd0CfuP48Mia75CjHKYpR
UOJdVctcw4sHLenjqFY820NYks2u0CKiwPc1MhySlfVKVx5uOpiuTBuMWmRoUZSy0qK92Ip4OtMY
XOHXPB66VRw4Rd46VkMxDvbrCAAjcvDJyffO1a9M1qCt3OQ35YDwJ0+j6PPEIRl9S1eAH+/p1jrO
e+x+Xxr9W1I1Fn2HyscyEEs0RJRxPhDQdxpV4DaSrkuq0EWegU1rVfmoRxb1UEBlTVaJpgmP2dqC
/Lm2AaYD1KcXLbTSl4Nd/AUAAfVQWHjqLCwT8LwBmx7Qq7dfOBb1BW0yCMSx+8SrtLr/2sStOiyM
cJR0fTqfUTMCmUnG7LrU8YvqsB3HoPPdPUUfChg84OnGkT3JYqFHqVr3aZP9HB9xBM7Hco3THis2
H34I7R4TQvW1pVFzPfhphmIHSC74HM2FV45BCBjKz4UWBu1x3f6EcJAfeqEbcIfH8ZBxZq7KLRlO
Kx/RTB2hnMOfLtexpnIsTgF/8rJEWfNqF+XOoA/wn4Z18CFaSL9VK5PZSchYPWp4OG1VD6RjqqJU
NU9h2crvfTRmqIjd8CWUSXuMkzm+ghZYtBDJR+kNBdp1svMEO1tZ8M/A4FrQfuaU/STomKAsIJo8
+ESK9qTXMTqSaZgfJk9RtyMUHCaYyVylkwWxOBtCWfOCcVF+bX3C1ks08t2PKaGSHJXTM6qFdhBr
BRpt+U85ZwVcjnhkrwaGrv6Bkll+XnzaodwY1HU2zcRAQSbU91hOGrp6Gl9POdlXKM/2VmTjw9WC
rPA2Ljp/CRA5umq7VCQg87f9TxJCOlbbVkK0OIPv+C1oE/4xUbTUSUu279MkVYLGvAatcdsmrFzR
w1YJxCPrDnoL3XKVuwZWUTHR7d1KCgRiVCa1D2mfXkGi0Osruxh7SrRLrrN+WCoAps9ZgK8EBPl3
lGD7+MnNByB0cBpolsEXh2xV6ZEW83inBbXfVg0ZlYzRJW6mykFf2nV10TaZriKX0u9o8KoqTfrx
DB0xBDbxMH9eyNh9nsQ6d9B5zs2TEav5ahc9wOhocUvNidWykrg/NC5LQFfYeIvYarqU4Z4lk4B6
bPPyuxw0JJhNPDzDmRU+H9qTzwxY/KVOLKwPbMyvaDvS71OZLzcSsLkHek8dLsrnirvIoLBzcBso
I9VWPenYdxshpz6USHNklcnJ3Och704I9Hles3YrLmaixD3oLqBIBGGfEjXqs3cLOUvt8+825U8B
5ebTZoatPBtN10qaoflnxYScxVw4d0Q2tT7OlmW8stSg8dk1kKYI7y9z1umzQTpHKtiCsCc2zuw1
hWzpi7RcvcKXYvvHYYEffKGSW4r+/DnGSXEwi5kfkaZFVRZGfxPZqXvZYAgFEQfhIDgBlb0Ta0xx
li2ISLFsS8AqWZdfQKHCaz2N8txBj/sEilSK+/fJFYnH9CTzdPoGeMvcM+h8L8jas8dhsNAqTNIc
lwIhF9Xk0N6NNJ6vrKPhfoQl0RdblvRH2nkEh8Ss/o6uAzYPoKFPJJ3d9WKLcNkGqE8Af5TjmecD
PaDKBPMT6AG73CLLbzgX9vOWlOKpBHHym9nK+QsO/OYCm6243Ug0gwqUt6ee8ewGjWKS1vPA+kO5
rZDxxaB0neCQo+47INn3zaK0qUGwiE82SPNNz442qFE3SJsZddfg+3QosgcFbfjGBsTsYTmmRVde
ELTOaq83+qn0TQqA20Y/I56AynWzZnRrGfw2FtQEh8IBGS5vuiz1xXyMYa/ZQ4rBNL8JkW7uAVb0
dxG0WM/9bL/jdxrgpS15ngZkMNIV8m5hEizGTJP2iimdvLiIu1D3IsD+zBfuqU28N2cBhSitmSDF
NeXKlicWDyODZLjUB7RDKSQqaBsfSrYNRSU3CAyqIeXjnYrQNr9eI1NgrvM4zPbGMI9+CVksgT0b
NcOndKHR52JkLaQBixXqKCDteZBN64cjOqeruB5gSNIeIjvChGPlnETnwk/T9gClpXXivKce8YGZ
Be9D6DBrKjS7xqrMbV+TAplLnQ2O+1uADnKqU0eaL6HYIGRXcZ/fgPXGySEQpIiwJ8vy+RmGMVtp
EUegIsig3oybEeycCz/nxVWWLPEov0BixhMP3y0TM3eVINjFlyUFsA5nqHW0B+GnzD2yqOkkiCxN
z2wFfXYDx4WIsuWxTUE+gfqe9p/VCuHCOaBek3AeMUl8E5hcxjqxgMNvix7h9ACe2XZQAIiuJKwd
6pwU3dUcrcskP/Ww5mFbiukf42WAF0wydDvZSScZpFszlSVsTHKZ9wlw6klhP5ToEtaOrPDOoQQ2
LTe7rDuvhhFoab3NixmrdFjRPykcBKtjSzN1bEIWbrsWaONBLu1ykTbQFR/yMhYFkCVpyWXXwJqn
0i4r1ioJaCLnczLfRRlbinqQnE5VQbsUiBagr2eiI/vT775JqdVrclaKk/TYeJHA6wApnIhUjRY3
GF2hKkT+sEZUFUjMXLm2fY1IOuMDKo7gp/IDQciU+VHoXsM4yZCFHbuhIIU46mRRWXZLIp+7J/RE
B34hTUm/N96/bJtonhqhXxqmM1mhTBgeAygSR15ye45xeMQIErlFF6nYrvs16e9gM+dOXlhWa6M3
XUGADNumYciGRzvC18zafIUdWUsRX/08/Jgbvp0KBZ850yz8Fo26Mq4JrHfMYcNhQ+/ZJNLHAjwc
e2g9IBOsBywYMLXb8BNi9e6zNuNUHqeiaG4mNapHZ6a5OboFuqNLgK9NUUXDwi4HJWH7NZr+1MHb
D9TrmBzZLNR1x7PoNukWCoENen+qmdADZiiLDknC/ffRQeW+LUnSV3GBQ/gQM2/g7EByBXutMsyX
2u4OdTA9W2rTNbKm+eR1BW0aPKEUeIXucsoxuOMKrPhx43gtH0f72Jwl2lQHi00ZIF/r7B1OeRz+
bd7B5kEiv8At8AecOu3J7W4gbtTiGa6R5AUA1nIC94WdVcyGU6ELeR/J2NZ+yMXXeByeeglCVYPC
7VQkXH5TIZlVlaVKfUtjbq9cknI4rtlFlnULjBG+gQkGDbueE20XX6MITz9JlCVXPpD2RyfS4qXj
DfnakTTceDRAD5k26jIF8voMDBuuW4hpi65SGZvbnPMUeSuC474I6Q/Y0KFIX8dhP7WXZHpVvoxa
GBK06CcCk1X55ZiNraon+GDBaaLf4HhiiiBJnfaII1UetTK77fWUvAohoIhKYEgCG5e+EGXd4e/W
QJGwJsSqs8shd0lxQAnve4tcq2uuBq3m/9Go2kTd6TSNX3DwBgudZBn8RTR3+WHWMrpoTZY87e33
E9l856p2jfSnLFvkq4OWFccDKs+TchykIsWz9AYdMHutV3AzoHpDSnOzwIfzFa4yS1tPQOt81fp+
+THPK/YKNiXqNKcBBv6EFwd+iMaWP47Sp1fAeuEeEdplQzIP9uU/8LHx/ASzjfmarqjfqgjpyHzo
uYmyY2QGUGfjzWfP89T33wrtl7qb0unQx5GJ71woyCOaVCUDuQY5XJXPQfTngKTqCtFvDMfFCCGR
yjGkniBDROouFYFE0KTuhLYV7iH6aDUcLysQO7CIapibCEk7f2rAfDBs6GrZIUmD5QzKWLhxraZN
kFOnI9++jpMbu08JTPymA6oK3iGksVxtcJYhrunXcxQncqSfcpfysuqIadPvPdiX0Vj7qFwkP6Hv
1C3wShUqV6xGtb1QDesJMUyuLnDgZutBoA1U9pUDKZquh9GvfOiu15ID0oH/BQowfd97oFZptYAt
zdzJOm3ar03TwTzqELBV0I2ASigdbeXhe5jPpwa52njphIuGf00G3gPZUYBGNIzHzKBl9cjjBC2M
swbfaB4PdqVRLO+l0x2eA43AOnIShGBA6R5scQz/nyFiRYx5nOS4HpgWS/Y1s1kiHt8xz0jvuP3c
sx1hTAhf9DXe2rJ3wNF239sJ2Idb8bOhPF7yM+jJG/abITAM+eZ0EJGoxhIAXITKlsuQ44hAOJ6f
nQCgUN7MSCjhrilZvNLaNZMz3XlDkwhPC0cePBbgKulGPxwyCP7W8Tp1GN5WtZBVJ1MN7kg68Md0
huQ/hzsbNMjpVeycgV/IIW1n5DioHRpz0rqERQ7YbnB3BJnnNgEnCqm7ZoiYK6xNprmk53YuhnXV
ADM9AMkWGm7r+kCPzbjQtj/qAOIKA3YwqvJmQ+pXHnnU5xzNJM+ZdhWhhtFjsW4pPaN9Njzr0vVP
EUgqM+x5IIqrqMPeOYK0MfyMxw5ZFkjkwsKhMJ8gt/QWdI+l2hKDHt6Wu/WNrH7FIEy9z0AyvQCc
2t6omKd1l8CrVpJ1HY46HcB58gz9VB31j5Itobg0SOGKKh31SqEVDt14tnMMMuBSanjvgYnc/dRb
zDuEVjrwKsc56g5zuq0PUxvB1bIJUX9EBooKkUudZWeb03k4QJi5vEYbX1ZdkSYY8lB2bZcdAt7j
8sNCqQ6LX+lRGoxbBIVzbCURR6QTdrpwAu4BP5to2REXZNTJWG+daE7Qj3kOA0NHSnBcEsPGmsdU
qSNd4+mCTKr41vueArAseNKoGoBiC+XpWqzTHVwsY5jDxNn/Ye9MluO20m77LncOBw56DO7gAsiW
ZLKnSE0QIiXhoO9xADz9vyC7qmT5v+WoeUU4KuySSCYzgYOv2XvtcXhFQYD6ACkoYrUQaUQLBHYU
BvIchluXhM67DKyWOvxmZm81w9/J3Z2bO1AEkr5GET7aeBSQqDUlCghjGfvIq2yfzY42SDiqgD9X
d060wESidmw3nlY4MjB7X9n7c23E/v2o6TW/J3ZVmKOALfiwI8uPPX+XIVH4pqEBYniYNcm1xjHc
f6a5VPLezcpuq7pMIz1SwTjnznLt9J0jEuyBOVnZQ63M+Aa1YfI16QTvvKfWGdVXPDIZWdd0DppU
V88g7cY71RWSXwF7HUtWt6w5Td0SzX9u+w+C8aEbge5VJ8HQIo0UEpNPyrTwN9p5bx0rK8tQ+XX2
Yxsn9X4wKv3V6XoR+C5yPtkVK0L3fl0CbETLBa+nkUbG2E94owq4oYGfTv50SpwOkVdfragqkxjP
vaf8YlMY0A2HDXBGY8+ihXWlbmJ4jJIJTA0zGmwDIAgbF5WemWy8x6Ra+htzbMbrBKinF+l20oAr
QyfxpGZ3QLw7wHsMWKq7n61Oegl8ImndttpW8fae5cEC0pYlDfDX+6g68jaVEQ/0DAET45K7tWQC
EKxO0zi7fEKnFpl6me7WduZr4Kz0J9QXZRNNZvNd9bLaGXE/h2qwlzeX02K6glHdAWltJ++ht7th
5MfZdktDkDIFKo36xixi48qTEJRR28RLGXQi9q80TRrvSwHzetaa/g7JWxYipTK+YC4ZK8x1rr+E
qd1nXehC/1qiUS0ZUM7OG2IYwalXcP52ZgF2x1js/eAoG4SqbOYLk6scaIlVl0tQNKV4S32EA0GJ
nuFSI9TQd66yF5oC38Ac0Ma6Xe5Kkcmn3J47FfLcpKqjPo+k2bXe9r45t8pUjKFNo44vHoyW1xax
QhJMY/Fm9mX92g11HZCcwuwRYSJ6o2Tiki+6t0RTekJtNWuhRuVx0424ZHrmLp+rZNROXcZNHXVp
7gK7HurzYLdYJjo3v2Yu4B61WPdemBinLpdB4rw3BvzX2dL7h6lbjFNO2hSoggnGLdWaXqJAqRjx
uH3vHXtTVk60+oCdgjL150NlG1PxgIs3jTqGW2CvessKW9Med5Qv4qpaaonETolXGS/zqx8PImj6
UceBaOc7CNDxd9S5emTZ1vDsUe4fhBWL9xoh96vOl9iBNvPGoZx/xbriQSrQ0kMzDdx13vgFne9w
14z6AuxnqHXBfbDe+YmWU9EIqzzwPAA9MHo93A0XjQdffa1ao/uUMeyIvJlGpYUID1NPivpF8wrr
MZOmVYYWU/1T01QC/yeCxdw0P5aR6X+3yxvmQd07D6i8nCJWyZiBXulo67J56Ky+tmwYILLllO/h
WCHx6Vp82eza5yUrW3YN7O3qW2tBkbIclIHlwYjMWp/BQeijBDhxQg+9DM9xOiv7w66sOj9mtVcO
VhhbnT5ooAZsS3UcXjmiEHZtyAwyX6SOHqFfEytlI5BraCG50+nzaVxmppiBY8z23rIq5X12qmrY
yGxNXswF55gt4cRR57Huj7TFSRJ0IRZSJVS9lPGIkxY82tw0qMFB+y6TbOpveqstbh+x20Xvtusb
teQSqUua5IhugKBtWmyuwZY1SJIlq97eT6Y30MKk5ux03UvtqXjKIvaZHn0fzpt0zi5ZVvcjpGpF
7pbY6Y059u37mK+TWAK+C5A91qMWJVmwNpKT4RhvNOGN9rxsv4nlJDqwaZnMk9t+GrVkNewA2DYc
tQBJuevMV9rQ0zBfZdDTCyecdd9zp/2/X8/9eaHL1hDBgs7qcDOe4u7djPs/W3sZlXmDjtj+W1k3
20Jj+l2SYdpVx163d6U1oqCadFiwoUwBgvR/8wL+vFTfXgB7bbym8DLZErIU+vMLSO0FK0+Sul/z
319A+btQosz9gitOq9mL/b7E/i/N4X9N+fkXlQF+CHKOf5o0/oJz+DkA6dev+gPmIAS5fiYGFn1z
BW/hFv+MvQDX9JuloxDgJvrhAMPQ8xMtVbDD3fK08OVjJf8nLdUEAWHyDV1PB3UKwkr8J0CHX3bg
lL0gAiC5booQ0DvGD07ST/IUwODMZMdxvlTKxBmseBIGtYlyOMxdNd07mr2csxme9E7X8wG0vDU9
51YPxrr3q/bTT+/e3e8L7p/JCeLP99aPV2MBLNgucX2D/20Wp59ejVUtTe7LcSICoBKXJCdCIxjd
moZ+nqDaww21xjd3arQ06EpvaEO0QTwK0Bm7Fk9Pt/rqD4N+y/eQFLZFIZ7RU3jisDh2/E0gc57/
5l78Ae/6aVO/vX8WRhH0LQi6dPhFv7zilNEEOrzhgpA/SWDOrcXzZPHU2IOzrwGlL7PIohRcN/Wv
Q2m05Lp5gLW1wHmc6uErvOlehKnW2BGj6JpuqJQ6uzLIZyh860ze5SOTZRqcPmIp4r/0sr3CumBD
fek15ybt5FQe/v3n8NePgSNGd/kgnI3y++OX/uljcBeNBqYp+gt+Xf+lTjwBYTyHKR801Tjfqbnz
H5tYFK///sf++WCzAUlv5kuX0CyuRf5ne1k//ViGXYnV9El1qbxVXBBmjxcW+EjdY/ny73/SdkT+
/KltP8nH17TJnLD2bFHnP/+kpkLY1zJbv7Cutb7gzCFjJB68xQjyRu70Fs1waOqLV4cs4lT5dxfN
ryolfkt8lpDgUITBUvn1xyO0SXmAsLHZSNc4vIF45mQXFwfcAv2OBqAOFp2P/qCK9kfqSO1+Y4KA
0cNfrOvZYQYQmipjup+xYX9mamyYkfSW5VujTU2ka6wdQpsVXHe0AbaNf6dp+usHBbGDYwM5EI40
noV/fvt0Z7Qr2461GzHG5ZeUwjkJiIAZgPWbCybas5Jp/o42nF3r2qKh5aGehrQh7vfBXdc6XGTi
UoJl07cU5eXXyYYz/zcMUaRVv37ImNe4iAgcwl3L3bkZvH66nJzOS3Vk1OYNNNYm9r1o8OV62GxF
/n6YxhHdZ6vfT+Vij8ApJNESojr0RtccCqvB0Fy05UMDlQbsWaGSTyor69PSU1g1dts8syfzohhh
aDjWZPzgEDRpjeKsry6q0XoaKWruJBF+FtDxIyIygMwd2acUD0aW3MGnN+egGEG7wuF6GoxSMyMH
Ym8g0sXgbLDGdQ105WXXhbS9t1hneiuBa1+vlD9+qHRJFcs1nxIz09EcKcBokVC2Fq3Z/NH07CJH
VKl0juXg7uO+HU9AOYynVsLvOcSuJtIA2nX87uMjY4RZtdrnsWSP3jB+PSG7bk6i9Yuv6dQ43Pdm
mT+mfjy7wUTteO7ibgwh6zdU84Z/y75g3lGztnshZjHtChR6LOwUnptwMmS8K3uzYyrq35KikugR
6uHhyKPGAF2MYIja3i1e51KXV0bnN482E6nD6GeagS61XL94Tt3tSLfJ1v2Ue8leo6j+wmhdfUcC
1dghgiWYdFViTMl+HjLiTZRSuyWZRm/f1bEE22WWx4q/itbS6mreaDboQQb8UGMuopB21fa8BtZQ
xKE5aFXJwCbfJZsq716ZworSvkMtk3ElDXtzUH5PwIM7XzsMEIoYLWE7lGXANoZl11cZS/iVb73S
5m144Hcc5fWHsZTZYHbMMsex0S9DPqApYjjVrgfkU0OMDiVFipAZRf2oAyE4ZYtpjuHIZwB3l70a
AxTJbjOqYhCqaOJz1e6w7Sd62BWDiG9lqzsoC/LFVTJa5sIfrp1+MLmiVEwyiApHnoV7SMtZfDtx
6zhJ2JKCwwVnQh3YV0Xa+QFFNyOX3cx2ItRiH2Z7sMRIoRGbxRglpA9AgygYtyh3fUxVsCfjoVxD
b7U5MSuDeKSwlJ1WIFdYkv6OaRgS4zpJve/aOLmpHum1MSC+8UbvYrMBjM+V6Q6unYXV3Lfrcux1
TjeWVYl0UYn309ru/a6v0v1SOOVy1Pu+bELbYAAQurO9FIcOjxj4RMcyPmlNuYqIcXAO/DUvde2W
9YiGGmKoqk9ZWfrlyez8odjl6I8f1nEwWa4zShNXUsneJVRDGnI4xN3UVI88jM0znY2R70e4edWu
Hopk3XliXmlIsqVRN6WHfmancat0KLPEeO6gdhVREpvJGLngfxr4jj31SQWTaf1Gk+mT98MLKCPc
srI9CT0Fdp4yRgsRLwGSTus0hjAf53TFqmt87HQqs0ITDfTKICJbtSs9Lqy9aGIUBK703WYnYIDU
J5kKlexy35K48/l7wZbLVXH5JGhDZ5Uy9GVfAVCVfn3BuMF9ZFzECjokDbwJFOrTUihjvDiNDzK7
oq+9sceKR1KC5JEv8Bmim3u8jaJ6YxNSyXOL32ve98pe0yvs1cOTlRn2F3uOGYh6gosXnwc6t13v
rCkvHmUXekATX3lIa7hL8fa9FUpRWWRJNj3Stqn3ppPgR12VxDsPWBE7Wi/m+9hFjbuz6iZxYfdk
Wvf9YIsnMbBhCBQxJF444ImbdziJsvTYscJjle4ys7xNNdd/qfR2uzizrO0PbtHL/m5erMEL9Vbx
2UhV8cJqNBfiiieY/0JzzdVdckp2EXjMuT4NvR8bd1mHquYB9J9vnWYrU+PNMA9b8Um+1R3ERTB8
NWE76lTX68pywCiHFWGIu/3y20tXnE+8LgZLF8uu+C3GFiNIIPM6X0M/n7h1moIglfsK6yNL05Gq
IOHPOFONoZK3rbAWZh1mI3U+bszV402pSeaGRK+0rAmRoZu7ZWrR0fHfLLX5jThAWJJsdfJQlS+s
TfwzguPUC3AP5lwXbJ+/qIodALuMbHkwh1nvrxLK3OyqbvCKPXo8LQ59pYtL6yftGzAL6OI4C1Lj
XHuJP15BK2FmtXRuy3ITnfOhMXhbt9X98pEXuX03jz1j3RbyUP5JOWXSH1mXlt9xR21nCPEeMqIP
8EhhQo3W7xuIMJ80PS73pWoSxscWx9zSKfmQonq8YieV2ZFtdAa2jcK2eBxJw38hzGBK4N5X3Car
Fpv+yapq0X4rOZCXsye4pHYoXbhGMpsFy56Vy7TjIaPaK9GNhhPGfjFMPGnNSaf0brPPnY+MUFso
08+rP3TiK7K2pQcyB9Qe1YzBt5pLsYmhFGrlU8PHQkgSAxtcyNM03MyLyzJhAjjpuf3RKhlqHFe1
iRzZR/crUXt5XcOsnq1rbWBgv5NtVU5XCTZaGXp2X8onKpH+q45+FaWjm/ZTkEPUZEysJq/lKbC0
j6QSivRV1OQMTQFinHx5bga0FHwzBEA7iYk5OWtxo95lQgIb1sXeIU8Ntff93GvxeujYoae7dB25
SFNjyMy7mUQc+1I6zbaobybdubFIZJhDgJqq3yl0BUhyvYpMQwaNJWdH3xc7MZtzF00FgpzDigOd
l2rNiRstMUsISKWsxT8xOhVPmey41njS+S9c62V/V/nwx/ej0fiYt0qJwGEe33DnKk8EeT65zzab
fBUptM0WUqsChkAb9z4byYQretekJp8mjcMyX6cmeNVrt2ukeYcqpXBOWOXZN6XzrCU3eac1Kip7
1ntkoZXjcFMQjUgbiR1u30svl8hedf1ETgD3/eIgX4ZQIt3fkbr/naT8zSTFoAqk/v7/j1Ju8+KL
rEuYGP8apPzxRX9MUkgJtcCauLZhAu4yf6SE/hEgSqTTb4xRHLIC6KvAgzCT+0eAqLv9yQ+gDwaU
f01RzN8cYW+0Nn7I9nX/WXjoloX6c0MpcHnQLtNo8AqE+WNe83Ov0fE4JcpEtGeLnV9kWsV+kBOl
Yjl497asZM2MPdFYqfRytXd5x074WW55UwUtONLiGXEVSVTUKGl8wP5tElG1tMUVZ2ya3Q1O1X0m
MoY0q9WpzlIkxdWwZV35W+oVktC0PBtbFpazpWINU1ZdZ80WlVUxyr2Zfg/QWsQBHP8UJiswhH05
qc5/mzCPeEd0S9zOQ0sW16RmcrkWg4gucD/yOvuR22UCCK9CP2m89Ms0aPJ1xAlRHuuu5uZh2J87
1wObWBgrGm4flsZ6nso5KBUSKXUpJFxRd+/xFG4udd/z6zL06NzQrZbMio8Dy7tu3pUYY7TyXNl0
epw9BsY7G1eBW7I6MVZUeOSU8n6yMF9KCm7E4r6uonGaXBEKSVjFh1IFSV5UdzCZMbFVvb0igQZi
QrDP2EH2CZyxQslbeVgKwpntI/pt6a2tJSIbnMka5g5sCRQM7BclTg+PxeOafV1jhvl2jrIRH2k0
JXWKEdTA/HxATRR3F7ccthChqrvT2VEGLE/MQE1WR4Mhq5PUtOmADtd4pEYY08DsdeSBolL3wD7s
veM3yxe3yfKdKsYiXDb5fFr3OGe9Mr/utNQ8QGkoqSqG8ZBXU8tgv6oB+E7FePLYnLijzPdlWZGv
48jk1jYo+yZZzMzukzxCk20GGS74Y7/68T1wgvJTXGlDE+Scpjwsp4Yq2XmGv5Hcm0nb3yk5ufcF
eoc32o05SlC5nzlU53uuh3q/THX6UvRzfEdyy/IJsRxjbjWOqENQIKEbTF2yW/L4hY2aSfano92C
mZ8H3Iyav58gBV3HTlwc4Nil9Ktuly8vTetRzDKwf24RZT+iA88Fymzm/Li7W3OGGti5c0j0zXqq
OsNxAn/oyx0qjOGELr1jTJInL2ZTm1f+6jKlEo2tnsBk9kvgNV2cAffoiu9CWQ4ABHe154D04GqX
GzWadzyKdyDO3FOn7KesdaM+Gy0zsMzZvWZdnCTE86xFxap/nG7HJDFgJOEqtSyflWW28FmPGNPv
cTBUL10/V4cpdpt3ZchPou0mGjXPO/NJE81H6RoufePdrKwz7mOnl+cK6+ZTIsz1dTTXstz7eC8+
spq0Sg2TD+Kd1nTP8Jf8Pbydb5Pfxkdh6+1OzjmQ+djNiLfyxlfdyYpPS76mn0w1pLhsWy//1GqV
H6mcOww0OSo+THM731XDPm2cK6BmTlh6aXHIOnO55Tlsn9Xcb5vehR17wNdqtyJDuLXaK3AbG0z1
XYVdalu7zhAAEnalk4ClznSC/QsRmH1kae1CETw2oYqV3N6XAYtwIREs6CG0OHVGx4YRfbGNF4se
93bQuud07R6zRnO/znaNgQPVnY4BQJmuHRrNmj25XWZdlWwAr3XE94GT9XGEsP3kW717szBz4NYY
+8e18IrI7vT6wxmRijRE+t2Zsb++b9M9KOpaMdPEqOaKRZOF1pE4IKctDIv5SLtE6+onN5YhxreB
CQpcHpzRdJBoLIRYoesgpQMD+YXtaPpt65PCfmqvjTFWO/qWGX3raL4y50iPpuYaXjArtVwbMxmz
Vu5Qsw0D4UQURVK/iHbWGEoIhD1IWur7POup1ZtBkNs0zgJYesrQu4hThsCyxCp0pCedETFY9DlY
983HaYi9d3I96bLHFIUfvm5Cn1BqLw+EV3rX9VTZX0YbwrrvxJ0DGWvzqYy6Od8loorRWHmyDwxl
6TcuJMInFLf9xaWYZwk3mioSJi79oCcuk8CWieyzRXjXmjCQQaZ9ziVqI0fV5w+Q8tWDUM5ySrSY
rk72SZhkMUCDvPEPQ2vNlLZbBjVThg8oA/b3WrO+pk1rgGLG2kIm07Zp97NdS/3OTa7lN2qW3o1v
5vk1XQ4hSNn6AYAIlaBe1IE1z8+13j3OWJJCT3QIVbZmE5SG3KdC2Ac9Xf37VnQ14QyGBEpCvXxM
NHkpciZDqIfiqKs68QkFoHXIElvfc79/ZGvlPQDkVKFsC7TnruAEkV1zVlmO5LqL7eLGrpln2X01
3dSVnhzR+GzKiNIZDhazrHuu3DKqdF/dpUvdfaX90qBQNKKg7LG8l8SJrTOvcIkMBTWzthtsGTRH
Jb48zd4X5DOdRMVOXmfIFS29nuIeQM/KIrc+DOM8RtY4D29G1zHK8khpmtz889CL94wdb7jyeLye
VJmMgdMreWd5LaFmxOZGcymxoJlz/12wTN6hch4fMwC5u4lZHWMZL99bXu2hKdPix3QS/cXR3eEA
1aDlVaTd7ZRASdtlMESIETVKD42B1E5qvOpSS4Z2pd473So+t7Ma9wlW569gWcRuQe4DzN77LL3i
W5en/clEm0BPmOeQXfm32Hb9AEOuc5zSQT/pZDtHUypQtiDGv17R3n34WLI5O6V2GOxKCyz2ufeI
V8yz0WfYh4asBbWUNDuCUv2jadX93p2pvDQc5Ac2FdNVWhJgRxZr00aD0LSIvLaB7Jmavo9owA96
PxAiVvGUjokIx0U6RzUxKkntm9VSDWIeXBV64xv7Wtgfrd7cj2x+Qa1W6H6z9cARrQULogXidxbG
x3ggUringNB09DB6fSFs4d7FF+f37WFV5Rhg01CRLqsHDynqOavXhJEG9LCWRQWRuxUrFinP/Vok
gKJIDiw17cHvZ3UonBEH2pIR62uW91pe3S1dKslDwwq01ugpnWIhr3AUEWKy4tAPTR0Na1NF7Pg9
bP6jOFQkWnMIu+atNsyMVXzNfRosFFNrFtchTpdvbexoOxsFQ0BgWBkYaWPzIMuZJlXmeK8MQaw1
yq6dy7grqHtCS1kKsh6cwJ8RcRBM9ihCHRnfaS47/5hVSL2SdPXO5bDcY977DMHr+UeD8N9e6m96
KaHr/7aV+n/Fl/cvf+6kfv+SPxopzyKj07MgjgqB6RJ3/j9X0p73m0UZYG4LKmwTP/qYfzRSNo0U
jZLvsSem1fLZzmEkHuT//T+m/pvBLsvHg+cgSUf185+spH91gPNdNhO/oJODOvgXeUMmGsPqTUsj
q4iAmyDNlvU48rB/+qm9/F92zb/ssDZAv+duXRs/jYHWr0kGq+i7hSmQRl1siSfKXwRsFA63pQJl
/DcLM97Qn7vD7WfxIIWUzoANS/uPVK+fNlF8FlnvT2Z8XETt3+pON91gRzfP1qrPd0y8SNX+97+c
Kf7667FHpcXV6YYFWNtfNpxz3tst1XV8TAn0Y0jZ1sM1dsQEsxcGK5tlufJfkCWYxl4nYQ2dfwFL
/ODgIKgOrU00jT3xlAjGuUKOlaXd0a9n1u6L3+nvFTgAjEu9f0Dp6B/UFulSOovB83iuzkjciB/L
IQ4XWjc8C7rXM5xfIp0ZuFziZUgvVgLVOjKTSh5YbZSnNOmhKVLU3xvAdL5h711fZG51L26T3Ojj
ku6UWzDNxjp2XA0zv7Ho6r1QZpxNRj+W31dzrW9XdqLPhp5mQcWUfG+3skIaWE5s6Cp11OsYPPFK
CpU36UD/4ZmS8IyXgeVQf+WKob5wHMMXYk7/RS8S7Vg4mzml09SxXVBBUX/4MXGlmlF/9B6BEoQM
zRgdV8nh3io2KaS473U2iG9prpGfFc2yc5kAuosCufTm24a99NeyarK9W7m0aYpsIy3UJTh25Jxl
9T52bvOWgar7lBFb++Cjd5Ks+nr/a+bBXmSo37GmKKkXcnzv6bzvJg+dIFQM+Z7LgkcmPsviVi8w
MpBLmjAPg+94taBXf/GWFbJunHbYXTbbabZiFLUwXNxCS3qQc6qH8cwQWIIi2vVC797gjE77etaH
vTchBAlmIJVfu7KUByYaH0uXNVEC5+Uq8b2RkmkldG/X8+bIKi5u2qJcP7Gg1e5NlgzX+gpTKOhn
kePVmXSyTdMs1gOtBp7jpPYpRhBynFTV78wlza/1LBm/Jr0zvOdiyYrdmjD42GlD6p95C3rQiM5H
OxShwuBxqQpqZVJBvlLiKnSX1lXMY475YfLs96gJ27ih4Ww89Gs4hEKeqdRghqWHsBqdwG2Gq0zr
aPnmgRwyR/eyL2A86OM197MZj2zWa2fBZ+m0D7EqjGuHDYJNhS8Cz3MtLm3unhmVJCEDFsZ6MX2b
S1fb25023ECmXd+3pLGQT9Z+b3Dl3rKXgd2xDsNDaw8aOUxUn62f7kZ7fdXGjpAgJjQ7Y1l7YqbW
dad8Rz1WlT+GbJOn/VJa9xVdvGvGtXFMc8wtFnGrE5GJlZPSQcXstllxjiALimDxGiMLVmTlUZ6U
ub1jBL3k4VK0znrtqWKZT4WvE94QSkx7ehBryOpe8l4x3mCHMfYq4Y2o22hcpj57srrMS4YigC7l
TerJXQa5o892E+zIKPHZGUI/CmxWkZQFXlUd1LQ67uusWbAuAb8Y+HY81etRWmiLt+8zNgAWZL0B
8Fmu1uRhIgwOKmaTTsnFabEzBnXZVeouwffjETTrtL288mOSOnEdxMp+MxrcoER5VLFGQG03+8ZL
BlnL3rc4+d2v7ozlJZAD2MZzTjc/do95yQAYGarf52+a3eSPZD2nh06vOIbr0rWPkz4UL268aBtq
yoiXQI2OebbnqdYDJmhqDGxN+geb/eEZIER7zUDAPrLB112k4gTgReXqiyeD1UhGxur2f7sMPR6X
ZVQfjlGhBapE1exxAJqnuoCfEIxInxh2kenY9Hp1Rhrq74hR3kaCbYzPAAtTfdVaFq2iy8BrL7Z0
tKJLca00JEJVve7NAb5+VMBx7H/GN1qy89Gqx7WHVxtQQo9IsWkS7mfTar5ZyAuveSFpsicVsMbd
5JdrBLivkLsOzvOJHZh/W9ip86UoEX6Dv5ygRvcu9afKN3EYUMAqBIbNn9naUH5n9F+8mPow3xV5
5kCvXcv6MSklywsmfqPg8MhJwiWxIvpvFVgN6bD8TRUIdE83fqoK/iJOvElhkPBP06R/Gqr//nX/
qAW938AkCYuajyweYTt8yz+G6r74zUHv+yOT/Z/T9J8m6PpvgiJwkydawJ1c5Df/QXL7L1qdTZ7D
gsD6IQAjkfNX2PKoD54cJpmcME2tN3rZ4d3IFPWGhaZVROBdu495nNoPxPjx3yiFEDv+pT5D6Ekx
bDrmFqNi8yb8PL0nhLFlZtHnp5K27MZFd7jXjJ4pz1oywrEHqR+HFlhWYLDo5incLrkVTHhwrklk
Xp4ZTuOnw0+K1oKrHM6jLxgD8LA1ZkaLVh6hqGve1ibHfYPDJyVPO07dZcSt0Bg7UwzrDUxl/cir
3MQe7NvyyySr6Zubeaxw2zSFqyFhVgYZuo2HTZodQpycD55S8x00uXXfmHLBBm7FZ5QsvG9ONVfX
vEybwSVI9i8mIR57cmTyqGK7cFrGJROBIy2tao7F7+eiiNdRO3s/DsyF9G90WYmZOHvlu5rxok8w
jHcl+XSctrnU7DepIxVI2Ufirr2qBzPnfGaY1qi71mAoDdPNU8mFabj09nW+iOQBsYqz1wvi8izi
Akvd2xvYX/RIk4Qzn4S1/c1EoGp4nYntqg7O9hxB7M8jBUQqjxdk5zxqhPLYeIYid0SSFkHpxDqJ
dm2VvJfrktxOCC93tb4WPCGI/NqsVq33ujJB0XaVQLevqtY9jBxSA/8FanTqPpgzTxfXy1hX5jqk
0sIxxf2aGoQ2xvH02hX3vof0vOxK/Ub0XnHAddlQfGXhRN72FWP1fYvK7K6VucEF07gw+kacrtrC
0H1ylvk5b+zN8ADchEpWhqY9MkXD/PVNq+bswespWFp/ZrHrMyeX0IFPA/jZt8zeeAxkJ6Eh7Sp2
t9VwZm1xNIQoHmSR5fcTRhqkKxqKOhINDhoTuTP+6NPsL08uognMsb7fvzPBih/KXLrRbJopBnWn
3AEgKK9cvegR+KMmk2taPNeTUwWtJuQBXIP/4SR5i+817rK7CRAlbnFhA8JuFv3iozgDiJIJ7VxJ
h69a9Eq/7/oG20Pbri/QRp4yrTHeHCdpktCw8o+UrvPFYR4YWRin9nERW6cEmwUOurk8dab6Fse9
92VlAbDzG+KKWO8nwxfMqwyh6EEIabSQaKqryZL2bYH3eA/B3yzBjceAHhMrP9W+cG7i2hVvVC8e
NqsK07aBexvsUQFhYfHDkXHRE0aE5NZklnnMMYheKVQcF0bI67FMGvu+gf58Gacme20rmb3xiRaH
eR7NKxZCxXGsquaSr1bx0SSDE4cxw7ozSsb1jopuumZJRQBj2giQso3nPizZALsXQg7HijmnN97S
mff+ytA+UNwSx2LuYi1guQZSyUnM29Eb++sJg/2nmXkgBtYF+gQLmfRmkHn7NOajekxTpzmbeUJR
PKf+W8186KWbnOFqsGtfAy/nZuTouKuxF0Qq4X/041MDavUwkN0SYRhFGddO9nd76toDcSjLpznD
3Z342qnKm/I02PFNAbwkigm2DRQ5oTtRJSfDb64WWwcd5lOMIff6SmthkNFRFUc9meegspk+CQxy
CLMADhmSgeYKbPq9Ae50RZsEK4SM4NCpLHWf1XZ7keCJWCWO5j1w7OV1rNP1w47FdM8bEt+CDBk/
ISwRId0oPDL0l1FdztlRFVZ2aKwMPQro5vwZBnRx4GPnbtEUojE3b76aGgPalewaFqz/w96Z7cht
bNv2V+4P0CCDjCD5mn1m9Z2k0gtRasy+74L8+jtYss+WUnLp+DxvbMDwhmAxk0lGxFprzjED1DEa
ucWqzhtSCayhgFeaT2qdIMxExiDFn/NCHFiRTtTzKKOC8oX1yIl9uIqC/BZLkn8tShF+WEhk+xlv
I1TfyRhWeHHMK07e5pXfpf61UebibtIDPmEGUP4lnPps72f6JqupXxlE8Kz0fehsZsdHUkfYrD6C
YwtPFeEdm9BTOHt6u7jqmfSRE8lSU2TFhaFkchJMKh/UBId6jU8oWLe1Iic9GXXDl/aaeNWjaDy0
E64abH1bbSbpib2E4UBdio9JP8THrJXZvnbi+NFqkvY+RHx3LTrcmUZfz0wJprR+aovev9bSna+G
tjJeqrKHUWlZ430Wl1jJeXvcy4IJx5fJKEnuSsNaHopCjlhB82EftNZwPXQNrVoEOTsvrut3I37A
W+R6wWZyhnmPGSi6Y2ernpXfl5+8rnD/pOqjrlCLlBh2+hegScnWoZ8PNrzajaVHFatbuXEJdiRO
cqlhfAIajp6VIrs122x4gfxiZchNoSqt1WwkJwbP9buAKeG2dCvOtDKPg7VUSfpnAQR9R0umfk+a
kFJb3OL5JzsMvX1RA6foofxeDB5954zx4pFomoPfp4AhoISwn2ToRK87x/RvEi9vr6hQuy0WtPJU
l5R8QWeABXFSeY1OclgZQ9G/xx8C36Tyh3bdOnh4V6099ndV2OKENvzpq2n3Wb/yobsWK597fJGN
nUHwhFTPdVyy9KRG6Sxt16RYFu1KQaMKgi3RJ+WNmxb2dWwGBcvSQBHhZZO1SgLp7d2ufH0mxthe
Cx/MEoKlcq1L13tJTWy24IhfHCgoV0ZYyAcvpB9A8oR9OTIZZxmcxC2gFRMUaXG1/ICnOrOtPc7t
9TAB1fOTWlz1XpccQ1Him4yK8rYMIRe5XjdQLoNeq2u68YYCdYvu1t56is0xYx6wwaRUHRkTtHc4
mZzPXYSEdWV1FTXIOPgPFtN4EkRbelNRYz3KIImcdW5Uzm0a1AsZZND+XRYW7h6heUmDxL6EUzLy
s+cMtWrTuuochbi2Ex50dKP+GvWom6iPRv8QdLV7cOESrtushcoUTO1tNWfVLdVhfUiQ7h40Xq71
LJGVjuPsz8CoG/c9ZwHxqG0/gWoibfdPLzf657z05C5Iqw+yzuCrJ/6dLZo24fuZTNg5p7QH5HCI
pRIsg6exagy6H6JFu+oo4jpco54/x1VDfHAL/Ahwjt7Iku1tQuXMo+m0OCvR0KGgSndWzGbd091I
dqPXuMBioDElhNc7/TWC03rT1g1axya/GegIkFQym86e/a7YIS1MkUAb087AwnwQZebd4JBAtWi6
8TMHNNWucVdzAJmCQ18lwTqMUl/Aa2to1+D3t9Y82dntWFZDtG4cnTCuN0uOr6h8t6mRjvdY/lCa
04A7KnMqbrq0HnlPbNXwcPg41ZqZFHcsJPuUdPQrbG0cpsHRaBQxwhwfBvptT2ZaZk8g9rwdaGWy
AmVQ1zdV2vkXc6o4rYQyOJpuxXQiNBMbgQdz3QHxanCM+6GZNzq0k1PS+ZjOmWXFgD1CvzzktQjb
r3aeuK2frlL40B74ktq7DGCLbnTnNSeZRTWjjNamrdhM137dWBtoLOGasGd9Iidq3oYc/D/MyrtI
HPUYqhjhiQC4FUuLb+mc8tS1PsZwGFfNlGVrhik+R7JcfYAwIo6TQdNuGCMimnsDoow9vzTR9Cl2
jTsP1cnKjwa1yWbocm1NF67sinFv2oazhrWw1pQIF3Fm5VuS9J74WdDVTh7wqRZkFfHwwcrI4hv8
6PZVK51nqwW4g1mqJzcHvgzcrWZd5Rk3ZomlyPIJ/zux4qvSdYoTIaj2rkAkjxsFmWQ83ESTI97Z
AHzStadJEzRRHu0Wq/p6Ju6FmTjtMFBR3arEfOt6tNvmOLGfJ0PoPU3bap373h4WmHujVZSuK1Wk
VwWP34vRultsi8FjjtznUOHnhh3VmldRnsWbIRwdxpgN21wbxce4cr0dTosZJlogIU+i/QHtEl4T
hMjOTpbqjTT5comXoV3scuqEqunWUD7b3/TRfy5LEY3RtyekEY8X9eGPhWEUOAjNgRgdE5JVOMJp
Fy3M7LFKS0RPIJ0LKlLOUgVbtpl+62yQkR1+ZSnMJkQm37vhfm7hK6HguTMDwaVj+WcXn+MChNJc
xUdLl83nGTrzZRVn0Y2X+un9d52BX1zqFzMXRGvUNEv1i1H67FJI6BMwUzmXQr5bbHlHgLsXfIGv
b1/HWirpb990SceWyySE2Y7j03CARP0T95sktMlpUjc89lUw7SLSdI6q12KbFXF3SwpZ6l8OfkRg
3OTkL5UbLu6FOYxucOgvxXWASnb7+pH+O0X8Tf8I/tGih/xnRebj1wJQZ/uVn/g/ksy//qu/u0e0
iODlL4JL5Dj/6RyZfzCQ4o0hitxdQsIZPv09RVR/4FEyF7ozbSeThtN/pojOH9gicWsxYpSezYTy
3zSUsNifPWoeckzeGiDzJDD5/rlN2qXIMqJRFkcC4VoLPKQbYDSAOTNSsDA8R2FsKVeMl52YpnXe
ogKyWm3vySVyD3XuxJAJA2RmaCHJl6hZ93Vqpltyfjmlh6olrbGxt3mo9AdyDWsUE7TYXvywsI6i
MrN178txXUchSJvApUyquiMBeeFexgU+UQ/5vcV8fT1zoNpPA613ppUELMy+bncygueQFV6K52gq
Pzgo5F6wl+fHXocz5za16+GgbUxs5usBVNgNXTHvUGBAoutso9kZWqcLV7ZQ5YfI6uu9GIz51A4Z
mJwQAd2nwIMhu9I5HBbk2GF4VTYgCdKk8y5xWZn3/diITZG5d8gK/Cu223rj5WH4MYvAm6LPGQ6z
2zNSiOsAz5vZ7BuXA+gYs2c19nRXViV6uoLjv0KUvpr7wbph4nUKi5QDjk5vDY+KFyJNurKmkUCU
hSHTp7V8aEy72I41wxlzdhxiaXR77NvZADg5WyeHxtMpa4sK7V49ryMjmZHrmeVVrUhD3taeYSw1
df9oxZWzpYXqXpIjKvdOZeU7YLuSv7Wd76pBtFdubASrtBePSuf685T2TL1GlG6Bm7Z3M7AlLHUq
26m+RFZSacRVceJ+6gMNhWX6COuk3VuVnRz6IRR7Yl2Dd4MXl7skCdQXglfT6aqfRHIVSoQkmVdp
PMy6y7deng2bOPJAbXBo2tUKCgyRjGJLYIJYhR5FUDM1/id2w/HPcJz83WwW2uNMsSCqmJyTTzK2
2eWUVE9IO5In9unpxYBZYOMzkuYV0Q/DBaGbgmGGyY8c+1GFn4rpmxKBt4nm1DsF7Os3tjWUV9lo
PREGWXE6tp364FFK3+mypg9Y2MONQMtx4dSxApJDvY0Xl0wS99AbfTzt4Jui9PfhZKBB6vV4UrQp
yZ8kMWnWJEJGTuWthVWH0YryM1/ykLB5zYRtrYTTm8U6Ez1OKCYqYpPU2AVaC0E+7On81jDkwZd1
uorIirlqlHgps9oNLms4cdEFuqr3Km5cUvPkPsDfbRzBcuFu3DPKTVI8If5Y+J9nglzibUgQz808
aMxovfDyz35hB/OlU+AX9Lr+SSJTvW08gnT7LaSZRydok63f9NY2zCB6jqUrctC+bTZtqkhV95U2
gJ2s42kID5Xjps2TgHGVcm4306KLNgUePPeE9NhrjU0uE2HesFBy33PwpbuAWkgtyqvAfJ5hiMBZ
r4zwup7c3H3PzixqfI5ysu4K7ffBlySogXUuRTAr3CqiQUpSdV8+8ORK1Mk+OmjshY6VYo/PmLSY
nZ98cjlbGQePISui8zIbjRXFMwXAQJo0QgAd9c7VGOb+O86C+I5RgfCkmLRnyS/qGKTit9C3Rec6
XyYHS8VeBHqoDjRS3WIzGDGHaPSEgb8tJATqFXIlJIa5Nq1HO5w5MdKTo0VujlUMqMPhil0aID8U
PpYWskw4LRLp4RfUrditS7UmySqyu1dHu7kpywHZkKtBjqCUUjd6UHoHDIX/y0w7WTWSewzwM5ge
MxDUFw2n9ua1EECqmfsjqTm2usKhVR/T2Oe91zLYSDR4ZJ32Nk1fS0T7wh28fUk7+bYQGXZa33KB
ycjyUkcyuggqMElkKJGegnTP5aXCx8f4ExoWvU4lTp7b7KVRJMu7mrB+UQ1soYfbxo5qynwAUZow
ZG1noIa4cVfKKIprN+rLe29wCQ1V9fAsk0DABbX9C+T3NqZLCo5UO+GeRKMZqNLcZ+YqBxX1mXzt
T+xRzTXHKjrxLqTJeIjRtwqzNh/C2QowfiXek6RkunOQf7I5FNkxA1x8UxK9u2PMap4G9BCfZ6Hk
7QTbtXUxLLF0BgcC1s0PlC7xBgCu9zygTS1XXSCqQyJrfeHSP7xyJHpW6qB0AwMm+RjhzjjJugQn
HOodE0YAaZ05J+QhRBb2VZyl22QK5lvlJwlkPX/fArd6mt2yO05q6Pcggee9HHJZrxLA2mu4hMN6
zMrohmMjCNRGC+8iBr22pdQBW9Mg2B+5/oP2gdMIi4FjKILotprCcT3gYN46iR/usY15WBHSgQ7b
6EQsjbPzwbZrGiBkDFUvgye6K8udra9DL8qdBHyxTa3AOqi2tt8bmusJH2ZgZbXhLmGotm3IEblO
zbF+1/MeXvUw5W+ltPxLJI60B6IiARWrURfYIMPSUs7YUjN1yObhIzi4+HJCzvc+oHd2DaLX5y9p
FSeBfGmyeSVVHqzM65ZDd7eOefNvZeLqPYO25sVzi3WNUWtj67mjny416DVYbcecmu9uCcG6sJK0
/EQYIrBtXNPbdCrNY2SG74OmUMTiIVzOChceqjEtvrq08UAxGx90EZhbB3PDlYxj88I22mV60oT1
Rht2BTU9Qm+lre7JED3x3n0btihEcLpBgwLxNmjlE+RsuhCwPOSv+Bm7dZ0THK9WQBVfZzEY1pfR
DAF7A33aIJYvQsNj1k6EM881E1YCYr5hOxcMRSL3wf5LTxDmcRg9tmqq4rv/nu//d/Ph14rxn8/3
V/HnKA5fiu+P90yNljLz7+O9+IM6jfP4t5imH4bDJuga3K+vFZ1J6AwIiL/ZNYyUCYwRPoHmirnd
Eqvyl1DQoV7wEQi6KN4W4R01w7+YGZ/TYgQp19TmbJ8g8h3HPK/OEdLrrs5aGGSVAxlrPfAU6UMj
h3gfRGahcpLnp7y8TFLLGJ9iXWDcraaoQtzus/W5MTMAi8MXyR4azLyaJ+xCDueci1DUqOt9wowB
vcEgaX8DWFnq6e/KYEEolAPfBjCoBxRInH9yr+3HjHDX5sIOTX1vRYWxlmPiX4IYN69HY+I1+a50
+0WBT9X10yWphCzXkRLmyaJC5M+/0yAacQbfkpnXhVLMJDo6oGs0HZZiy4TwSTetNuqD1ZjVsz/W
wMOZkg2Ef/uqB1ErQ/Bpx4AjM5JjxOdY2pmSzHvRKX2LGxSbd7mQYSJG/I8ZU/J57wRFeZG0Fj7U
EADbQNDmYkaoG5D8a6mBx+7CEWQik41B32czIzOBhOylIz+cOTdHeUbLwH0JpnEDHNpk6HJQ+Wb3
VvwidLO7tu8RpRjT1aRi8dhYNg8B3X9JAACKHtCtGEXnrrKuG68kMtAN4wkfcOxznkCVqG9haGT4
56JQPFoWfqTVN7t+2yT1s7HYukO1aBC0IKp1a0tRPYthxK2tSlFHN6zdfCJ/kozTad7pp6aWjFAZ
njI3IuXCai8EsZviek5H9GDKnVT1Qdg93vmOVf0Fhzq+dIOu2HAPxU48GnYm9PsKxIDx0RYLdzdu
NfeaaHNdHhEnMi4aINrTh1P4MYAUDvxp1ad8OpEMMEagrXCCg1gLNihAz69WQHY5dzFt5fsnKcaQ
BHf9u35S/rtvB0J/tJp8wxH/LlIL9sakEA638cSUZwW0tGs/4JDnAIhWFZQD9xFBgoxtbktMN25E
+dbV88PE0Y+oKpg31kWItTs6zctP4i43x69j3BEjVLwLH+mChfarM9hEkCNdRVgS7wwMiERe/Iek
XhP7220R6PISZj5o51Wj3NEFPymyLULycJOhboVIiw3jUXVnZPWZ0fpLmHTy6pWubqCXuh6HKru1
mZe+4HuJD3SzHYjY8GJfijAd3le2CWEAHEIJCgJNLh10AAFM1rjjeRakE/ZKxQhUlq7/jjF4292J
eGbOI3Fm4+aDvBivxzhXzQ0SKGnvWonbM8N2WNvwHyeHJFh7k/BEis/jklSwiu3KGf+ckokhGP+a
J39WetT3cc5BGjw9eAv0JPKlFUQerSOG2o8E3/LzZKlRq5URjPy2COZwY3O0qp65M7xcLjHA8z6F
+E+gnwke8wP9U30PGIsXwZhdVkdi7UkpThntXkh0hhUFQdscwgGY0I5Tqb51bFkvFFYc1XbRc+vd
sucqClbgvLJ42/yt1sA01rQrMN+8+owKVA/NIywUw3hn9O5c01NpjOZ20j6fJMMmMT7NObXsU+xg
g7iHDNgcdG40uDgHNHDz4LBAzAArIdB2HfdSmyTnLINAbkSFHOiAWRHaBMFAvD1V7eJ6en2QU23w
w5UGzEygLstL0TVMDTFg2ayhsBUFBg+DVArP8iL1QWdeL26SwGeh8EILLItrj9Y1XJ0kJMmHmf0K
yzyeK3pFDRAAqxlDOPp92H2BYt2l7xtWCItKPphlc1PmRaEwe2F/8rcuiuFmK1KLv8nkcTq1tctv
3mWNdZ1w2tTvvT6o06/SBb1MeuQEC3ybm4MQNzn7z1yvRJ+EmNYLqlQqMiKlOdMJGwur5NyKBDAO
zY/wLgE+xKF3Xdim/0EOfbAuZ+uBTHQ9rq287J8Wvsc2xWiMg7da8h3C6GiTz7GxgyBOgXoO4woL
M05WECvyYEBjHNExJXA332OL69udU0lFfVNWhAixyJRH8M/muxYL69rOzY8GFdGqY0SwSoloWsXR
qL2DlYrwU9YG7lfGMAH6xoYpEHESNJLwBKZZo+9U6YYfpT0U25xNigCH1r736qD4aMEd3wl8VQGp
8zn4485tgHwy4nUrqCgrMafZVVyF2ZNIWhfbXNvt5kXhawxarwu4xdsBZ9/NkM35pXSGftsjF79j
Wa8+Jn4fPQwOwysXftC+qVtnR1GliV8hmWUAuPKAzDh7GnOHg3+DlObSZwNjTFnPp8zw0x0tF2qI
GmnyKnOhAsSDXT6y6VQfCplX0SaZ22XKbZbvEcEstxZs6spT0FPWZEbo60ppGysMDG4ai+2f9C2a
DSh+5yDmJISlI8S1DOHXbaB0FtNKTxwHNm0jhosaROzeyxCfrxMSnI9upMUulNYdpp1qb1LJb4gJ
rz4kaVMBThADfH0KvGE75W5/XXdO8ACPXO0JNgTUQ8QGUz5jZrQC3uDaiLr6ggUbpk5REDJvLJEv
ZJxvp7aBX0mHZl0jEjtERaseiYWdv1CCJxfIoOYLTHRkvLx9QjkbtXAkWnwYqMrEYpP46Ug0kRDV
+U3nnBpVsIe5BnkWLP4B61yhBSuNg1fBXhv5wL+bRsJL+vYHOIPe8QHgrvE/eHAk7/3UL4bvansJ
MTsn3VXNIUXDvjZHm13QMYiUT8yhvIAS0vzmqmeTl9erLhwCoThqU+Eux7bvjmUO2X2w7qXPcJ1l
PHZiVqaqE3g93/52dOPPTpxwS4lVpIbm7prm2fFvQMPetz68JSdtl0XdbNg0Cl09A+xhxfr3F3NN
Gu8uJ3TPP8+LtFhEUGsrYDOLM7UsI+fYRipbG3Hvb9++1M8naUSLHveNpwd24Pnkqg5BIBnaVCeb
wOnroufsLwFmr1twwReti7nxX19vUcnSFfPhdv4U52l5JetGlsvTrKPg3bc9sIjgHeCGbDkOtfHE
7X37mj8/Ix65sXxNE2GskOYZY7IsnNrUBN8hG0IDN47oN7WFHvz/cBXXAmipLCmoTH58EoFtjwjC
W3UKkWMcphjfDy268f/wXSgoaWYz6eG5P7uK6mxRSyI6Tn7dEpkTu9n61Sf99nf5xVMBHwSKpEe1
Q7l5dsdSAi1JxyvlSQRYk0Bk8psM00grY4JPfd1VAIB+U9L9vHywprOE8LXoMXLZH29fEQ/I1zLl
nIwyYO7fe+FpNgeOIn1W0iwl5A+XZzuzeL39VX9+sRf2KGAUvi1EjPOv6osxRssjxSntebmCkmWq
U/De50R5l29f6hdfkYeDIB/SjBConK9VbjY2XCoXp1d7AYDt8mLGbfqcOTwwgKq8jV6emrcv+qvv
x7jQs5hM4y48zywe6GfaEYO+Ezrb5lDkjn3MTC/aU+j89kV7TXz9sS736U5Ix3GQtns/v2kMpD2T
1/k0N63v0aDM5biC+5rdV8MMBT7JIvTUE8dkPXKuGzlrtddDPWjydIzWobgo5UsWivaLFbU2p865
yKJbLwWn9Jvb8vMT7pu0PgRNUIG58BzRivJkJLcm4AlfwGzrOIgxjmnySVZD4vCoJT7H+rd/Cevn
dcg3Xd4qdkcmtZ67fKbv9qowo18SsMWcDOZszVbjOqtWHVOtL16DKHodVcHyvCcxtLA+q5+HQS48
Pijy92i5anSHYQ+uiVNSvEeHA/nr7Q/4q3vCSsmzAqLABO/64+cjqzKaB4+3Pp89Dt2mTD5aoWGf
2gwL2mqscWO/fcGfnk2Fx5K3YUEVe1gOzy5Yx8w6jGaaT+juiTfEtLZkZxU8prqiGv/3F6NvZMM5
8llqzncBbxb4tGp/OulQ69ukQCphth5VjjQrqqS3L/bTT80388gHZGq4nMXOHRF5alhob8zppAJJ
YRnGHU8WLyJV4tsXEmfkJOEplstl75Z8OczIyyf57qHK7CjWKHdGNvAGY51JDdevDXS+6VNglHN7
USUDnRAnxLEEphEaa1a5drOqs2UbLGt9D2uWPoExUiytW2vGaOE2zcHEnPTs0/WycRws3Y+xTimO
SZ+bbrui9MvfmXx/fhjkgpmlYepLG6f02dsRF1jtXNL1TmKeyNAt+vIiR564D83pXx96cAfzDCCk
oWGLwuLsuetCU3QD5tJTA/rqCK2P71+Xtb9FhlVeOIX+bf9w2b2+WxgRgLMeCl59WMnS/OlXKubc
tupGOieE+s5XpcRAzgps6NeGiHJbujrIh+VTqbX4zUsmzh8RUOfkAyjUSTiebE5Ci9Lju0fEyYIu
dsY4OVkWnaQZ9TpK0nY/QTa2gQ9pcCjKSlMYEmVrtdd+WPIG2k0YH1A2A1MRIpnuzT6nizi/8hjr
xl3O9T3Yn9W8sFabXLUJ00ErvnW7yWDQWY4xI+jXwEILYwuIj6Sd3zXL45UZbAb7CShgdRqaCQKj
UK2+lQAG4cIEKX0/6Cxs9HE9MNX2wlGkV5J8q2ZjWml+R/pBct2oztiTi6RuvyUelm6RruhiE1Xx
LfaQtjQj8taVPZNfp6kuuxTT/Po8AXH0YmvtDJkkzaa38O6ShlHHsqP3bQ5j+WLPSVHyzlgJzaOe
ybn1ZWw8QHkJudn22tfV0gydwjS6BVXOvy+a1PKoSlqUe78hgfeghpSipKhn/nSu3b8OnwMKCb3z
s+VcU4MIfo6KTE5/0i2PxzVy9obCfcKOmR5Dz9DMzec8urWBcpSXCMaH7o4kM34QQWQNA3Err9L7
cjbZL5qetN4dGiJ9n5rCuwyVKtN7t7LaL9gh+Bajncj5q60KBtlNbS2tqDHjZ9ZmzH/IV4dCisVn
fqhQBxF/KBLncuBuDnQ0kO7C6ehSvVMVsIsNfRA6VwAsaIR7uAHsLTZ9/kaQMoSUzOT+4khLCPDS
Zcyl63Rm1/IB4tLCiTIbxGgxDrK7R2UMnz0l3zK6pVzE/AWRdKzWhhE7x2FogKhu+m4w1nNVwCFU
xILcyjnkCSoQ0aINd8fYvXSGgBRQ5Bi4wDptDfE1UHB6Wl6FBGavM0pIyBw+XcawN3XzaBUS04MX
Sx6wAg69uDbihr3h9RxAz56nbw4VrYZIlfTNkDvZ00VAI8Sr6baV+k/QHcGthzri9lsLTmaETK7s
SFvfaK5xEEG4bXEBV4dvrxUakiUfkXdmdO0EVZKMab29wh0hP0fxgW4vvXnROSzjjZI8RbWnKIwi
SNpAsNulZ24nbf9pistx2Gm0JbffRjMWYZTk7S0HiVfhgIdG9YWAnaUT29Ceh2tL+aMtkw786/bn
QtFrbiN6V+6lJPkIIpZJzMiu9FIwpjlhOvM+rwwmDdnkcGOdYHAg/voijO/aouaDWDgkml2Vifa+
mJl+f+wh1mLpyFwJ69UrfSCrUmfWo0rIslv3TRBPXz2DScY2ITDduZusii5wBOyTUOXeGt2c/Zgx
QESsD90CnhWHaQ46Fqez3fcczFNkWaQdlRVjf9DayJWCYM7pzRsZBo+sWVQSU0ZTcrcMyj06AiDy
TrlpalptdMg7jwYZeio0KK8b8X91kL/TQWJ+Zbf75znpwwI5+X+bl7TsXr6flYL9Xv7Dv2alvvrD
4eCpJKY8upeIhf9HDonB9g9ONvQJqUlpwSwng79npfIPqkXBaXrRO75qKP8elTJ79SS+Wg5ilnoV
Sv6LUSk79Y8buAnTVdL2YaBn+cKkY/zjHkrPlCyHoDYIdMNaRdnM4MBpcONnc7pFVN9uTHRY93am
hr1XOqTsDZOPu8ZDMJiW4+OUqvyC9S5fW3XnHdLYJKUn4K1YA9pN1q4qIprO4X1Y2Qcn7XC+OcQN
k0f0buzT21E4HeOKEIAUcCZ0lwnBeK3jQ2QrslXr4Llc1U4mHrqC6LKqEoyH7DC/dsahfSxsH2W8
2zkbZAVAHghDnzz7iXDDP+0KHiRv/t1EBMd9Uiq5r0fpQElO+vw+Tub+VFZefTG50DhXus7TPSSk
eJNkhb6cRuUec8LUtwkRzSenCcgFaHsmC2k5K3SSpsk2zZFqNTo4l+g1V/nK1eg9FqfjdJjNxtya
1RLdzSt/aTbeIcvEfWWiJ7I737rKU0bTATHECWquRS4kYFMih6xrL9h1ZpWT0QD516NZTihuOq5i
sJZw9Zo1P1Z+MXdOunOl4Z7yBFhfUAY5nAC32mkR6uKgCw5MMMk02G+i5WpZ1Jtxit7hlxa0s6WC
Uu0Oz4VFNn3U1j4ELJsYsooEMHOL3iYmurc2Isu8GIrAnh+KBuxav43xWhmgmzVDh1WZ9ca86zkc
Aa4vypbxoCQBZmU4He60TnKuqu3C48jlmwZc4JpMA7A69bjPBfUno029d5mSFKvYcvAE5EV3b7id
2cHKN/KoW5G+bBN5EsbyEi2duU6W3Omtkc4GMrPBZzUFxpheGwSQVsYGegf6131ZMTpvrqjG2XUJ
8SvhcMgVf1HrkkY84CAvTshRO9U8lyKQ981cjUw+/LaMDRRbrL5NMt4FXZpj9yo9Fx+ou0wjd5x2
TGoEZ8ZOAHtrEpN6Gk0A1g/GMCkv3Bp+kuX+WoQ5ovUdsh1PI6FJVSlNfUWKIxaiHejlol9bmWm9
L5F93o3g6sgGSIoavllskU6QGqHexHTigjWhzq3PtHUw4N3ION0IqMrTqlO5xldmIvQCxf6Fk8KS
eA0T9Z5+glGtWUnwoSWElbwLZJHm10YC7XudY8tF6ziqAd2XOxJNUUfguiymGif83tGB1qWBZcK1
w/Xo9dNDA+EYmbDR6PdpnCHtk7WyP9aRg08rzMObOprqG1XH3rYbKogy0N/HPR/AvMK7JRE/1+ZW
F5hm46mobhnLF+/wMOt+5dYWxhZMqWRRWb7VHAW62CNHlOBIlWTQVGk7AKshw9KNZaAXQKBUuPzk
c5qvEml308qC7L2NmPXc94Nb3NZeFe5djOORNcgbQnXDxyCr9AVB16SA1VBLnv+7If5vhEPsDx4V
1j9viJdlH7fxS/HDbvjXf/W3csj7g72QSthZkqrY8cT/7IY+myEVnQlymegbvAH80d/mACjOgmQc
lEFKLDhlNqm/tkPBX8gcgfpT0Oag0/mvEGP2WXvDokHEkMlB/03N7hLE8+NuCBNrxGfMYymLwGW4
kxjWvRnVONMQe+7KOvG6lcTE/6k13OCRnIXmOOVFcDKaODgtsznqMNciS1YVe3Joh7UYrCyHB5Qa
j16Vk9QUVTIGQtD5sIkTfWMBYPmaNMJCZBpm7ygfui1+1RinXR5clSYhoptCuMSE1yz/Vmg2OLXJ
Aj6Uda4eEJ/q6+9+sl8Igs56ZdwBx4F9LbkN3FOq6h/vQDJ5pE/xTh91Y+lbBVN9H049S1vXLd+L
z/329c66I6/XI0nGRqeF7ss6ny4IA2cpjrSKQWMDaSnMPoXzONC35B68faXlJPNdq2K5kmszoOFs
ImmMnmur5l5Z8zJtOo6opzesO9Oi0TH2BDnGDwhInP1EBMr92xf9xddjeOeaHAAFj6m5/Pl3LYrE
BB+aF212pHCcmNUvSKLWZP/b9Fo207/r+b9+RelY9BypiZR7PkSBt8VekyfZ0TJHSenX5PNOq8Ya
b/rMf3z7m1lnJ8flYv4CSEfrbOLbOh9sIEDKopzC6lhHOrPXdoQYflPXebmh6zuTxR7pm77prcsR
9e1hztyuQrekfmfF+/kO0/KEDOOQS8Y/z5vPGeSPKe/t5Fj3KTWSxuW+gfoQPPoKUMRvbvDPz5Dk
qCyhArKF/9zYbQjdsbtGJcfKmue70mvaTWfwBldRlUaEQMUIld0C9PJvrvurL0myFjsiTV5XnTdD
kZ5gFiZB9AjJYyD2gV9ztPsRCOcSO/72D3t2rcWKZzpgb0wWVUmNcrYGOgRVs8X62C2xaGyI7WU/
rsxmWjIo7Ke3r3W23r5ei84ot9JzTedVEvrD6wHfy2gMnqF5mkcLYbCbn7LYHqzN29dZgse+e/e/
XccmjQ9n4fK4ih9fw15B4laljo+E85I+qkeCDDmFwFZFZyQfIkD5lAEcAJExNhidt2YeRt8iHv7R
tnn27CyfgeYsC93iHsO/edacHQiRByfU8RmGdtGTDzW2npkIioDQnxPQXYL+lD39Zj0/H10tl130
A7RJGc1grjz7OYdQDeWMQpNDVmC/bxKVnxhdTNdVAmSxsSvkK51RYrgeJw0qJhgBuh1HMEFfLIUB
4XPFafuUBkVwICokPwVxwD/mxPgmx/7Hu/Orz8kom6MBKguHGfrZ7UmlHYz0XI0Dgzj1CSSaQ4Qq
EF9+IniL6lBgzf//7J3XcuRIlm2/CG3Q4jWAEAwyqJnqBUYyk9BwB+CQX3+Xs6vndmXPVNm8j1l1
lyAzBOBwcc7eawdsl40AQ72YqwsSKcyoDrFXV2Ml3OtIgTJZitC51cb14OCjbSgTATVoOv71aPrP
UQvrVKtS6PiHoE1/+6igyul61HOB8N5EjFRl4VKBWhvU/q/f5z+fRPTL3DK6+1oA8/vaWBh4kFPE
+FdiFttDhLAQcT2Ogut6cL2nv36v36dzxomWEYRkinoeYp3fewcrpJMBBz/TuejhvYTplJi1HOOa
R+WA9SOLESKu1xaVsO9G02ZHbPrqby6s9U+k1p+fVGoeZmDqXgkN+t/xq3VPbgBPRnoCUNmvV0Ft
M5mqaIELkY0STSja8jcPonpcFGPT71aZlxn/rL0MfmN610M2pedoHOnmTJE97oaulH3c1WCXCNNq
tgtWxfScF539uNVO+jEtYw0Ds94uG2I0fFNd7z8F+FrooMKwnHqTCXdoZvvR09ZuP5dAv+Dnwut0
1zExZWE8c6baHlbyvUYS2/PprulN9VoTcvMGWDK9DIZccfNjs/hoQsiCZzCDzYbVQaanbbCgOZQY
gYDpBb3eI4jKNXFb2e5rHqXWezs2zsuMN78DVjM1BpzK1P2oJ+WSW6MWJ98PYZlfMocn2/WYWqx+
Kt7GnMlbDJn3kQkjhMDasG2EamGGHPGKKBtBaPjucXbpjiZtsAw/w2C09y3g8+9hRyvgkfIN442n
P6sOlYh4ewmn4iG0qVkDVhmD75ubeslSQcgP9J8dPMHHQNnr7rtiHuZdAMzxORLOemGdqb90kFXv
Pi9v6s9qb9NPf5AOZKyz2AgDuEqxTAGHMZv8UmV42PbdlpdyH3zOVjDKrzFBMUN9yqBbUTEihUnV
NybOFRJwIbl2qxcWQ9ybZv7sLoX7dSSdz+BYbrb3TmVjVCtdXofuW37xlcxAYwTFWw+fXcc49Gt2
jNAocz6FifdUZo7zgl2ut3eGzbVtHLt44/QLOakX7itOKLprPDQw8dOi2R48cv1UrCoK7ebULXdI
pSe0lq5V/Kh9cvyWzaq/WCts8b2jx2Ezi/QcjuWcEXsZqgIcEkimBK3mdminmrFEfsh2wepJ1T/l
6MXxn9y7h8YzTO1qY58z5oNc45IvQAJVOW+Qfxhge3PI5WuuCVICGic6VVKX7jnSk04x5pwYfE8Y
z2AYuGBm5q6XzIADAR9mH1FeSRZAHncIobuDKgPrhBBb7KldwFswRP+ACKi4MjWSAXatC5wfTAOu
NuhnTrudR8BsJ4oQ6XOmgr3QgIdOox5WDX1INf6h2YJjpYEQJGQugPmBRFAsgeMAN8LUAAmjAiVh
aqiEzZkvtjRogrA1ktk/6RNcVftLBJGi0GiK0oKJpmEV85iLc6QBFjlEy12loRadxlvUGnSRa+TF
quEXtsZgKHgYwGKdC76Qu57S+W6anCWZVvAZLDgEy3XFi5+CFiGVw76uoW2YY+XFUgM4MCmZcaWh
HDmkriTSoA6stI8D5I5I2q9SozxKo3EIi6LgaFM9vTLM8FvnU//ZTY4ky2UJWdVGaf9oYITgi7J2
E9QQWPFzUrmoKqf0mtjy7JuS9rbP3RXYSN0wAbt6jwTl99YvHOeCJbB7sIp6OBsaWbJt/k0VdHSb
cYX9k2rCJALjpDMrqQnTJdbWdEq73aqBKBaIQgusaxbcjF7NBxI1Eg/UUPb24m30QxasKCP1HTu6
VpbV3bFRcgnDQuSeVChfXnqcdi+jprSsQgNbBAkmuA6mbb1UKJz3aeMHoExV+LNsiv5qqf3lij5k
w5uyi770mfkYevP8GMzrune2cdzr9UfThDVNBm9lc08taIsDnrT6CosrWwG7EmncQ6PJ8DawFrYQ
aogmAFbjtvMuc1NWBBIrgpMsOfqMjL+k0aQboGruEYQQ+Jte2s3dYKovAd6SxJoLHIufwJysFmGZ
qE+QDv7c5hqdfHVoNWfHHPHeI9rNvqoym68dcDxKc3nKGUDlzg7n6IeDIT2Fp6ohPpPm+bRRn5+d
T8iPrXk/29QwMEv2DhwRauOhXvtg36z9t1azgsxGTd+BvYYfCjAXcQGtZT/bjRd8XT5RQ6amDoGJ
XXY4B9mPtUt3koST3C7I/h96TSxyhKCvqClGnKCjU4SbgEhaa+x/SchkezmX67lTziXQLKToE4vk
RtYNzYmWLQzMpDGooSd9gpRSJ3U4/Gu8EokX1rNRwLy1iBo+c1Ojp8Ubt4RFGDhTa0zu+0LV7yFQ
BlUD+rxJSEUygSqy17ZmSVBo5h1xuuCZ1wQoOtPuS7UO4j5Tg0Oej1VepWVnX7iCReKA5e5odx4n
TZYyovaCnQwCdRPZ91lXeyePTvNNpJlUJGN5TymGjwR0sDjWaNAO9QYmcFR8JSYanF+DZlwh+cTu
WWn0VY5UCf3/bA27bEizL625OLfg3cUdIGq2/ZFDhJL85Gmtn2ytopzqY121wXev8iniaAjXYnih
SFLSGED4QOlSHMdvlCZ3qU+Il/MJ9CKQgTXdjeaeVsjk3XJil8eqCQIOAJY415oOpiYlLwQI1/fS
99RdOCzLyUGuFMUFbLFGQ8bmENzYpMFjaFrSSzm24dHNpuatglZJpISMuq9u5mn5FACz6JNlJjXW
zNCAM1nWwNIH+aPhpfd9J9yaWIfNRgibbtMrXQooaewxjatManZaaIFRg4/uJXDAx2sM1aRhiHLP
HS/2VYNLxYhkUkBpoSYcOcO+zbKVuBhobbhfJ9SvpZGEEWsg7m3EEBrt5oaVurfMaXgjlJ05u6tZ
NZgEsJ0r6H066/qFnN42GN5Jaw3dnYlSJf/IjbWDhDnUGHtd1XJMUsYHPIf2suA4uC1mb3wxsnR6
c/si/J6NESGY0LCNOllMUDwse2tTBw3k86Y9Gb6LV8fGEbxv/Okr0TfFrQlvNDHCqQaL1pWCLkuF
N5soylsK/AEOjY6qht2l2i2/OHwqtZzctjQvaE5qjAAza4aAEQKRYxx9HdUqIL5bZbecLOh9Z6tv
5JjQ8BZMZ+uWPYVOaa8xSPCR1Df8ubFFdUjnbUVlDNnKeKbUbsIxEtw3FoWjY0p1llsxvkvORpww
8jppjYarQIT1jxQLEPImtjiXPJA2XCm7X044L9MvK1rvV8OWxoftj/NNGq7Zs0fYbGwJXnaBV/9i
IUzFWeL1P1LpFmwnTbo+Q/HCxhh+XOqbBJB2j77zJcs2CJ4b0ytUTgZV8wU7grkzQ+MxmJZqVwYt
3R/ATC6+px3m6DWmbdeQ16iD6YOcrh5ODIJFCw4vgEyQlhRvVW3D4CcSyd+NuRIsldnJXoh1Hv35
F6aY6MhZ3o273o4OFaLTuGp8El4aD27/RAaYNx5IwCN5h8S2BFwIC3S5WBAom+O4Wa8bXqZdLsbw
aK/AIppmrY+uKpanjvgfHP9hdinb6YN+hbOjCdPu/Gmyz+ClzP1ANQtk51qfUHOw4CzTunNkPx5l
rsy3ijimHWd8Vh02Qmd3FO5+IKuZUFI1kEO14P22lmPlw7Zw2HDFHKr9RM3L3Uwvl27/4p+8vstj
s5mA/XUSxwf4eeSh6f1iDcBhawh3oRp+qd4Qe4nQ7Wj5hdg1XfQD21tz6FdCuhRZSbstM6/I3nwY
HeO18N0DEKSVfUp02zbDuTG673Oz3Y1VelbCfyHt7MKUS8GoLtS1328fkDW+AHF+DMh1kOymCcKt
XyOzmI9bRZEyUNEbuqsh3npCiyPDQsNFEvTeFPYb0bFsrIyMST63r2q/Vwm95UM5yuslD8iGyPz3
Zorkzm6oasMB50SQkQX3lTSG9wXYpF+O9qELahRBNGizr6YcMhxe6I/otsppt67rDgeOc7Rw8HTF
twVMx4lu/I3XvZjhND53IaK2fCie6Fjlp2COqhjm2/jNsPtwv2DSO9Fr7G/GsTdO/VLqxxzcgecU
wTd/cNtj0XR+mAz53F8VnU95dC71cSKI8uUoZostdNGDct4sYPhq8oz+gMDwkbZ89NPEr2mcDVlT
0NlV0RCaQHRgS16jwBgGktlyVDO13evXs7uqfF0pOs8ULqxUXQG0Z0QHc4XXmKqmWyr8RjWajiFD
GVKxHzoFzhgYt2pUAfQFOJodmF6Kpv4wc+SsIg0BtdPvYValH0OK+w4exECLwUtDDiJ2yEEqsUPB
sShj2I+JYHqhzqR7GqsY0+9kSBiwjjrOGML2rmGzLbcda9wXHFfrxXA9TskA6PZq7XzztjS8Ytqr
aOXYMQZMS/NQOnFr6dOJVSzTr3Kz57vSX60bJGzbAXlXdc6rOf2eNQZF7gxp2qM1eGqP4oeTSLZN
5psQs++BrJ30kTdSZCDknhy+dgiekrA2fPMoLae/Ym/PSxt+a+xzwQE98VYYR4HmE5qzr374dWMn
Rc/2j4Akee/1xDRCbyVJOSvjjSX/yq4GFtLBSc9O7lEUwFZ7CceAGoHu1Hy+3yRdY78KeISp79Cz
qerpiNa5+fb5KxGOu0fT59gvgjI6Bp63nWynkq9DoziDLb1NlSB05rt5Y9tjcNik17O1PuF7XEzs
BXjWsFMhPKJQLEnrw9OA84TUwSHRpkITyx6BAUbER2zyuTr7m4Ju3XjDV1EovkBBW5kg6WV7GCi8
3KOpsr41SLwq9r4mnxnC6xXsk+W+WtjvbvCyTxtq1gt29pVUK5Pv5TbUwqXHsa+bSP2MyXLqjmzV
ONuPY43nDMHeXO2KjaoIxUsmA2Aou9Tso4SOvgcwJcXgy/g3N+MGEoZ8pfhXEGBdUlEMt2ti7AcE
U8TKU5LpUpXDf9jEAcfY7N7UnTJvPWv2rkW50SHbPIpX6UbMlR53Bv7vA7J0g+0/yQp1X28PORhA
jkkLAjmWBpl+GC3VtR2Mz+2hHvU1qcmUBD22PXCvllsRTFw2ipSxa8ntYhOgcCRLFJfwCDA+WNP5
bgMJA0EGCJHvMgKUqx1kEdbSB6Jt/CdAlMYe1GLIHRLU8wMo1EsbmN/I0doOVev2V0Grf4o5vk8s
X4d24HBaLxMvRKZZH3lJNxsmQC3PLRNEhNGxGBj3ucH22sJ7yxOpD/yWYacfm+VSVCoZTQ6adBQg
hnillNg6Ccv59KLsxbqJrDk9T3kqXtEdLLBZch4dFBncTGekNzmr9JxKS7xWwQC/uoPSsVuBeKFk
7OvUeuRwwDdsbZ/yV5ohHIlDWO/HqC3sG84t/VdFhFKxayCun4nA0ThfYT/OlYJdox9Ye6jynw2M
+9cO9qNkKR+mc63W9AokGgNyDI3hFaJ6nJlU5FB8lNCGiuqayfdt9IYpzmGS7qSS760ZRjHRteFx
mODzm4q7o1TKw44rMU5HoNtD0xIK2E9qnxGncnEogV9kM6Xfe8SDXrz5m3WNcwJOmOOnIDm1w1xx
8vES3MURPEyP4gdtUXj8ehTM2ORvPOlRUsDOMRFIoTgTzmB6z36wmW8gQuUrrUhDxPRieaZFDwpI
cDo9jCbzY+RypUjuNp41SfcjICIGzpPSY7AnqzwOPJyARaaNh6FDApURjGEShAHHvtDPp1+hzzkZ
4Lq1fENWsvxYMB6YqJQk0k/W9gzlQmuzMsqSeJBham/zWY3PBXyUnxK3wEchlug8eXlN6OLMyuSi
/TmsXrCCP0YPdKWjPr+XvgdqcuidnshLQYE7qXE1rf8sP/+f8u9vlH+6R0wD6X8WOpDlqH6TOfzx
Z/6QOXwq++gw48DSdkdq2f8lc0Boh85BSxXY8LGS2LSi/iX6i0hSQ5BnYhr5l1TwX6o/9x8OrkKw
3mj0sDu5/yuZg+v8Zq7AMWUisuAvhx0yJqrfmkJyI1E1TVfYSlJGVlxzqABrl9s6IRZC3SkA59Ae
cPnnJcZmR14ymzpqDYvn55CGm6DI0tgyhs/QUdTZOrbQwL/9940N+75pCw5xLqKjG9ERsPu12Nzu
BpGY+bN0siXaWUQQEY2FGJFEHIPa27EwfPESKBXYVyjSpum8OEU/X3o4sfscVTYnEJsnolr96qLV
27E1pigxVuPGHFdJWjulp9gq281OurX/AcoJy72dUzaaFqD0axlav7DOjB7RjJl7iEKwoXvmRC+P
XT8vLjW6/itQ28HJ6JlhJ9EQdQuofnmYOuNos13lpBd9nVs4kLlRK+gPme6ZretWfl28AeXVCClp
BI6QRxZq5HKzessiZZddXzKKmtrGDneKB826BVgKarlna00q0mbtuPNcZXMbrfvCLjydwAWUjnoN
abxW4L1zRdZrtjJl2j9vvtyuQBkMhnsd9NlS7cveong6+4s89qHM67292DMaOLcu3PoUAP22THCL
0O4nK4aAlSvnVMJZp5oQD5WcxuAaSB/G7S22BsuyicHIq7HMIfhlPbP0lYVcMZogj5O+5tMltbAh
fYr3g0AmaKzc7xOyi8eBeOb7uouM5WfUklv9EZXW8LGmJnvjWxvwXQONgGLPwVeFdlmg7w++SbKt
NXk/mm5mVCBntPvYJoK+SnOiqMbyqnDh8u37unogTpXTB4nP7Ieq+W5Yawj7RUFAbL1UnCBllcFM
saxziExzn2Um+yHaQkcO5XdQH5dH5Y9ukaRGza6R2hyYwU5l5zCEaBe7JMRxgCel+0RWBWtRTRbx
FfS6/gDoe3gVtqzfbdVZDsfzwfd2Pb2JnQrZdKNVK1GutENknQdHzTvXyWqoykVpUS0Yf+SlO6l4
E653j0qQxBLhyuxH1rsmicNuc2gWNCiT47ZJwNtdCBiRHHus5aEVyjqyKQzLO9dKA46A4TzuKttk
oSW5ZN7NhKQkeAjbq2k2vdtCpaUNdK12b/yw3M4toO/dVpo6Pyp/5TOW5Lw01mGsSdDKCWdPRte/
oScIyWWp0h95n0cHaC0TsX4c2Kquas+jFcgXDC63Xht4D3pk3xG1YiaBpnH6nXXZyoCU00KqOHSk
B+5A2j1XQJofglbHnfCq7FsmC9AAnQtNYqrq01D71AQLPzuW5VQdsRbT3ujk8NOeMe9Iv4+eMpdU
ORra9k1YBV82WImtU5JwZaSUuLfJg3fcGaeyHOavIOdIlC6rZb5ZCsf+3njrshBXsAkIwbXpPCJ2
GomoGJwPIwhJv1JcjUO1lepqVPU7UpooRryF59gY1y7aVZPvPkmHvGH6D5N4dz9rJ6WbmUT49N6b
akRxbKNh4DWkcQV9BPgFGtRdN05Ii0xfnCv0xHFYgrmDZ7IcnDYLT4vnpzsyfjn1jz5WBOVllCCD
URXXVpSPz1irq7jm+jwPS/fAsAYLaK830ZxDgKrSiH1GTiZs6HTBOST8HYW0W4c/F+TV91EdFqcp
Fe1POINRUpsQYXYSa4DPycY1ESVbnG7KRzZC4dUKUySpGN1PliHQLVvzahNi4KTxrLaX0CwBXy1e
RjJZ0BW3JdbOHag65wfJ1/OuyUcD8YTFNpezhffdo/KNVUZuj+xaitgN+pnk9wEKtlOKi01YPLbT
YHkHozftJ9tRH6iZDfDl3bYX9GEpRdnONxsX2d1mFdHdtITb/dp64mDVmbq3+14S2TcDT7T6rYqH
rq84TNHV3A+iM1+xv/SJu4BQ5AwhyI0GpQ6cZyQWGCz7x0KF5NROlG6BJm1GsjG09kh+6zhX6+Tv
wiyfifRm5g/nHupsOPkXu9syKnSGA2seuTS+Snkdzl5+FlEv7zsrnxLVmRNXNsrXX+gF1ZM3ZV0Z
07LOk8EkPw8h6kB8xwKOx7Jo/mw9YoYYZd+vpimcPdDuaAczSlyWUpax4XT9DXyh+aHm1E0JNrp0
0DcKwiGLPL1y4ORectOiU2F35Y96mOxntLPyEshwfTKpY0M78fPo0Y0Wih4hmSFiSQsyIVIXDGJe
mHecu6uvDekRX7Ow7e/bsU6/SPIer0cUubscMN+L1bsrG1NRHtd+WvdEcXY7JIygYtBzm0RDKNtU
V+h5OQxkwfiCmI8InsId2sQgmiLG9k6P0MzN+44cJmcfhKk4tzNq8Jhw4/UaPXhTxUWvabbCdbiO
av7mLoizvSn3j+vS0PEpu3Q7W4Xlv9u8vhGLtC1oEeRz7Jdm9HXdvOFkuhsLfdiauNqgEBYH4lX8
mwAs43MaTJQZDa/3kQ+jHnSTcF5uRtQMh0G6QFc+d3z/tzn+m80xW1vkLv/z3piQ4aH6swL480/8
a2dsR/9AVwrjQ+uw3H+zw1gBzhaXPTGwAtzrUAL/a2McWP8Atc+vB1hfAAdqUeofG2OPHyEb4qeO
gwQQ7e7/hhz4275YfxzL5pSOGQblDemov6lfw2BaG+or7q+cZlL5QVRp6pjJPNtGpxKlKN9/KWtM
z4dhdeomZs/jee+4amV7YwmPttdBGhRcgOZxwKRIE6UmsSRhDRD0pTfZZJP36Up/83dFumTY/iZn
6jilOjUrlpMU5Yhz0GJjFfQ7DtfgsXI1YiqryX6FvElIVYHBcBtxGBxhhqMnw/tVehFny3mBnY1w
oBwklPwhT2EH/tuN/G+kwb9JhAA70P6yUZfyPw930u9XRwy+JRQ1nF9yII0FRGgW5NCeeheA2iXK
aCQa8WLRb6FN0xfrM6aniI9mE8TJ9yFiLVv+Rj/4KZr7/3IhPlIANMSDXhh67AeQR/5Z2BeU9tKI
oc9+4qtA8UorI6vOmzvSymCjTkOd+mhQ5DDhKtZPtk/lIgFBlyYl71exDCsBfcHo6VAgcxrMfL+l
2TYmW425c9grDKAEDvd+aix7f6s6/3bbsF/k+yZyB0i1ZoYOJvobAeaf5WUueyc9BkEpcAKKEMv/
JlZke7sURlW3v0yIj/6T1xaGeIQ2J7b7v76hf1ZF6jfi/OeiDfSIOPxvJF9EeEabv6Q/He625ewl
RDv2C7bJE744QenezYPwtK3J92pDxdLKgumR1L22/PjrT/JnpdvnJ+EgitsfUDmW8t8hlJaTrWa0
lP7PaQh7/9bDg6vUrm8MJ3DO2eBvxCT99TvqgfFvA4fvzmTiWqDzmY201P3PA8eGhlxJDLI/F4t1
xP1FYYte1VWKfKM8Z6LTX7tefc1O+es3/i2BW3/XCH8DEdoowpnlfuc1lOR+VfNkNz+H2vWAphfg
RF9qW/Ewx4qQgUzeLdFG0fVGFGB7zT1rZLV9KakhYQ5Fb5MugK5KOuIPZYlz140/m9o31ZT1JKaN
s+vCxfvrD/0fQ9KjmMHE6wTULBgzvykeDXAZgagD570eu16sHLIl6Qm7KdyA2/zNnfnP92Lg+/ov
VNasFBgm/10T7CBm6MnkG94XMxrDjQZjHU6PqW0UDIm//lr/MQg8JJx4Lz+BFhYsgT+/lYVQm9Oy
2b63uPa5uD1ct/JjslbD+yZE4wsnSZtJqL9j8/xGTGEMeBFfkDoPAH/NavjtjVPtepC9Z7xtnmHZ
W4wSuxiHOOAAj9nNgvc50ID03Sp4XfM6Wwgo7/s+IkbH4Ej+jNxsptudh4Cg3wiWKCNOGb7NRqtZ
XY4yf3OVwt8fTz5gAL+ZGx9RLkIZ/ufr5GUkVDVjL97ysLB5FMtwVdv94C8992dbiYmejtEgB+hx
mCkYH0NLJwG5ob+uTJZR5WbrO/cSmqU/YJLQy59bbTO6Bhe35j8nYDeVzC4QYDP/25BFUYo4oAkq
bvpUq4G70/bKZxnG3jhxR/DH6CmaYKCcN7RXEI4PaS7V8n1b9RZi1y2bPtZh9HCY5M2t8LvyYLud
x4jt8rlY0Fy4ZfPLn0d2nTgz02HD855G3re2aHni+o2mBeA+gnxIBbAAvX+rBoFues8Rrt6+bMoJ
puep7/zpcSj5L/MO+DfPxC7HV889s/OFwMtdA8qkQqbHKZFJhbhzbfIWmsWaHVZo9i0exbm0+U3f
KlJ+pQCc0fjA0JdcPSi84yxmK7gBpuChd8ts3ZdonCZUOXPEr5Oupd/NyGgN3zoEVHXfqdt70yl1
aZ5ealRF61GfFNrrHM7qeB6XcWEsLWSjcengxqOJDCe6oegBQWrwN4yoRDycsMiqwY6F28qqOv3x
BbxS5XxVOiSRXyammRKfBmumZfjhOdUTZt0ESMX3iAZ9/lYEcm3KeJAVcM8/XqOTHaAgp0i9Io8Z
cgJhk5NvHtdgdIqVt14kJPozzlS+U/bPq0qexMyV8zj28QvzTOjlua370agRKeEzbfaOoQtPq6SX
h1t4DTq+HlOXHi4iUqxaTgWOGHkex+HmsSUSMwgOpYNfFtEPmi+eqaklFDXE5EvNCU3VYvKCII8o
wBxUpiB+nA2UpQD4m4UOdyyWCYd+7DHfW+lTWAPpKRMiUADcceZuJ/gy6Cf03q20FoefrT67Rb5E
GcF/vHROOrXZXhi9vu+BPTEL7PvNmfgyWFT1+O2dzuXfCDnvnIke5uTyKoKDPY/CWDoh/2YgtmQ2
7m2h+Egr357/OI+l/ixulJMQAHEy4BFcw65ipDgbFebT5Ief8N+mQGEUIy0GVnc7uCHjn9AMTa6L
nDXgY5VupK9xNzVcwXGZRy7nFgZ6zKFKhAVdqgX47iEjuJQhqrfW07MMW/6/s8KaBzgo6erdsnXc
2GWgnuE5X8Ej6ckjr9iIlZ3T60fajfSL9iQEcSe8gX0jOXA0g6fngAB7rkIuAjmsJ4q6MEIuE+AL
XrDrh57Pt7EX06PaKQoECbKKNss7LWHtLT2Uxuco94poSjBOBXpmymvI8wffNA4eAmbp0LBcM9dM
GNt00LOJzta9txItacfhoCmN+6iZ67Vl6ZuFj4TWm6p+l5MI35kxSjmnuBNgLlJgoOWo7zD6Ggov
B5z8w2RcFRBKCiCefYd1IF7qYTDm6yodAj4j8ivuTeeSEuO9tgOWwBqhdrlm4iki5d1tb8UAcSJE
6Qjupt4zETPd7JWTlSikMjmKKNqN7NuJhAXDpfJTis3dyxDdVEyzVOVnzyC2gsl25TtH5VJtpCX0
+ZLn2Y0WLVnBrVoIEWDwFKWeUgI1E5B8qNZUj0stf2QMpU7RVdm12MTGzzp7GkGdbZ7DVDl0LVcp
oVKMDBjgimGN3S0AWWoWJL90I3eptbA65HuxNjOvFVFW4CKNXHxGrlnIVE0HU8mZ3+QI0/Ez1ad6
XqrMqVkeIlXqHWHujhnTk0RHw/VTOI7924mryLNg2WpgQE0dOUPiirvfrd41xTtGelgDOs2u4adQ
8aRPXC98fqZLlqNplQGrfJN6kicvBPvNRVBq7BiOi+8VwmBR7lfmhzXMDfeObgLKjh1TlOeeZKda
vhJUF9HvtgZdEXZlY67W9yYkOPzyxzmEWV9fnFl0joiOFb0KxCt0VmbHuBrLDcMRBlEHqxUNiXTv
0oXsntJu4csXgsV/3WtCIZ84KGeDqySaPODBLseN7fQpBJ3JFfxjWDfFrH8GpNth4G5QgfnkvjD0
dD8YpBh/scj94Bo7QR/1845db4aClZDogifXDVFoW/SBqPre2gisy4RsxF5RG9us1QfwO9f9k9ks
9XNk2xGZSH3fFR1Ve4DjB19Mo3yXDWvMdY/8w72kfFInFi3V2h8Fcy7d9KAV9U8X5lBPSI/f9K8z
qnha9Mj2SBOmsyKupeNRKN2FZRt5yMRd1FbjYZ69cLpFOZWSRILPo7FunJpldQ99mb5Gxz0iNxO5
e7eVrMJT7y4x3ZFJb1K3Hgk9eRVrbUc7pLmr+k6C7+g++fS03YzCEzk9xg6875qKnaTmaqWM0zRT
VypnJauhD9fztiVQw2A7YIbZgGyi0iUP2FfVZaYFKA8TSe1O4rFB256z0s4FC5+vgvNA9S/cOa7C
h79iqRSIexG+Rokh7KBEOYdsL84I0zxhx1VJJ8yZFPioNc2jNVu5fUjlYsF4UeiVizhPHc+4l5Vo
3JeRemgpjqYMVtntI8wQy/OCIURdjEG1xiOSadBUqmVU7yiL+f3LBg66Fbta+UEvjyF13g3g8RRI
dOzLVutivKJiTbMibMQOIaKDXC4gZbsL36ymDNufuS2FLiD76IN+RaXnjGM80twOdraDzMc8qrTt
PC1xMb3aP6YNSM9bgnSMCsKGL9nW5r/ysNUYjBgcD5ErieWpdfP3vqMcIo96my9T3v+x+6aemvoW
+fANVd/dLAq9oMrGaaT3Mq+elG6CNLJPQTiZJg2kE0EJHruxlHgWeeiXVe81W4NE4+LYO8ukl5WI
iYSHuwv19rFnAedxyF1fz3CNZ+odZgGahwCdcq3njIQih15ceL114LxVTALbxNLj5U3JKqNaL7OR
uQb0LtPD6Am9+/MHwA9OEpTWxqfFBdLU0XHsmsL/BgsWDtbRkkaAdiEzFLUGOXYe06Q3DOzsMYpz
lY6u7bELnk32bkYcrbNkLiuxtjDpUQ9PZ9bwZvDM/WS1/uacIteu2RK1Nid+46oZG5Mvyr4kpN7k
eU2vJ8SmtlmjZ8SLbE1ArisukGwDvXLi91n4pH2mdaTIwCHHb0+Tqw0uVGGjhReDip3yLGHx6fn8
9CL1PAl4rOZXbK3UEklLGq3Vv0Z9pPerUQp1+4utxt5/m+euFQffRip6k4lyYllUUuq9VCsDvWXJ
I4LQUYGI1lfWBwYKyuDJXFuTLvNaEM2tXSBTmgO7yOw9Lj9zOGJIDCa63OMPjV6l/ljBXLgm03Ml
MP4Q/RmhkAJ0gY2OCykzIoHEcS0aDh0QTLiwTDOl/gSAiTGJnP51JbaOR2g3ksjKjjRoc15R4FVt
3KSy4PmBVDNqPRQLuvWcWZol9b4BdOfD/PM2smBa1heOf6N6RlhHCtbBKVuLe4SUhmbGrU4XmPP7
bS7NNPo+VYFXVqdc+lkDjort6PS8BcDvEM9uUhef+h6CcX4l4cvwWqZCP6UbgKs+E4PRYrA01Ous
JS5msw9U8v/YO4/lyJFkXb/KsdmjDVoszgYpqTWLxQ2MJQitAgiop79fkNV3iska0vqsZzMzbVNd
mQnh4f77L4jUpUshEEl18wPGKMLZ6+RKD/7l0idmnZ66kaf88+fFVu+BZQmdnzpgqz7cFp2tXhHM
chXghSSMP4BFlmrUjILROG0N9YBZiJJac9eaXkGfHb+erskwIDhbSTy8eKHYjNEFupZQ/WbPWpKA
+CLL6Kx1rkD2HC3Y280sy2b1p+lKxHI5FrBp/DX2CIChqyTxVGuYuzJWzbzVqG/7+nrkvcN9KeSI
aeNOENHYl6fWZA3x4+CPMUt4CAa5x1vd8iwUULDpCbKtLWz17BaVibagHI2YQKK46HxDHvMXlBZN
7VjP3FupodiA4L4IfoLeYNkLBgOpIlsHQ83IF3tBKp4GIVOrDLtcog6CkTDa1qk9Gn2OoowlT/Zc
sgDnymaNw8SmY2PDDcHhiPaSwZP73M/OMp9Yo8n8hLZinobdZFpt/jQkxsRFiV47ny7WB3qNDioh
vzbFP4/G4NdEDOUwoDGYWHozfVVxa/FPMTOL2Myapk3frUG2y6WuDZAW8WZNGEeGRMQdcXBuY8lb
FyWk1FYIv7n+WhKooZvcW9WFiclQQz5BEaqRj5ua5yNCOcFd60sA3Xo9+doCzVIMTkWPEjj1cs9V
VxUX5zRm3qPWa6qxU/MDj5Pr8PFAe6gP+GsbarK7b7AD6pMNKkQe/T3ayoRRJffpo15fPdRwqrWC
pRJUOOa0ddG1634YOvVgVKOCxbTImtUjiYh2rC50e5qqlguyqInbCbSeCwmXQr3iTMsEXbnIfGhe
5zGLyQSqJnnlTt7SHflyMoq935nMFBxsGhk4DIH9QOl0i7zmrwnsXlCrsrZSnSikPar4anydGvFE
yHlL4dMaFCkafumuOgA50kkwnVNT4OtgAQVSfel6QVEbr3jLZgImel9l09uDn/GgMyTpPP1jUlXc
0tSQ6qvLCiPGcoO/f9T3G5aqds4eEHCEP7jMPFEsflXB6rmNGmEUeZemcNu1tFvYDCRWlT9Z9aQm
dAQOqnIQKaoa3RJlOr/lY9ToD5gRKmkc81noKDeVA8yI9El/ROg1fpuiXs2ZA7yZxFlrBFwUQdhJ
we/95CMPkUNgKp/x1FZwHkznQ0x3bqrK13u3/+a4o9revD4aBabEHF0f/7r3H+UZPj0uMgwU00jB
3yJiZhI3ywA68S21I1Wfate2cNieKNbUro8/6wUN/B2rNoCpPayL0fHDGnu3lep0A7V5kVvfJquE
k3Uik9LkSXTIIuQ1TERJ+OZmcSFbPckKCTAgylC0frFSgQHuOSiE2mwEjLyq9rxW5l+7DxWSoVok
z4GteOq57cg/ffz1310qnIJ1GlssgxnHzUPviklEZR+PHglOqTHxPTig1FjI4coI9fFHvXvmLPBu
UoIh3oGr+ofQMW0U0T00UE9B4lty3kezn433xuKpV8SNYnbdn/y4wxUKRF/Dc00TUh5gNb4gb58D
0XaWH7MreGrsRNWofuJlu5Qplf0aYrE6s6KAfp9mYuaffxYQBsUF1a50jj7+7YeXma0pKYOAtKxJ
HeOdkc5Y9dMwBrH1CCbB6DgnCSiVT7guFfDjTzq8yibSfH6tUul7bJAOweucxtC3jMx4xPnNy8/6
plCjeZoxqe3x5lJd48cf+NY5gwUN2QPAzix5Me6haVI//TcTnT6DceiP8PpExZ4o2QiSWilzFMWZ
+xqJFlM6SEjxnAQrL3cSTsaPv8CL58nvbyCtFm6MuuXgkID/u2W+/QZMiUlhNF6FBZo+x9WGXRb2
iKAeSZDtXtuWQSSqNXZtW9XvX6C4Rp4k40Xp9hXnAgRLdXHKzFEQD9D/zFtc22gOLTaOfsWR0OXY
7CGDQOvm4/tn5D3V2hsddVgOs8TFf51EugohtahO9CI9qtT5uzFiXYBYPwei28BVTs3+KGW17OMO
l6PQ5BgaOtV2acL0mGK6FEOEPnSblN4GJbQ64ptGNHwt7xWg72jtqZp5bqqmCd+rl47PNFSzTOxa
RiXRu3jk+vtxJkAmzWHCeP8kqbAyPP748r974KDJYg+F1xDi6/ePtmSySDR9mb/WSL3pWeOmVyNQ
sPSqA/gFWX/8keq9fXPDKbXBy44GNzLfe2eD5RVwYDp//BrE2PJYG5kGLmbNpNTk2rneIcwjeKYI
JEPUZESqKdSKUn2bj7/G4S+34H7qVE434GezeD84RCu3rUbuZfI1r4E/j2E/9uWdmY+mODW7/hOr
mMMKYtGcEczi2y7mbL596O3uGnqcJk3XPQ5tky33BI+qxyLLGtVZffy7zINXmr+dmAAMsVz8DxhK
9YMfFo+TXhTVYN5VXa/76wj4so+3MTAqk26Krpp3gYV3yX95ADY8l5NjBfcMaw5GHw2wLhAMI4/a
3zdE+9GHGgt8/1s9jZlQyM7hrcD/JVGw1qQpGMDv3ZqXcPBdBRPnJduRW5LBLH6cljucRTGZAKqs
DKWq1wwEEPmONI06WiCWwinhE0Ogg+vNNSC21dJ5TzEme78Idpy4D0pXTnc4kKuTOapZVSB1GWsm
54+vt3XwPKt7SvHCeEh56FFHDxaOY92AqRp2dOvb9ctnSQfoNB9a1epLSj0l6HX3XkDS4SpUEyoS
9NSv/yQGqRACqHhcXMf2FJ7JLNhQ6cyyi0AUtBze3XLa8aq6bLAaeF+72ZIMTBsikxiP04WiNmx/
Lf7YFqklEsYTJu/O4usL/x+0a3XDFwfZ2YP2son3XqGJAQdlgBnNSdSdzAy6FuxFBgp/ve5FqoDl
Xys03kieXQisaniOIlAOtDEGGXP1J+et//b2eR6mSp6pmxCWHM7Cd7kLLb9g8PUm+l4MlveQicpR
Pp6ms3dzv7HB+JN+G9tTcDL7aRGt8YOt9iVZffdDjEkuKeMSSU4XW2GgYb4TugjF7iLm1+6ymDr4
cIk/mPs0yK5KVm3fEap1TegK4idX7HLci8GJCCXU0+6MEylZmNaTIV9r6PO+LOyRh2MU/rgpNEiK
7TWoYX6vLbgDoDCdoNR1gbi0OZXyrU1eAjopAbGxmdsNO/HiPoGacIxnLVuCrOmB82qM64lyNopH
eADOCU5RqHDk0urEeDTCuzU5n5+apDbw/hVuAoRBRDC8+aq6xQ5c3mNXgRDY1zVozhq43ddcBt0P
DPPFjWt3HW1RJPfZJLMta4IZLSr7omk1jUGqhdIuUR9V9aYfgwHAJsmyLxJbJlDzCBJzP4r6dskk
kJhtaKjPNM1eYS91Zff475hz3z3iWGsT/OwQmDjhVoxqKt3Y6Zz+o6AkHgjaL8VOo1NhH/SuTUf5
FGDdI8ofbVUxz1nQX6ct+QifRvu88BL+fTq9fBLCEfbx2LRxTh3OVpNZ5uYAXeUHaU88Shb0+p5E
z5LA7ikpvOsKedI1vGqN6PfCQbBvDU1akGrnuOup6GFDwWFzLwSE2ONKa707jqGO9kEW/X1Zcqab
fVUiUuoN+0ofsuoZgz3/tAK1vMJ0y/wSZIxvoYHKtMGXGJvcMuD2al7pAmrkrKiMMQBvEsH8I6sR
+WetFGhDHf1Jn3prRWKJ9Y9ahJcr8nL1adNskybt4Dypgd681omrH7wr02VgktC7cYsaZZordPfu
42r6tpi+fpgHSVG1WPTPh91ghNkIeEhQ/UB7WsLPmnQc98G2EZrnqAItyewd1+UV61kv/6QXPiDh
8eGqDaAN4gHAONw8bAkMzesmSOnLDzitPGVJaiU7C8vj/bRMT5URFF8tLZjWkjwTwj+E5qJCmJ1q
/fElcNQFffMIeoqsqfggmNpxjB8cKIT2IlwAMP5BdE8Bdb0SeTj5jhesCQ9f+vVgl6Rllj1Cn1Rr
SrY9dblHEBecDY2L53bhxRqk79jeW8sMcIbJ9mOZgqevRK6dYRvsnc7WvKus0roFAy1wJOLpDF0W
Y/Nq6SfWLlndEQzZBN41beNQbwlwfZ7dLD23vCbdoY919mlcNxel0xcqdLwjW6BI5B2mZPkVslIO
CHcyxq1l9ggrLJHGt2MRJNkqaXV+AGEHQTj0MSsAD38IFiGciTe2o/mnaTLbXwxQ7Shk6eBMn3RH
6todXluigxj3XaZZ79CFVgIJc9+96Eeb2s651lrZfZNaM0KOttLPjZFZ4pNPNN4KwniqPMYsWLfw
kSwoeIdmnoZuFqLk6PwJJx1LIs3S0B3LWTsBqMy2LCJ6Kr0Tix+NhZNXGk/9aZoG+pU2BNb240fr
/RPOdwmgZUGOwrrwHXJkmeza0HPkaCmZQMMA4dE3eAQze6mq+knX7v1YOhkdoQz/NhN4gAzLHZAy
fPI1/nBJfEVy5QXHa4Lp8+3MBxenKzuMyX5iZISQ3sXg6ZJkmaQ4TfHz2urLENy2opJbzK2iTRNE
09fEh2y/T7rFuP3ky/zhkVA5AARhYjKgv+OELqUch5qo3Z+xp7s3rWt01yjy8L4AOjzhiJHnBGv1
x41dlUeYlRhnPXYqgLhFT4qGl/hQXgkkOU01aT3DzW6d0Cd9+ebjb/lifPj2wWVIoPhi1uzBoT6k
cQrc5Ts/5ibFE6shEJc6eqzFgmiiLWfMuHUzB5sqa6JCegeUd50lrsP1itM1CFcQEKCN+/ta1K73
kPbFoEB7lh+V1mEJ56bdvrUs7MtkEh/FjhejcsAtegw7nO0xiSEPWIaCJMaVXy5Os9N4oLdZ3mtn
xMQN/AE8iE5fbiOBNjQimYOnczzSd61qAoROSxb0zAI4EMVh0RaY0w94Jm0G1tX3iDzmDV1kd4NC
uzpKysISofAgOlFDWPStXPDaSytIK5blUDwndtFsBHsSm+NVB2vlbGwQDYV1isBpxfWrjSNoRaPY
6W5sfulFnT7IauyfbSSAgHRDhsHOx3dHhVAclBUXBicGtiacaYbKgweafNS5DFpb/gT1buM7Tjen
W4EkzqHs9OHcJISEnVK3uD4Ovk79jL+Zl4dLZDbjzkKyd+8ERYxgbMzvTGFjpyg5BbYiEwUvQ5x5
K7tl3fv6rf+rs7idm5//+6+nH2VardOOIeV7/3uKCDpf2/rtBq+f+qf/+fni037+VPJvnj113dP3
RGIF03d/+Dd/CS5c9BaQaIkDY0qBvRswxow/u/5//6V51l/ss0klgWcLLOUoNcTfUmTzL+XrTHAJ
vE/wdIVr/i1FNv7iiFBVlg6X9lN3/4ni4i3AoaB6A54gnazB/1baj7dFFoYZAqdGa+CxFM9JHWOG
4dckZPn6Z7TiP32SqZONqBOdYsLAfvtJRWVXNg6LfBL0DbwPmsdGBWCNUSI/adH+9EkqnkUhsSbO
xur//w2ujHstgtOD514/5hKTA/2iG0oa0fazqf4PHwRvH2iMyZ6fddgnDF5hBJRXzP26/Dkv8udI
S58z/vu35+rytX7/Dy6il3XKXPW///rzxzgsVV5gisN71LsJvunO1EBUI7WXw6MNX1J7kSn8Hy4d
zypHv4KifPY5B5eOEg4+wS8acPI7nXBdBBUh60t8qjh4e6C+PHiECXCQcp84qF6m+99ukjdglNkH
xFclI9CLK+frOZ4UO+q+GfDl+PgKvq28vz6MpDos2U0Vb3vwszBPqnk3a7KywBTXkHshwkILCGst
fcKQFY8yGwmxQQbtP38UfTZPQGM0eO67ZFZX1NIkmrSBqpbWN1K0ME8DDSgAxuUnxwt15LfT5ddv
dJSYgq5M561+e+sWmUmSu8pmr8lW7EvZwFI29ejm4yv5p2cRIPj/f4pq2n67baz/7IFBgE8JJgfD
kemehPfquBL/t0v32ycd1IsRM/l6qPikBG3WmkP+acEUlcD1z16vg36XK0fXTVcHrZ4c2+Bd9HEs
xwj9apfve5fEbUfratZImBqPlv3Q4sW016xmgKgCF8zBbGYVi/6z6fklh+DfnZu6e+RM+cjyGGgV
tHDwhBIh5ED5asp9M0DJavSBg3yGTH+52OW8QcYGvhoIY9sChjHYA7uRPB9s4CZXx0OLY8VqrElR
9iGAr0Rdjd+9JCV/L4uso8CDsSK9/Bl7VesoXozhrPHQfGPfqALuEKaSv8cfmZOo3Ohg2yvJobX3
UFFfzSIwv+SeWR85URY9DuUwr0cGz33kLXlYz1jHjBmvVO5NLn3WLBlb8MaE3tDG9lHfJ3D1UVJt
erx/b3qN0UYPlvF7G3HQGL3Ld3cNPiWz65PRp+laJWjE681sF/q3LEd7nXZ8Hw0E96mEebjO8Wvc
1vCFL6B9AT06tuOi4YuijG1UEUwh1Au86yIBP1aPpg3AB8Jy9iqrUufXLTBqMOr1+pXXV2yuPOpb
EqdI6V1OIfgPEKPwaEL4gIToGNwr3WWoEE4MHY88n+zqnR/g4uwVuvklTgbnZIqN7DH26+Ie3CXd
sY1svrZuaX6BIEAGrzcazdemtMkucnF+LUIIXkEPK2em3EyuDYinEcd13404XWPqU17hC9Q/Rlya
kyRrmwtXZs+6wT2FTG5+IZfkeerG6KZ3iYIcVXVOuq4+gVhZ51tR6AQvA1mRbIxTxHSdTWQccqj0
K2yr090QF1ZIJ8LwWpiywkSHSTSE0Juex1YT4CIWV88unknnWNVyEWUBamFqo++HL29e0cVMpnrk
n2KUW21IGuNnSsb1xQYTpdePb8nC5SfFkMUfA7gVWCawJoqchEDHoscGf1Uvwi12KUS55syQQxOs
md2GhyRqtGBjGiDgeHViTxy6eiVONTyjvvha5dxOVV4+mx4ew/xGeDc9xVvX/XZvw327r3m5by1M
PrOVI3BqXQkbdngIJgYqIacyOBUTMHQALMXgE005qk0M1euQGFFtpWduAIFa8NrZeGytBptTdpkD
f9fz3svQKUbinCB0xsNO+lX2FCBH3WIGNJy5HsAX7sNDseuGaLoeRTA8LEjld9CZ+2I7su5Ltxmb
9mWzZD7Dl2BnB2t1ygmxDJTnwsK7ZWsROa3F6HR3g9c3X/GlcE6gy1LGp5ovi8TCOiY0In3hpWgr
I+dOsGbNH9vYrI6niI2oUEx5jAOfTT8JTiPEVsd8EZzt4nIG8u1U0mPpJudxHkwbGSsGjcYdkhan
r7QorMzOWDjheH6TwanK10kzJT+rBhyxyl0sAd0ELz7bkA8IAIYdgaE4gQSSB2HBIfVYYT9dlLZh
q/X6qjMKMkrjn7APvXXSTTcYIe/7esAVfU6PS6RSGxnho8hp7F0lkpfSqPhaulEMZ0OPS0Cc857b
Pvs8ckjzLz4WBycIFLcleACCjgm/ixK3CvajKdYtVl/wUFMVp8ukaOZ1JbPgwqKv3bYab30ui3k9
YPYekmw6bxZBdcMvctgZ6uhvbH63WWZPsDv9Cx/M/gn837+yBgLp63g0bgl6tI4nqbaxFNRHGUTY
XRZzvR7QKW2cjsVKCOE8uOgrOX7vNIERYNxRcxI7968MV7ShrRdPDrP5WqCpXLkJQC7kcOhLmJ6v
I08BWVB5EVDhcXFqjJJK9tLsyUC0GOuWcp2RvMCwCMzuskthRK/FPu38foW6bfyeONVRUxVVGAed
zhOsmxuRFhdW09fbZLR8bkLZXHStau1rsz5hmc7DNLaJxIbMsFc59E40YQGO9q40iImh6uLS/hXB
jYEMlmo1qGfEIQf2PEeidJ45U7wdCOyhxtHMhJrWO+dZ7Gw73HNWQy3MlUOg3w65xbQa4MbcpRNX
aCH+bT3pnlhx4I4ryR3OwkInFjrmNLgdmjjCxotUtGiR5VUnqT1aTPUYA176fCDbZghqCZcT7W9c
kcNqRab+LTBkfzJo2ITntbzwc7R7nasPuyyB70/cqHbG+HdhsZB/0DAtuZjRdZ1F2fIl1a3xi58T
C+3P2IrYSrGykPOwqZK2vGhQBV0W+VevFeUamPe5Rhy6wsf0jvf5Xgw6nql+jTtiXGKUq1vNhQ0f
ouBYJJzBtb9pTo3hOTLeYxQu9pGWJnjwV1ReVKXBvV76Br5jBpaAC7e0eS2y7AGa7cI92DL+4U0L
K27FuV2thrmYJPsrxxY7WA+haSTNGMJjz4DfADlq0tlMv+URyQKyIGM9V1k1Om6pjadSK0QpcGBv
F0FMt5WWoRVjDRg60diWeJWYd11plscj6/3j2utZK9S+bI+topNraZSYP60BfmvPPZlHFN8Lh08h
qH8lYXbXrTlinI4hYaLt7HQok+MREcswYT8aDT6MOjzuwsiVaIlXjANCuuESCO+5m7MESxVIEz8b
x40xtIy9o8n3GnyS5kBAim2hWLcdEi+ugZdjhdyLvr+sXLLxRGbLgFhn2A+bHtWmvV4syeqY2tM9
IlrJe7Rhxc2YWVMRNoZLAjz9vU1YrTcPyNayfI3/4zfbl3iVZ1mozbBIAZcTFEO8XxSO4cphEXqG
oEZTNA8CzjXbnHe8pybUwawDtin8fm+2st9MbfSUJw6JnWRKb0wdk8naa/GKBK06l5zRRjjFQl+T
TwzPE/v15ZzXNf4ek1aGKN7oNAD5KaC71dAqTY7ub3H4or7ZLuUb9ovENdqzgYfsoHDWDT94n8uR
4F5/dj6LV7HeNfmqIQaIdlCl4VN2OAU2E7IbH+/2fVKW9rEcuvK5tlqu4NiPHdbC+LxPmwLzRqQe
mdGfDy6dhYHA/6LBXQsqavnEwVUd+2brr2eTUadLmwqb5lk6J7aZBqcVqNVp7hKx2CORhHspI2cf
R7yD1sSktLFxqrqxbN1+YjO2YIXFf+x8zfCuUAZQbiPkpvfKferxpQZWlR74cDBzYMiP5x2Vevd2
rEIgDhSDLxysI7Y+BwMPkrnYBp4r9vjKUnvNcTjrYwks7gt6pp42+3y2NLZv5kKPlQeiPqH4OSe9
VcZpaASfKfXfEjdehhU8G6GJ4LmgsAc1Bv42gHkxeyWf42TPtvFe6oRy5Jwvo0cuYCGvo5kj/+Mr
8G5Q52HQmdRtxPoesNMBatnhQVqiPy5w9KUhrSIZcVjTmlRVUp/AJv1sr3+gz38dx3SPDBwfuwuw
/4NBthI0e7aLURXlbMTXqeLMSzvCWtYZD1av1USHE7BxQeTvePlyBJPOQ0x4YhLOnECQX0V54Twh
koPJ3dHjfHw93s3ZgQWHA0qcWtVwXQ6uRz8ThtSkRopp05zuHC1GMUUc7idJPO8QCz4FoAJ+Ctwr
DzD/7W2GwDggX63TvWvTuboxVaNqXKzhTYjnoYsyCEdjOncsOIeHj3+g+Xa1qG6AMnJR+A+sJ/wZ
Dj6bnCx7EMWY7O1ujKN9YdfBqRap/aCkL4W/6swXgeYE9wTw3OfB3GLk7Yw4Fg9OvEJDkqSq2LGg
bqGNW5sYrcnWtnOxp/kNTrO66n606Hv6Iy3qmBpfvv1/8epP8GqwYEXy+s/GQF/mGqg7/h2p/vXv
/G0NpJMASpEj3s6FMGwo+vYvpJqsQf4v7/c47L+BaucvygOAtIs5kMsLy4P8N1Ct/8UjDOQNY1oH
raa0/oOk7IPXTi3eWHdbAeeSjWXKy5n1W92L5GikTtSO57L8ERN0mBTffrsaf0BZDwrruw84eOrF
hKFQM/EBfoZ3vY/LbvBENkkarJLyx8cf9cLk+w3tQYvuQ2KlfljEftnvqEszRo+E2tjGWeYUM4a4
YalhzuISiOmzoXMekRfHPvQ5xJU6+kKz0xidC2dOq2Pd0tu4/FG3L/nIsbQT4P1dJGJ9N/uV/Aly
76flqRS2sqjUlV1l8Wpd6WNFeALmUEe3c9tvM2V12fWZcZm1NUPUnEVtxTih7DH9F6dMc0Dki+pv
wCR87WBWk+Q3bWDGg1iRrDN4dEm1T25f6s5wLyppHgvGijuOZonJdCvJCqdrHbfAKIVVnnjEUq+d
yV3OfSN3xkeNlNYw18gAghqIBpMzwbYubM1j1kMTlmg3sN1Su9qgKIoCwpX7POunaOcVIu1ey+1/
q8YnVQNdMw3Nfy4a65/F0/gkfv5eNV7/nV9Fw+P9twOWOsj2MSl5cQ37e73l/AVZm1P4dUtl0mX+
KhpW8BcotUlBgUGDH49qun4VDcvHhIyETwXFAjIjmPwnRQOdxkH7pijEBpRa3QBg/UOqYTbQoS5B
u5/dOXnos75q1kiuwGCmpcRYzxNlv23a+bKoWUutimRYUcsCFdTG7npIqwx7j8V4iAi7g9sGFEIy
jD7+nAjOXPv85Vh7W3mo3BIrdC5ANcWjrYEoWASibSvGcViYegw8E/B6cxHTPVAv4Wb9WJ1OU7+c
F5mDaakv9WXv4dhhK3a3OAatxh+0jhg6SBQIsadsQ/oScTKhOUaAbZE8MjnZbuTLmXBn3ObIW9Lo
CCeL/rpi3DyGDP+Yea32kBaldhu3lRva7VTtJG/wpsFxIWz8rrlYwDrW5dRdDX78w9FyfiSy8RDh
8xXTTr4NgjxZz46lhVlc9TtEvs+NsNIx1EkOWFfwRjcO/qJbswWxYbzsr5PBvHIx7ghTrz/r2emH
0jSvUsO/jQZ5ZiCtDhOIPGO7GKcTOqGQdB+iUPxR/QemS3N5avvNA6oVFPRGPx1jDPEYEFDutvUQ
FpZ1RXDaY+sMYA91fYMty/IVjFlfN3Ac13A/JU7iOIWjvVrxCN5OVrSJPIp6HrnqK2Dz4vBXBy1e
wkht9Qsr17RtP+T1TdwFxX1N9OU9ZiHVzmL9sGqJFdzCUZ/Cqoe+mejlc7c0lzpzCQYv2nGPoOqp
xjHjFmh3gA8WmcTWNMVm9M3mElBvj2EzY67Ttxczqr8HQKFbt0vrXT0JpMjdHKMFzb3NAmuABZXr
Y7fr3xVLo4EbWeMd01YMFl133sqLgYjNIJLfNR3qy8prdeuqNwvrvEzbBLtjHG/8EJb+smHrdGNp
xrSBXy0wwK+t667og23ng8DABkXYyJsTZrjPcJZqwwqXhzbYsaFqMBduDAOK4gyoYDjEP/qDW5+b
xiRP4Gj3uAEIzbljHE1P7NLVH21++LqbCSDAdddM14CvNRaivohEaKEBP8HMwumP6kzHcBL7mplQ
AWch+RkUK3qeA288I7ADOliMom5TeCncDgxIEZpnxuv+6r+F/pNCj6OdqrL/udKfpaAQUqS/V/pf
/9KvUu9jj65oYeiesc6imv+q8wF1XoXCk+z77xJv639Rdw2oUuBUVPHfSzwG7CpW1eMP0Bqy9/on
JR4SxdsST3vjmdAgHBZ3IEhAI29HJWG4bHnaODleHH1qQ7AwxW+0s8icQxymhq96XHrnmuPU12kz
V+eEszFV+qVurKpAZhsD117qcb7MG2FO+QVZkBkbaY3SH3hih7GudQyyS+oRGfTt2vEnAAhk+WiA
onz02Js5ycmAHuJUj3FaCGuzOAWfyS/h9Pu7Ug+SXYTX9s7OC/xYMeaI1pg/uy+ypaMcxeGZ7Ejp
Wljya9iY44QWltSOE2+qx0dyl2YiIT2ARyuRQJqa2e+Hqo6u69YGDyIsejqSBCPlS/3k5YV/tuRk
x4Vi8vsNfyDejIM7bfNoci9GFPzxBvvwQsfHotaPFCC2z4WpfR9r0T7D2gQ2zyr/iHWkgENmRi3N
b4MtetJItiGWuLY7m9i9nEM9nHNcZVdEav3M9FpfZU6GhglwETAY15fzGIX5Sdcs2vfKZWOKjVdt
nmtLWx3NafswBFN7nY2mu8vh2d/hG9bfBEE/laiMF/ENO6P4QWBaEaykA0HKBb+TITLrhfCL6ohN
F6CmSUjQUeIEubcyTZwPWmhlcmXa4xec30wuclV8I22p3wcLjqGGnabfF4xrT1MUgNoSO8e56Jtj
lNDLSRMVw6pyvG7rTYiP18JNZzYKMz723M84fwjSoE2geLeSv63Uuq3ZWcXJbHjEIWJUxw+dApLl
jUieMqfgje3oyQ5UsLitKzv5kvcpAZwjCjMznKe6RpHm4PSsRY4OhZhImy5MefaOWnhdZ9LG8hwF
v05jMRtDtE0WtmoY0ZAGNXakmRSLxdqJCLPxmXorxarhtALkxWYH7/CkukxdOLF2O3unsahJClxm
gGjhl2cNO9hTU7OMGQHOaGuYoc8YiDt1E9+z0jVdVjqx/a2Fn0eIJ6is6rb5U/BC9ktD+ut68Gxy
bf0K8XbpBFcxIQarkUijJiE4MJmHtSuwQi+C4XvlWfmRLrp2NWaoeJC3yHlnV8l0siy9S+YujmB3
QZ1FD1pJ3sdx1CJL3QSVZ/xoR72THLWjvB7weolw4MmNr31QRNUqxs7oypBV+yhmnWMcy6KnnCQO
TrC5n6+7EbvCvW3lTC7CD+p9as5dGJTWZIeE44BNyMiw7i3E/Cc4JtvfpNvqOFTYPLTKaqXYN3Hl
0znp3hnM4lk/Quof3C4caQRAZl4ESpzAjFxj5lBv/aQqn6BhB3ciBfDXR9VdCovdpjv/dBoxQ9XB
OL/CJieqHrIYPc6qEFnvcbMq8RXre9RPs5c1Rzg29yqMQZZQM53gNDEnTLR6cWV04DVhm/I+s9ts
QcKFvfGLZgHq90DSB9mtJ7tJ13YSSJZxfXuc14Z37Og0DIuVZD7Xwc52tZRUNIGl2IoIQX2HeVd6
bbI12dWpnk9rLegjG+BV6F/NPGEDalNMBxa18wrVf5rt2EwWR/Fstee5HWEMQrBwf00Qns2F9crs
C6u4dg6xlrZGilkkj6J4qvyVr43N44BFjtjbmg+FVA9itl363F3Y+IZ9rx2PTWJnZMPl3JLsleUL
641aywL2iyjKtpqftI9sSMafLQLqr7NdGWdWRwz6BjTaJx3OwXpoFURWe5HMQZSv6btK9spjdJSw
vibCVm9u4rxr8OoPxhNEF/QpRd6u3co7tpsZqnlVFVcBops10qDoKMspm7Vht7tJL2/jypG7Tozs
xxC4DGEnUuGhWJurFW2Pu2n1afmBY9xUbgbDbde1JaFR1HTBLLbIDpjUVlOe2AVBvGjhxNikX0id
L6r97NmkSD34c+7mZpgIy+j7BynnLrvAYlSDmpG5F0Y2Rls8msS1Wxb6tWt48SVlcdp5fr4cDfF4
79hVdd0Cp15Lo4tMzLyy6H4UbvVgMYiQOetV43Eyx/m9z+KVIjXyWhEUUKlY1fISeki77WKi/fo0
t88D1g6reljMTeaImLLNabeayjk9l2Ygt63vtdna6sryPAt0vq6ba1vk8QkXBjkRr3pg2qEhOve0
Nfj6C9blZ4TlRMTLLX10Y/vCPcrSfLwF0vRpp4co+Wkt2nzBfl2Wu15r69NZn6PzoG6aG0y9PELb
Cv07HlZsnWbh7Ka+ldspapfH3M4mtmettuxjDGm2mT0TwGD0JFf3ROfiT0I9kqmxnOA/7x2ROl2z
Ns4uwSVF6LSmdRFhZWFTZPPomvTmo9rNzDPINXG9qhZbbd4kKamLl+7U9bzFrIhwqGwRe8rF/2Pv
TJZbR7Jl+0UoQx/A8AHsSZES1WsC09FRom8CTaD5+rd4svLezHyvrKzmNcnJSfUkIrZv9+UCBEWr
XXIYV9baNEfnofCX5GfU2+kunTSU61bCGOWV3s+HeRHzg5m349affX+vjKF7aaO6vFcGnEjeTwyH
6NxclxvhQzMZY5UC9pzh4VFfxaLU8uXDaOloJQTM/JANgbEGqKfvaPO0aRmk5Zz5Ydp3HIzsuMzx
XPnel16n/pfRWWYdOJ0j4QoWyYc+Rvm+q7WGcEeieUGqeNTw8ks4pO2C8qSbmrdJVZbfRz5XkEYI
apF7w30HW+NdzLninUdEowpGkF1QRmCDLQByTLN+rGb/DQRAzBM78ZKGBb8cDFgzHhwrjGL+e0rl
yiPY5U7eu0yo3Y5QrNSCBR6IQzDbkPrJpKCEc8w3Kp2qZOqum5CDn988E/r82FKrPiFDzhtmGLFp
fFeEQDrcKKQZ+IFhuM6OAEK6kr5CLXlz8F6kn1irqyqEzqE763akUZFh0J3k4t4ZxjSpflvDDdGH
Ay9ZkwI9oSqXhi14+O9ce6fXPNeqr0xN5ovfD+LJkHFzkDJ9kpXAlG7Jcs/k3oRiYP0o6unqFss7
D0C85PR+9O67GMbhh1VTbRnYrRMHnTO8C1/LdvgVi3tpMCvapXbij2Pe1kpsbvNe/mYtDuUPVE3m
ecBi1qMIaEjZ+1DS/QCijTD5gPpH/LaljfeJVG27LheTBjcaU6joQqYvteDXSPDf6enfTE9QM27Q
g389PW2/6zZOP/88PP3zY/4YnvR/3EQopicSq7hdbzr5P+cnz/kHwvltIMJF7II14Z/+EMoYqP4Q
xnRA+0js+PugnTrefySms0n769BEdBapjk/GeteG1uTyhf68RvTNuuLG4RU78BnvI3h8rATU9mAt
fQPg8dgqbUfJg3zzSuNtHlmsDWLesIk/9LPw1osmzb01lvO+46F3I8s7exreii1XsmYlNFmFvfJb
2oeUu6rx9HFj7PQTp17zgWCnXzVSjFvisMPKguwXNl6abkCE3ZxJ4ors5t2PS4qW05dHAvgjn40L
hwXHad1pprmC8tQe9L69MY0ueC6I2fZ2H2TFtG87sTw4XeSwgB9FaMzj8MTGOQ/jeeJCwCQT2Jrx
MC6Ws+36+NW1eaaa41hsRVkkd72eGsfM4nvSdeovDLdr147myntmTzKrxcswsfe3pgUMEtGZUqjP
eiDPqSw1rlq7mX6kqG/HfKSV3vIp6mo497dON+rr1m7FdqxmLvF2wf7csn4C+6PohD7RFTUat2vU
8GkCm6RFXB0yP6ecKMW3lS0VT9keTi1/VeiQorqWstv0vxJZ2iWaM5ikGq3HjeWPwYQn7eo3ZvHW
K6d5RSbblP7tydiX15wZmvSU1w5BhqEixxxf3LWNFY9r01M6lZwyfxuWOn3IrcTeWx3pfcuCehQ0
qP6P0tKiR9M2WOLnnGiBVjq/jDvyBPg5Pbd1Mb4Rnet+4sD2X6bSAsJV18O4cmuBa1D5JSnx3N5L
jBMP4ub7rgqLdWZhKmfXW17zLtIMYFgm6EOlXN45OgX1nGTjjLNdkYYJuAjhdIz1pj0JadIJmVoG
vzzfZDz/5SPrzAZ/TXczhC61Xh24GyD4STgsMkipjNZIzZbpGT8ntknE8Y05iuxDcA8mmXvz0Tlm
Gr1kZlE/ehZXzKnEt21woT5bFE8ebe43p3iaso8G0hAtlogH8SbN2bqX+OnWuICmexwZ3JZ6Ot1p
4rWnNcfc7ZTEdG71Iw5EKl3nVSs9+xP5rniZ01n/0Q7C2muWNdyaqHt+qzzmV22iJkiM7H7VNGOK
xKpgPKnawfLX8ymFOZCLY8ye782Yl6YzRHO+c3Ai0oI7x/MVnyrfY1nr0xV+W83q1nHz0Jr5OzRe
wSdEXU3kmn1KtZ4VRpOpL5v3hPffNoWXIIJpwj4bgdRxA5HQEIq9A7uDtLuf3Mbwzw1W8w3ed7qP
BnKev76zLMoab6NAegMMw+j8EC83G6/TYtSlkdl7sCdeg7bWl7R7JPahcqrhqcsoy6ndGRtzevvB
MU+QBxic/llMJf9jQbPW3lG/k1noWdTBMG+z0c4+fr3SUND5akvs49Y0ZswXKcn1tQfr8zI2t2R0
gnoQOossXmzMm9TIaXhM+tIWDxzH9p6O3ulqTHhV2VoTvo4HoMqN4o/KCVsdNFpIwFBGIziGsex/
/jJ9VHrtXjzDnY/sss1rpGfedZQ3RDKvSFJbvhN9+ObNmuGUDJ1VNPGJFHbHVsyk/ouY/dYvi8Li
ZvWjpOhoW6PPrn/9tcqxrB/h6WCH7fKIscHolRfWGb85hgbnZMjOjgLX49q9ouqamfbGMROUZgQL
DfDEd7x3xsQ5NGWdhl22nJENzoo1x6B1T3iz60A59Qc9gUGMwBT63p3ZDxd9jO8TMNQASpMdfM3f
nNE/QsfBNKuxEjHFdeqsjaWSLQbkl5hL/grJzTuhzvCgixx8GUwtzUwA0Kzqa885hu5g1cMWwLt7
tZvsmTnPOLuKZzi14vHKFY0VGqKyw7Scz6STV+ME9Jb2IqsS0b3Ra9PFmEya0+p4xn9ExefWrfMs
8Hxlr+mcKwFTEndQCqW+x2Cb4PY2flYxpkNpflMxXB8lN8hjttxQgmZJ6s90vlqj31We88AxiWdQ
DdbFROZ/p1H7DRPoF5yfErGpKzcM+n1QzrRnaaVFXLIja42SQndq47oEOijsBayWLT9L5YTmkhCk
XpJug3H/scqG5uCLfGvBa4cCuvAHTl1jM0kcNNk45/ifjGcXDQO4Hy2/01zudbhGu5GH8Er3hmaN
EQabsz8cmngBmFzX71Knrm8ChnKac10cWl7422x2dST36F038CESugwGY/7Nmptrk3riOzXZOdlY
AT+Eq5EiyPOn3uioxZ41uKuZQnmypEdxedUFUef3B9uPbCb/ZeF5YKliF2fITVDfdZsWvRXbh0dZ
dj+TuY/WXOzn85Qw064tJpYeboRJMRXIRpQIZVan2nDPBc/8B15WtAe6kXFP3NxejxjQmcXo+tjl
Vd6sWFYzQBpm890RDsenb+7nkgIfq2k+B1ZzK+lB7M0M9aYDLgz1mtPeN6Wz1dzhiyahd5lYW32W
0TOOeyQBK1cYasccupOj3WEHf47mCk44b0NWHlX8BvGyCymlW/Vo1KfRG+I1lwTvJ2wvdRVOajzn
7Cy4Q7DDDEHTzgdKf0cHQSTyIBur7Dm7hQeQQ8vvju3Sd9+2xcFvS5SduKPQVmlqw5k+bvKOj41L
i6biXj+LKKsfqHuZVnEiuVlZFO2NTeudG9WMHxW83Y+R8NzZ7W2qorlhBUiRy6rgXcSTvE9ZqicV
KlCUl55/i77GJzX1OdWHZmTQJtYt7tn0GZC9WJY6b4n4pXcn7eJCkQxzy5wkf0TUWgwD2lrBjDkJ
p7V5xVRRHNC60piBvYwcg7S6nWvCgwfbKdmfSadcR52MXnyZ9tcRgHm2XuBvMaDQOnTuY8/Zc1PI
t4Zey3U6FVHI6qu210k7/VaVpnkxoPo8j2067ppEyFc4v4CQeRau4sVHQhQjBd7IWNgAFmC53MJK
pbSDTm80vTem3NURadmm7bMwi+ZoU7NQ5Nsq5JawyA/RFR7KTDReclfT79qoajeFVbdbabLRHcY8
Crkz3E01/FFN22Kic8PCW96ztq3xlQG4BHYiW/aNuRGkKEGb0tZxkFJCvwW3fjdBHNi25I8Cc2Ad
6NADd7/k3PFyBU4eGql3mUdZPMqsG3dg/bV3q/fPQCm6b6x5XEDcud/44GU3tL/RJY2bEnZ3mq6G
duEtDuIigGVz5QStL8RQBijYwxx0+ui8WM20ncYpXnXW8jjjFztPqWmwk/Oy7VwZW3dMu7Aw2jVs
svhbTvPWQuYMFJTOtUqzYT3BpT6kykBSzrpoP8rolMbyakeOsxKRl+2hP0/HKCM30K8yMLzG2rWW
q5/zdDWOYqDFSa0zmk2NZotonMUP4LYku8YBmSLgB7bJa1NoHXMkxFLXg9ynkIRJGFz/tJ+4/y4n
h6tKzoRe5s4afUsBLW2QohwQTxlKohrw+JV0yZlBFyvoo0nOOtgOXIv0IV798nUq7QdN99WGtuoh
xJI5PqJXL2tjXrpznNFYmCnHvuud5U0uVkrNoHtNfSTbbOlZSfuVuSp8J7vAQnV+dLcK8Yzawx8Y
cfq7sRTaJjXUdxvP5np0THXnIeqscDfYB3ti+gmcpLv3x8I8jSAar7ei7DXEHGs1a+IDjsKN1Ttk
n2Mfz2GqtTbtAxGN8lrqBnEG8zWXHQ5ulU5h1Hg0Y1BqjYxl0+Lu+U/QUafAye3jYnHRxlX7U5js
wm1ZtmfXuLVS2l8JhTQrfPf+YY4XOnkz43bpj6k//KHbY/8T6l52Gseq4x7fgfRwU2ffZv6jrgZf
DyR3Ge2Wncr3CLOwjpbFnk922moPtGsvr0WrF3ddUn4xgMI3rbE0N3h9F+c4VxHmyyr5kmXJqa/J
8qfAFcQzi4DTBgCK2rSwiN+5vriIYNZ07SOKbLkDXS160dgm0QoRGGyoD9hI5ErMC+80gvYvLprI
EThUdVoK5bFmn/vikldSUDkOGeRHJTs9DiKacjelkXAU6FjGIQKkXs09oPC9n17Mai1UsWNc0yH2
XvtWNO+LVVY/lqRmraIiyyZrASqmCgd9rJ4qLv1rx1i8I1p7vel4MK49Y9mnc1QBMWPIIm+Un1MC
ge8G3MCVK1lhBA6GxrDNsrHGn1DzEoq5lGS1B/OpSv3+ifVni+CF06FaLDbmnIPLHMIZZmeAUtrD
RJCd+o0ERrkTVp/uWknsddKq73xCqGH3Jxgfu1Peov03ceuh9OrqPk765mpl/rLKsUpQJMu2xolr
3AH0QKwyKpQPfGPPDH50kPtJvdGy0tsXrha3/1V9fg/y/zvVx7eRRf616PN/2hTiyV9Fn18f8k/N
hzg95igslVwjcY7j1/4fzccw7H+AqaJlSxjmzZfEbv4PzUfc1uMUCKIo/PqXP2lAlC2aN1u0AHsL
itP7Txbnpvk3DQhLvMP3xWLg5va0WTT/VQMqpei6KXdHNpYNlRwQ+kYw8DQ/OG6tH+tGeWYJOkoA
yd/mZlmU+muPr8sAKNeU3ZNZ2j1xkhud12SGzNpmzEKkU9l4jymVFB125SGrYCeHzTjZ1QYzCyGA
qvLnXaaNI4RkkG1mqfaYpkr4mMHSD1Xf3FXFnFUEtlKeVL7XVCeyp9MBMonSWR24891sR9ETrVIN
8Cz3jbyu2o61EnGoM0DwlG9O2Q2BX2YTsoDj5OZTwiWqCtNkQACgRwbNAVKMvx7hDY6rol2YX9yC
yOSSK+cTwyUTHFF9dZfqCRBvM7kBimDw3WZwK9aLbTUR+aPOoCAy59fp3i1jKc4ssImqdLNO7knj
uh64bJe2fcuEAWnvlrEr7XzXAIbbsEQQUL1p9GBBg1dhCksVqYvpRNV7P87GdXRp0dgC0OrJbnWc
sHEzmzSGx/MCpJQwDxEo9dYz5L1EC8Ec2gNkw3FbQx+FAefwg9qRPphv8N7laXRI5HWm265tI1dr
N26kwX27PY204aHY2WLkdg6aPGA14+xdKl1e/Iw2ddBMWNhgy+IYTTrOCR5Vhr3S8CnoD1TVr81e
q0quHFz43NpBF1O37WbaZcTVHPLCBCVcm2wlgwsqnavKHSG0ZEX55uAhvozjeuwzRoHYVLRxmb3O
LzpuGie8MZd/E1Gqfy6OEW9yh3cjPoaUMQLf+WdpEOfccOF2tkM9NY8GLqcjtRjFG81ebhDpyhjD
hmamXaGSWF+ZrbiU5dwC5oIW1CbEc8LbnYYXjTEZisLyQm5mFU9rgPf+ZXJks5VRS/JW2vGBWOSE
s8Mqc0pLLKfhQjAUP/VMq/e31u99XwpWjo6IPng3tMAFiaX+oLrOwFfbYS3bxr00n6IiHfYjM8LG
LMDHBX4VdY+erb6452krNUOLjShSKZHF5nQPtMYqwzmelB/GrmecShcqICkjZnsIG1sKw+i0Jn5I
z72jcO12Jn2NDM/yyaFH5yyBOv4o+jJa4Y6ZX/AjlrtoiXgLatyksqDRFrp+Gq27zPVUnaXDEcfa
IMMLTA9WFDpdfmsBiOpnl6wY5TB+ta/8NH7tZUEYiuhecc3txgwp92m2qmd5V3u8DkVkE5q1c/2B
ro4hnPvJotec5BMuRwff/7FpvIzmob65tGWEI83Vi+/KyOe99DssmYlETp1mnztU/5VRubSyUKBD
h03zLiuAFNW2+Qm4/dUpWies8hjamq9M0eYrCSIrLlArJYYV937stCjmy+YOfIn/nor/xNv8u1MR
WAeJkX99LB45XIevfP7LMuT3D/pjGWLQQQwh3PGxB//ZSobFjAMRez+EJDDP9Gz877Ho/wPknk+a
QAfkcaN+/u9qxP0HHDwCM1DucZzdPuo/CBr8rRuS+AvHoWt6jm9hqDUAvf31WLR4DMLdxXOpyKgk
6N+GeBiNeNlwfPXbVAr/oKAT3IxXjbx5sLgL+oxuqt8BpFJbSxpyq/cp9/4//Rr/PwkF5+8nNt8a
PxwON910kdn1v2ePps6ZOc08dy+Q9uuL7+f6xSMtyveAlYgWqgHZkN20vU5pY+pjyw+0RgGZmvwh
+ulVlfHQsVuS7ZpyvlK84jGNz3MiR4wJSWe8l0nSc0YUqlk2C/d8b1XQyqdf6LrxOm1lu73m7Rim
lxX9dFWfrOiOortpVdsib59x/8S7etKAU5NWLOTVizqS17boiFZqeeUfWDwYjBdztp5a/0l6Q4JQ
5I+edU+Aa8AM1BTB2MqSwF9hFjGyZiZ/lHOpM63CWAyU3VLZzhofkcnDnWNsVGQmxaFHo8xZWROE
DTJEuQemB67N8bgBTPKCrq9tOT3aAxlGYzsMVvfFwd5e/NKZVjRlHI24PjS12z2JilpKw2eIFh2Z
4ihK1GHSlLZKxSKJzuLIOEvbmk9VnGy0NMtxbw1GfdVs/123si6g66GuV0teJG/UBzYi0AdnvCMk
pj0sA7aNUMBMX4+pmk6xWB51kviXdiaFPS04n1j8u5x1lBDZP9oOZpHfJF0wAUdesADoqXvVvby5
Yku3wjLyyntHLQKBw2qN/A63cmc9Z3Gb4IHQ0suyyLU9R+ZG+sX4NOs6DmY6KPaT2zjboiirTSOo
cAyN1iVHS/xkveC92mGXbtaCQrDAWnSJetAAKFj6MWTt7T7wW5dHz83bDbWw+iE2LP/gw4w/JIZe
xKuo0ou3Bn3xqRZ0r8gRvlWYD1rzSCH0crYqczphvYJaKRJ3Y4MHXpeSnx5FtSceqrhrpXXP8Z0o
e7PIEQsSIKfkM+dlH1hmO9HQS+3fAkXhqgs1nnGbqKMzdsMaO5O/tWVSrHttqVjppRY/UG9dk75s
cYQvZhC3acJLmgM42oyUMgCylDalUHySUJsKjW5QLFSOj6PMjAFOltk8f9+U4TvgvvTZTxMepsZW
7CNp/n3vzHlpgYgkxt5Ubtau6tHCDbf0opq3qjYROITTdV5gylKQh/dlUaP1+POqiIsYxgWA2Cdn
6li02DSv7Sl6MuA9OrWD8qsXeyWWFqapUSSnOHerI9xgfnv2EC2hrbJ1BqR4U7DuyGAZR/YXfr6R
YtdibJ8WCtxOPmclv75Fwk13smhj1X4UmoSDeHclnrSDuLAjtb2Fd4uV2bMjFJWeOluR1+4+79tn
PxmXH0It0zoaO3sP7b6+ZX38ctUYWn3mSTi+I9Z4LUkCdGzqyJfKWOVpi2szHqtxDmgGFx9VJPxh
5ciWxURNVkOdqQ+z95OBsy8o4W+SzFZ9Up5mkudm4M9K7euYy+Sq4yHCBBJ5xcWpa7dl+o/NC2zk
8cFtEbTQ6NmQBXPVFRebN8Z2BH6BOoASpm3azmjUqmkRRF0eB8cy8Yub+a8oX6K+kmgGVl+vJ5TV
O2Jl8kTDfN2thCX1S0oFzJOA+F6sjIH7h17z7y6vUX/dGnNyUIvT3uG1T+5TExhfUxrVE/5+gx3z
UK7KZszJRNQ8fLlC5V9ZzBU5SG06bRH+Wve+A2iuvbF1JXAySelfTWv00jV1UBAV4waD2sbWS/+7
XSx5mEtjfI+9pAgVXtAriyC5m9AsF83VwEwMdbLTTSq9gl4m9jHxWfeKkV2tY9U08cEBSR6AH5mv
NQiYq5in0th15DDvbdtu0EjmPqdATCTdRz3rlPvYaJYOa3zUpcgd8s9E+kwKjjERe/aoYg5idv0U
klteXgQ57pyLNvVazgW048sRg1G/8Xz3r76WjBsp3O4DogxfIvZ16CE8m2l1s7J9m5vTWo6OZHHN
1JKJPHpTuTL4Dy86nvO8yXNU/GDW64q2r9sO0ddLs8JmLMUJlLEfB2I2k1sLgiEPPu0L0V7hDDv2
oKl//dl2GAePpQ6xm4U9P6QyxJor81dm6eNq9GwY9ERAXlKjb/ZZI8S9byUGX7X8MmXn80J0cusy
aQyTEY/+xSlOJK+jr6mrQSoh1biOxibAKMkB6VWzbho7O8802m5tvFV8wDKZl4o3uh2MqTeencHU
8SkP5qpMsKkNLf8hrKd9UOUgH1q0s6PtSLsIuyap3m0HB62Cv3DMsYWs2rKetrd7yY9Cy+svXqWO
FWLdTXl0sC331sCbkhODMJhNjtP2aHly6liBJDAXDCiq9hqY7GwDb2oBxs4tC9DVtAz6i5v1fbWW
rsx/2LSf5+vZr6yJiD/dZey7NMbNniGC+34iRtpR6bDcNnmqqBhjpfOedkn+grLBnyv51OxMXTTd
zq+z7j7mlLJts6xEUbSwPiysWxLrrktHF1chF69LlFf2nitW/THXUb/pB61c1b3O34ttKtkTDS/6
h+VA4tD0VP00DZjSrJBolhR07tx5sjNOHY8z3kXdvICFUaYKuHeZTQCYgX0GwYH8k1T7e6cZrCpn
ws43g2JzyLxIE/hJPM0OLHwhSYgsz9ZDq2V5HRO9PzMGzQ82DNrHqVC6BX3WsJDsC8g/4ByusT9y
WDuec5c4NdNszVvslJqu4VDk2HU3i0cKy9QpbUwbty0tdbLia8wm+cPzkWMxQ2r+QRCwvl0wHRPr
VkaufTaW3g7asV32pFAFFZD14J76Ul/sAID4gLtRW3AyiCxT+CuBrLI8ooY2bCvbdUKuJ+0rLX+z
9qAsu7S3A4f+A+/ahbgWr4Fo7deFe1CUB0YhdvhK7nL6bafVBIUx4mi1uX/VheU9ThNDfi2F1vH6
mt2jh4bBdsm3aK2s3SK7a5M5n0jJCXyglTe9tCydroY1ig/JSmFb/7L852mufdlGpB08xu1qK7t2
YvqMS9IDibFwZEiRDNv0FjGg7jQpD94tgsD6vfmNAk47DQs91veMiyQWwDtpQWcNLDungXVff3S9
2azd3y/Z/7W4/buxzhYG+uS/Huv2Pz+T+i8z3e8f8YfYeYuI0zCEB5o0KP3V5Er/aXAjSg6y1IIw
+veQEPooYA2dccbjDkt52P/MdDYjImEj8kPwUUGb/Gc5UHKUf/W7obMSjObbIsLOkPj/QCVygzwy
8ox7dhJb28cR5RpH3JvsezTPmGEZQwQrcwtnDa3qxeOSNo7/A5Dvd1IvziPjDb5Yo7aeXDoeAeJp
6ZGgErbZwvSKKGgql8A4qQ2fGngW3P1VK8wYd3NM9eazXknc3NCKbino3Ce8jF0hy87CTLigsTb0
NjxGqz18YAtk3wDEZzbiVVUW9or7krNJUsbUdeYPDzkZwzbIsPCeCnbjp24w+y30bXkwqRP+iT3q
wy571thgoN6JJAnS42nz0Za5HrLIdfeu1X1abUZ8ZPISHBXCRDZb5mTacc+3Yd942rlimJxWQqhN
QpIdbz0QwJjQt2hAASmKUgt2GmY6Zhe4J+arQia0cQKtjHSi5ThN9Ovc3ewfg0TF7fXXwkn954ks
xYVOE2vbmP7rNHnuWum0UVqqfLAzDZLb0JrntizbPdAI1rVZmp54dI17x03SO/qJP/1e4idpOGud
xs2PsqTCtag19QPTc7SfI8fa5JVRfJcFIiG4NePbQnyX9Ie39c430++BOA/jZjq9OYYHtjxO4T0i
V1MBWBbeB4czFzdBrfLk1a9lWr5KymfuELSplU5G9R71mrNmyw2fJk9F6DSirOBfVUjXBQYQI7BS
v3wUy2TfBMik2d9ekc9Sde6GdnoQZdjt8h22LZlCAhQ9370Sq0pj2bjVleXOK3R4BGE3N+KrnRv5
/Tx3yyXiRAqTxZanxDJ5Iqf65PBVrBo/oLC34LHbGYKAlT6OblecnLKZTwmb4jvTxzkDYG+8Z6hu
NxVy/1dPGzFxF91CnM81nrNdR7IqHm1jW4psPLGPTneTU3WnntxqDaVwjGkdhqpSoMruEgMfYjAP
jTgaWKsYCHqhn3E1wuFu/aUIWth+VShd5Qex1w0v5D+RJ6Q1m5vcyiWLMV2kKxN64kYlJsOhVmrM
BaXpH1VZMiL0DcUKIevrduMz76SSb0pItzl0y9w9xywBS3q2TGhcGBXXnlf4O3iD7ql1tJ8uEcCA
FPCN5xRh8rZa8h+M1mDerMa6NXjr/isyAZWsrSD0hcOz9DymKKoxfoCiLCiQMdwvDsXlsEwlJTCu
SlzM/2w88QyNb35tW/daHokVwAsKh3tYlEiQ43ysR410n4ep9sB4TA6ojLRkTYBsuReOXa8XyRrS
dadqhR5q7jvCANeCUOOWJqXhxeEa8cCBnMwB4HEQ5n6cHrXGIprFhATlyedHcqmF1gOz8BF0xCiD
pVXz2lhUxi45mtcp7XrPapIT2HQJCQcdaZX4lFC0vR3dUfrc3rvkUwwk5icOZvfqW8OurazlMrIe
hZZFZmjgbY2N1pz25GtwMoxufZ+VprY2RqPjDth48yN4teaOfY35ZBLY+kh1Q640F6fSMLbj3pvT
JNrDYxIksyX5LPwR1tTodyzZUe7r8SG2ZXua6TkIeXjq545cUoinkW1QyciudOmvYmvU94s0fjJs
uOfGJjQIHNLclx3ssNToynCi74NxKoq3rck6IUqbJ8ARcxTMptU/4iiZv0FMkxzQxLybM9wDYqYB
mr8ilzHsFklITC/fimFqVmnEg1w3l/7Igmh6rgrd3simikOX3POdPoGUr2seRH6cjKso9713q9aT
3dyMxU02YCi0+1njsuy47xyCy872fe3byMg1TGNihbNrD79lESOzTaH9taM9AOogOa9a6p/xUsZr
IgCM4Nzet56CHxg2kUzezSXuT21ZXFGUBjYQboXO0zZHhLH+fqmwPIw0Mt/rBlemjrwp1UJIA2s7
dtstFOcU1hogVkR8MjAisb/jm41tFNMXOQMV5jwzi1uANQlbJplTomH6qhtnfG1IvIY2xMWr640+
XszafR8YQDfgkJg7Ha/YQ+uf7qpk0HhgxUDJnNT+yAvSCqSD0rMRVdV20Wvjc2SixVS6POOVQHsY
Z3PnKJeqCB258jFNjQnU7eLtS7+4LrqxdwFxBT5BKHed68Q1ggoNeSVS9TA2efwK8QA5YCg7aJQV
kNOio7lEk2Sg9NhlCLSkODAqNx5P0Mjf8dzUwq7XT53QrOuyDPewTm9UIr2gwrPN2XAMw1M2A76D
PAaKxE23FbGTk7vEyd73tGuO2IExqK0pkLdu7L8q9gj3uMMm9vpizW20DHUvOqED5tx5OzJv+EDx
v+npaoT7uucNlWwoXEhZAA1ZYOKGWU9eVJ5ip+XxTZP4Z5LqVCUo3T0uqhNfhigKtL9GOztd+4By
6jwunv2sz3Z3zv2IVd5oiX2LxrX1BkHSiVpj4H3JcHDc8jNbsn6fZCLeyBzCgMJ1s6MfhpzgpMXd
IcW0gos9tq8dPfT3i3RIy3FyKVrmHoy4Md81dJsTWTrmSHys6tVIU21XLMo5lU2aHWDGbGork6GO
Koy97YWgkx3oXlms0SSjQMSqePK9uNkOvScvjYcoMnWNtdFl9O3hiA6xqyZbzHxMLtisdh1da6cE
Ff3YOHn8pnxqkEQHaa1ZCong7Cy/ObJ4SkryO2aeiUc2gM6mp5cx5PsjGJxZd4qnKvlT4yPq8EiU
tZ1csqY+FaM2303udAIZZz8XMscNnllEHLVWbdM28TcQOKOPdpinrT2l7QeWDPw6PoWPNZPkXozZ
sClQMEZy0nivS4OyChXkN4tMMTDtDg4WbegegfCy5eD7cyDyuDhO/VHUro2Rri7V2S7qGLaq/n/Z
O5MluZFzzb5KW68bZZiHa9abABBjRo5kThsYySQxjw4H4Hj6PkhV2a2S6UqtvRZSLYosJiMzEO7/
f77ztWGme9XXQnObJw5V5aXpfT7qHQP6I59LgoJtOxqHwEu7W2YG+9rd7lqLzqDJoiujWRztkBV2
vdczM73xiobHjllIpHlFDpY4F+499N5yyuwKxtSX2B6LwuEeOr8zCCvC1hscBmSzsd51IO8h+1Tj
jI632Tv+vHyTPlO2nejXLdQuXGdXVihDdi6wd0Sj9PKDWsnu3UWrgcBZfKvTIIn4Qn7Rdd/vC6Cs
NlSNNpyU0H3mpqV2TNcBWYrXl4yxDbtsrt1iAp+jdiOSjkso1OyUtNxgRqD91FPXLvkzrGuw6mVx
x7mXPKKOQtd0172edHyCzolxXnkOsADktJkBShwTS9N/+aySdqOqpp0cYbhbmgxjg6rGHUePIRZV
+eBgq0ZCqCs4twRBat+YxYm0vnxvDZEezSVJYq+RndjBXJfkB6QIAbRF1M8VwG1PfP+V5tEh2BvS
c3b5qj94HR9IO7DrgkKg0fixdF5F2pH7rT6ZFah7ae6TZq0a48lfElkkES7MrP2BR2Yi6lE3VVB/
8RZqpe1zwm6zvIwLceUvs5p41drxY9E0fFANJ+VdMbjGyvihMjxS6hhqgQ7y0otUllLnxgJ63FGP
svzs3C77mAO+Qs4Iziu/p33XUvKjypy6E9TkAq4x+UukCz/H6+j3177jV7fCbd+I1O6sUg17/kTt
WjI7jmg2NQ+5xyyTseTSfAyJblzpkPJPLOhW3sFkl2496X5ZM8iBHsT/w6461OKrt3aXhEF6DPY8
PA41EpjCRWuj1V39oM94WlwLTSqqklke7Wr0t6cBkt4e1LdFU8P4XuCZTPPy6A6VHXuVY170RqC1
0QeOAI5ukYHOlshxVb1VVPLn6WXXfl3yyX4R+KWWzTkJjSsMzdxRQF+SQpyLR1y4TphXo3qbneQu
LXxeVh1x+BOJgTSaUOoxB5GrflVdaobFKEQ00G5JjBvPkdwlaYcjmE/hbUXdy1MhDM7IArnleamL
4kvqV+MboyfW4EQUblWzpk+1s4q9v73YiHWKAznrLbxv1tktjtEZvwAwSezKTj+pQvRPSVLTfpW3
/FJJiuBUiqF5HNOAYS+LxWdimsar0fn9a9OS2acA58Y2O7pn10bXjpbZdQAlAfgb47kLWdLuiSIt
0UQsoxrvKpeM5VjWf2O1AMnerUtKb1ymr6E/63zs59gumRVViXtXVqp6KXSYfZ8I8sFnN5uGShrm
gavQ+BVabf6YNMMKO9NG9FCnXcRX1OyLAVIuWoaGxK87OgDM6HOZTue9GSWZM39fOfVx4tccAvrt
ou57ksxZ1DCdfxzSgJMYFiH480KasUD5GZsso07EhvJTtq7FjZNN+ammcOG2crg5eIvLD5Oufa/8
dv2aIctxdq5BVzyDPR4aulOql5JHhclP/qyHa+Gtd5pCilDJLjmM5lQ9Mu/E14SZnKkcXDkZ1PSc
mNRt4sUlugJGemyKxAgLrmXkHJrtIGs4w41jcbjOG93ZnmDM+VQ/A3WIvKj713ac/frOKAthxRW5
FuvaG3wK7MCFMz+UmQvbCyThrh8aYPrMznGLg2bkDvJm0tTL2Czdwh5HI+Wy00YuvOO91IXlYc6W
nul1gEhUDl94SQbf37dpj9HHEkYLlP5/ahs2xCY7cbumy4FRZ/+Ffd/y/Kfxzz9YR/9dn9G2hsZc
x4wTDlZnurMt6/+cIez6ZaaEwJhvU01QLB8gXzWYwBLZOWk+uaH03aytw1SYZ6t09oju905mxL6X
XDu5xqIdY/6qh2At6FXL/yZ0+7H8V/qz/Qdf3JZf/Ithb/vaNo2h7XqUKvx9NUttTFS1JcSgu264
9TrOiskRm98/fwX+0R8CrWDTuGUTh/r7FwCT0cKlly1kbmK74n+uRlOt1+4//5j/jCT/xUjS4vvH
RPB/Hkm+/BTj/3rOSd42f83e/v47fx9Net5vOIuY/dFd7ZiMKP+UvTV/wzOHgojSGxxCnyzK7xzm
ZjCy9K1OjagsfstNh8nn2Zj93/9teb+BTbrE4EnBbUPN4N8BTph1/vWHdasqJfaLCs+Dw9zqcP76
RkqVPVdNwZ1D1J68IFdxAMjNTlwsVdsR1qBW7EoJU82H2U7VFCLq+ZJHlW7MxzIbtCJOEunthzEY
ngKfXxNYVfCMMaQ6ZIGWMpaSAVpimLa9dOuxDBcospNIVo/FeLHtkx1t2x0DjFbOzgaXiqYA7ZDT
0SHJguDc+KVkZ6FAi9PaT78ajQiS3URpZMhW+DWY52dwvQTDXCLU13Wc2FBD/0NkaBgMWPs9pHNr
nHHDMgRbGoEsNtEw7qxa0j86qs9v+C1wiAM7/UMHK5EnXSGibCnm42D17XWduekRPtNf1mGYCOjq
6kvSqW2TJbJ7MxBuz/h1+5tXTQkET5Ygyo2i2rvkefDNzap+SjPH4Q7LjLIQ/Gu0F2zbjfxrW7YO
s6oR6t9WfFBXY6j19K2kID0pj3N7fCq7wrtPWsN6SBh+0y3nDraxRxTH37jytTUCr8G07pFJM7vJ
2I7NVcTX/Ml/2yEC3Xpnap63SxbrRZZldzTy7MZDV0GGMrtL/XUaI1PpdhV5TMUY1fLUxw++2jcj
t5VkJxqWZr67jju0eMcAEOmrjT4diC9fjVib0Geyp7Hq3SAah++HI29Wn8qFQn/DEOREkr9LjLj/
OWFSdw7m4asqlR0G7HzfqSlWZ2zyHkE3P4v4wIxTY3SiqkjTR2E3FlNcr62uPp9rt1WTETALiG56
aOOJQKZSuPclweBIyzxGpENiPiiEorGTblevtfs5mlZKJoyUCXmdPL1faYw5LwFzqcLFlOcby021
jY8qwwVVbLTkwbDGV+w66PugPU6ZOyTpZR71anpYgrTtvw1pKt71uZfojybjwa0751KkvfXEjZQi
eBKlN3AXvUtsvOYl4yY+XNm+vkMhy1utY5xlzvpPqhrfvXlmPlU7TX+aEMrvqtzS7xRSdhHVgwK0
xLz+ZdVkGxbUt8QuQicZUgYp66NuS6fYJy77adpX5/k9S0kcRwYwT0dKHW39riwGY0fUwmSqPNbc
kMWkP7CNI3OoZ/pN1wN6hwu3y4epM+9hdN/YILzppLMHMJF4gAigssrNuyC0vawfQD75idFT031x
Ev9LmnQ/dfJIzAy9qmMKxYXIqWjPussq9E0IQPKQgkfzmPLMeeS/wEbUEtmt6HMQnmAGwWiYpXBX
zZZQpmI2ryIQa3rwuSikoRy6t5ruWPk4EPrnS0LZpMnkfiK6x6Gu7K6K1HskuH6D1wTksKzshIds
6h9oNfERcCRGjapEqoIltl6U1Eogvd8teutchYOV0bPajCrHxIj7bpx3rkehptG5/os9bHWV43pp
dI+b5CiyQ+nDgyUu+1cnURAsugLusmFV06UqXxfOYlFd9PPFz7293YwkKehUkTvSMNR2DIXzwNmq
jNkbTDt3zpioTqUN3F73CIesNcKOBMNqizycCKpd58mZeQWKdf3CuMg5OaNPekwftec5jUB/L5Ie
mqiuBAtTOm79eKG2kqKXi6sWwK8F68EgzNOyMpAjLNZdKkdvr0ZlMfl3bI17WN/2JrFNyRrpVJIf
40k19A+0I1igJD6DZ7djfOsYyF9UtypOcUnr0RxQlm8rm6CdvXjzxbFRD/CAeK8YIOyySeJxQHk5
7M3N7bis0221puqXzFDoZ5PnMRRObep0c3RuSyJ+4J1Bg+RlAUVCLuxOa+qMsGpVhYgZB0wB8p0P
Fnc/0wV6bOCxeJcmrQYS0M2zG9YUBv8wGz5tYghycWNvOO+UGk+p5/pHS6v1S657HdtpVsKVRzdU
hjtHdJyDDT5gY45KKjTYfxzNodFPuvKMMME3enJnYvPIUfSLO876jk9sfy863byRnhFclsbL48Ws
HhOXoI0nUrQKXQBnlQz5L5mT3kWp5XPHRgoRzgauLpqke+hio16xmGJ+0hfrfjDaUGsXUxEMt9U1
67Cps1khJVlR3aLWMogctgFnRdfQfpb9hSR6H+v4Uj+cFhAthfOJi6rqbhDjpbsVF8tpWAP2+2NN
O+rw0QepjGU5f6dEQXJjUAZHdz5ujCE7+SA4RzlXFmsC/xbQ9HEUjQUYZTJDlZPzAD9Q7weNbJsq
Hjn4aw9zVtwvvK7nZHFM3o3VberV635xS4SqS84GY+dumyZum0Nk0zgCfjDJkS6kRX21S6V2s+R1
fQS3S90zc0Ilr0xr0jY2+eQcWOgtFkUMukWb/c6ewYFit/FXPc4SOoif6lwPtNdZmIsChvRA1XOH
xiF9KhuCDPQZVds1fTQMdeyc/MnxBreIVkgp5i6ID2+n0hj4sXIMa2fStwEIZwz1T9UaiwMjufZ3
JrxVFnX0bb1YnVxetiD82cNPfWGPKA6owaBUp5r7HlKPcjrrbFl49FcNr8GUjUcoUeKANU9M8En3
myp8guStLM4TCWpq90yvfvRXSf2QXgtWAE5MtndmNIL3tqeV4yDG2bkXyu/3s8/+xCJq2jCn4fFa
9hYvUAnxwEY0TZ+hKslMFKivkfUQeccuZx9zLo9TpK+sKGeUIKxRSFHOCPY66zJ02INjJNcd0Jqp
ZIB1qZh0Vql8tu18lfnERjw4yA0cPSthNGm0+mKSJz1TyLSzUjtpfe9y8CPTAfNE5OjOcDQSNu24
9jnpiJ6ppR+sQ5SBSEQlQcw34RQ4YZdCLx78bEC3GBQziRoai+nbDdCfsPjYD5SLH1cjW6ZdXy5w
ZLoaPLHzBjW+ABAGEZlwogeFXzNV4pv/SrrS3rvCOVg4tpBqENoBxm1mi9/P8ES01nRMc41JKSxs
GlvwwLc2teDpdgLqK+Z8pn+yc1t/ga7FdtHp4DepBCjbd7jdiIGXNEjlwzi+8vBeY4sX6dIGxneW
8PBg9KWyPuC8hemTHcHCuqDMyJDIgkmDdMxwxE3Qhbab1Xdgf74RumUm49HJriw3OnaK9XgzM8U7
uZmP265hIPQgKhqvYuE0FYJCAOiAb9rZl6KfInpL1ceS+Nl7wJn7q6lc75LYWYOpQk3ejdA5mnHV
NdLgWutAWabyXsfaEi8q2YoaUsfeY7RMQ3Nx9NPwSYySjXHfrG7jSIWPFi+3PJ4DlRlcq0/glK1W
yLzE+MbzND/nMzMQxrDu6/SJrNLkA76q9RvKOn5SrRvfqjbSFRLZih2XzXarvDJmZBIcgqUGaV2m
6bJuvKzayFmxMbT0US/QdHC17UbYMrxgymW2QADGJ4LbGd0Q9xuXC3vGaHBjdTUXatfc+F008ctN
tzG9fr92T0gYAX15nhe/mGKLL8HGAaefSLCjiuDMrC855xsxrLPb2hNX7S947N0HayOL540xNjfa
WFsdDC2e3cVqY5GHjUp2nEQyvt5Q5XKjlqnfgCurNEjmjWnuAujmdqisvYZiYOz64i7fGGjIs+m2
8DzzwkOCFVid8WbxJrygE08+q8QCmGl9FzOfdikcNLCBl5PqWUUL3uuDXVyQyyQxqbeeA9RYkUlm
G3HExj3HeS/dXxOKrQ+3XpjndEwQr5NpYvOZB/s/9///z6SJTTTxn93/T80HtTZ/DWD+7ff8ETSx
f6PIliClDUdkWx4X7z+kW/5vZKsDbvb/nbL84+Jv/Eb7DI0/nkegxP2spv3viz+NSPr22wicmEy+
/p2LP4Oiv7/4GxZe+s3DZUHWmH+f55CmyPI1W7RTYq1LZPUVLXFFArkoPylGjm3M09QGNwqp8bgo
U9O4cTf4cf3kII0NiUw2ONIDzblbkcy8B5/sZEpNDNniDalcNriybtbmvXaoA9U39BINAxdKiv6s
K8yQv4blJ6eJ/txF/eM/EaaqHodFTnf69K3e8M5sAz3HDfmknxH6c5345D2Uerd8gweCD80/WVHN
2rjR5ZMhtT550m5DSzOt5IxkDTUlUsocki0Ekp9KYAWkI1Ugr5udy+IakazsmwbTt+OKggsrHKyg
wFLuF9ahDzK2U8sGulrFxryiMoV/1ZqKa2S5YbGd6Lo3CNKVyi2lk5gAn8XAP/9gxwlSO+Y0xKG5
VxcWbv2D6or0m5mZYLgFgkRyCGiL6i50N1B32ZDd1Vnae24WLdYtfwECVvXsHaolL299q14esCWu
fGiNkYIJxpIooYlonJ4a9JKurcDRc+/e+ISJC7DiRVQgQkvt37uOwT6GbOcT0TZBu5EQsT0ri3xe
Z1S7hrDM2Rmx7RZqlRf/E25eN855WjkL7PRP/DnfSGj/E4oeNFU9Q9XLJ7mR0wXHD0TJG0+db2T1
uDHW3UZbE77VbuaVZMLYICdocbGE85KsN2tqyJeqVF1PToHq5zkZ+gsrtulXANZTsBfbKG/Q++xu
spsq5u7aFFEzBywJ4f+ma8WlxuBwATPef7oJxIKeJc3pieTAN4v3grNyFc5J32MW7q30vvHp0Dwy
1M0fs660XkyaQB6C1eFPs3RveDIwROwhPe2L8Qm4ZxvrrlljyvofAN7cSHiSstMj4GgVuqR937Qm
Hc5YMoOfoCgMt9xPpB4sFbweeRxYeuEC3YuRPA42Xsu9zz6x/AkeuNlx9y1/2J/gvsyw0KT6WhMn
ZoXdb4Q/38cSvQzzJm8pxFVsSQDvMxRgbPmALGnIxboqrSN+XNsv/pYkQHxNqEDb8gVGm9rXfrJl
G3MV7cBmvTanXaXmXf66NEZhb/x8wNFjVy6sSJAHTbnOP9rGSMdxtwSTKlxgkGDRq5uGj75m3JkY
2tZjPYNYJRPdrI9qnix1xkheHPvZvTd8eu46G/jasnK4LXsIAJp598RikdUbpU4K037CFcmTMINh
2ZmoT2vhPEnpyG6noOPDkYYDrDO5fmszELwZAfII2hTOTrSCUQb1DHGQTGXsW5A8A++Xx0RAeSEW
naqvSzJb9Y0rR72493L8SUFkd4DnT/YqgNG5jLqNQ7dArx1nOTzbfLw+aKUfID0frPlkDdN5Shv3
ig0WrGUs8XgsG4Iua/VA/Yx5kkXFh7bvpKBHonqYByzlFaR1aJcFUkEr4HLa8Y2kDGlXJyw5jT67
rXGVy3pE8T3mN1NxZoHGf8nS+oP0kj4OcvPNZVm1owDwXBTQ+n3LndVnLGTRiUNqQ9jPGSzsKYEt
DA1elj3tSeIu1+23QHZphF+QA/k8addiNRK29FDrSuovDWkDtog4YEr1MYjpMq68hsmoX4rcHLkN
E+nb6yL7uljIpKqiffY95Z1qv/uBkqeKcb88ckLnWI6OLbWGO3cuivuxb15ZfLE2VRcPndy+1tun
KWceWC/U/846mWJ9LqfIbCpqTIGe/COxpRI0aUtXTKJHrZe5Vw6d4jxY4jIWCWnswJ8OpjVBoQoF
XkRRmR553M/PQ+rZOX+9bn1juSiuxC+4E+BJMfkxurh8t3HhD6iINdk8IuVvDwzltIONAikcWb7d
YmwumGq2+JT93OkeekVmhBUci0AQneqh1Jb5zg2GD6/N9HOZp8ZlrQPOh4K1WtiR/Nses+jWiAGq
9IuHgSMiTkojEZfjeM1FHaVuqm4rJjA7NRnD17WkRVlzoGjMIH9wBq3nLVECP02TuK2Hsg5Breqn
qUqSB8dM7B08KoIakoY4PKYLDdxIcE0roxw2+ZYJnSFX58335hIsl3wQ1qObB82TnNs6HC33LEBD
EZ3wo1No+osjsn5HtyREcLFsM3O+UrMkELBM4tHXAkTdcsFoq9ZgLxGY/yIathUVxEKu8mYebepe
BinsW54x2k0x5h47bQaxj/gRq6j3mvJi0TYQOonZceIX2Q+7qnhvBS1RBK+Uj/wQVhiV9eq+cLYF
KRWace6uAr5YvyeGYEejWQynerWs+8q3gkiTqrtzZuPdmQYc14ZWPtUBdwUmsubLyIp+z7iwNPjJ
yAgCcS7gVm57zV7lJr54x3IPXB9AGCc3ODtiVujW8uXkjnxELuXqnjSmvUb0efj7z57sX+zJeKVM
aPv/eU92+daIb+Iv7P7ffsvvx+TA/s3BGM3V2Xe28LVBtvoPdl83aX5DTutST8+uc3OY/HFOJhj9
x7nYhdbfWs04ZmMi2OD/fyuBvS28/ry9JcvNRzyovutYPqu7v4tg98nos31Y3EttdtzgTdZnSESN
GcdWKIXWjURgTAzLRPtrq01u20YZDh89usaTcR3JKDxVwJVafRbCZU/OvXIZ7OToJ9JwORdOsAfM
ItbutsyIJXj7ephqe74d9TJnhKpMb2ZrI5ivpPtRVLV7M9m9+FGm8wPWJjofDGYZRKYRUFfAnphx
sVJ3JnpqzV+pNVo/rdUMHDeF9UZhrwcTJ7p+0ywUv7F/IpXGiAUx6LEiBd3fQ9yXqK2T4E1Q7sBT
6dObzaprGyljtuDAjFlbowy15Y9Q7hqzQMG93XFdaXbWpuRGEOffldQ8vfUcRVnHo+4GhinuV96z
+1YquJdPx3fx6ftuP93fI1G1Q7nW1amACn1nrNO/mmLzhRubOrzFIV4t6tbXBybtFPWqE/+XXCfp
Wnf5ph/fCgDjsUBJvnDu4tdsonKsL4ytdbXpy+fNZG53m9W83QTnZE5xnc8G2vNGW+t7aUjxvLAE
OJmDmg/riig9EKY6a0GxnbipxSCXi2v1mFVF/sHPg/NQfDrXJwaGd4CB/mFxXMbKm5wdLVXzJVsR
tq8+6vZ2k7hPMC5tSJm4ebXxZLxon853d9O/t3Yqo6Cr8I94nneaNlV8BbMyRblkZmuYjYy1zeQ/
k4jYW5Rt0Ya5OefVpp/XVN3t/bzSDsAt68nOzPUHx3FE88JAXb9J7LEztTftp9ne3iT3i1zdyQDQ
m+zRdMvdH//kXGNP2VVzzK6TYa7Xn9K4KbCb4Vx0zGyaM2eXuWojb0z6ItjzlOWDgxQDSMmMYXGN
MdUY+o//PFGbMR/Vv3iiElb65+qnLz+51v75gfr77/jjgWr95uiBaQUG+nnPwwL6pweqC1eA+JbH
JeCBv935f3+gWpvHwuVfma5tb1wB44LfH7CmQ2Oeg5vC1nVwxkD/NxUXFnOUPz9hDeQbtskzf9NI
uBZ/1l+RAzZZGrAdHUBzbw4vk2ZDylXqh89a5ZY9eh9nGqPqBQfnozf7VyG66dWdiv6J7fxTrw/i
LJWb7aiDWK82hmLiN5abkHovsnu6WbRv0tvii4ikSPb4ZOTxMJmpuG88R1kPto3qDydEA9F4Yvng
m7c0POvtV1EximelRZsRQaFy7LorE1IdXlWfZuhK3IKIZjBlJ2WBIGBNAQZQtw1D/7Xym5ETMPGQ
yoCWX1yOSGYSjLGX6bbYsxI1u/NoI0rmTNaUPqJClj8qiHMuA8aZVZTJYD8VPfLe1mipw6Dl2od7
85RzknnrYPmjgtwrviRK08AhDK+c+ihD2fitaBL/I2XG7UWrKRbRb4IhHZDTF1u51LIORReNfAni
UC6tefF1a2v4cYMM7yIJjnAeMQXsJ51cZ7y2xVZI3xbHOm27t6XJ2WZWjTUeMUz78cyH+BtVuzYt
nWl2xC39lLKF4psli2uPd/dYmPNz0ebWoRhn2Ns6SI+4MNDV9XWavTDFpt5EAdF5/nJt7eECgylf
RMqBVVbinsEGi+JmgtCeUvcHjZszZ8+ZraMjQrMPwnKxTulSPtObQHdNYBRn37e/p3k7xFCvElxd
0ga6avVB8pJqxKV2jtfNB+Fl3h4x8MEM0KWs+bNbmb9aCpouK53COwZWt2vWe2EtxzeGsGfCX82x
HHNWLblFWLlGDqk699J1urEf+vU+S+t2V5rlc4fmOpKD1jLMnX66OdfF2l2T+zloXahfPkACiXRX
WElUKlke7Mn+3I7emYUF6jJNW447qWBWpuyGjNZw9cfZjMnt6Ccu6fm+WVZnJ7UUuYPo/e+5NKcD
2Hz+nWqa5bwMSjEQcbTHlA0G7qf0Z4K48s7RxidnzFEBs1EliMfHY5N3+ZESSXeb8JFPahXz7saR
+5GT2YnnQrYfBjPYU8dih06mBegZ5p+tU9anMaNvMeHZseMmQ7UhWu7vrYUldnL49E/TAQnnttlq
sVTBi3CXdHAE7Bx9qmJD497rm8sXw2l0Uszls1YluCCbeVeLjqvJqL04KiE7hY/znPVOEGqdnf+y
pDO8y9ULC4NpIVL7ciemHnwZ+1dJOq+UXPZG3vFy8PvI4iOO8b/bWMhMfQOumA1uGg3FxJpW1Yt2
pIBDPjKymb2nyi67e1c3SdCh2cpvO86BKCpypK7Q1iI0Kll8EdBK4agbMAl50ZrnRqYDSiyLbAE5
y6Zcd8k8kmfprVBPpumeKL0RThM/FrjAGbZh7FAffcdDNebGqs5yzJsjSjM1B4eRH60l1JSrL2HP
V1uCQc/jL6PvgWmBpru9u0iZ/QLKpX+JJAwSRlvvu/kWd5BgucZPC609drbujYlNd9YE9YGkfxdm
vQalQcMC08D55DG1OXhZy1NioYyo1RHvOhZGOIs+rZ3e9VaMMrM6oBlBvOWvr0Svg2dW9AvVoNo3
3lIv5pqzBK/oZ6j78YyF074tdLOMiKMXF1zmH4nwhyg3u/y5HgokI2xI8ivnKVCkWq5WtBq1cd/X
yde+Mkt/F3D+vulIJpyNYNyzfZpucNt1j9Qva0+lLbxvZu3kUVoG2ILrgHuwTDPexvNCDDWBV94r
aouvbqKwqCejiJhPjXieszbmv9PsW03Hlru9a7dmm4d6naw9BmGO4TQ4Hbxquq+Yu8W5EsfZIM9A
MReT3X6ryVS0nj+gUXmjDcc52lMd/BhM8eAtdjazGWS3aPnjq0uiixikDshjTScSD35USsOydqPR
jb+S1rbjQhu1Cwr5DKJLGltRaRB32yJLpX66T0il7yiPuiU0V96tmj5dVY4TrVHSw3e6EBoUWOkm
sprxaJspHJ29MEIx/ZAkHiFUYziozbTpW+M1kDy1VosNe2Bii9bHpTmNJbo7dx4gy4z5UfqruSv9
toxbuybVJNvg2C/LQVN9cBr0KWEhu5AjcYP6B9TyFOvMOUNpwMN0Al6hqFtSxpRDs1nLiyBiWaoi
XBFBJMb+FGjIMAaynEvvfa1zj6hEMEumSNiUZ4WOVbMJIGbNku0Bl5azVvYfU7leKxa4F2PBmbQy
GyaN5zV3JieTG9a8bYyLutjP+UgQD/T3qMGV7EjFEZ1smjz0U6793EQowygx+JKd5nnXu+8rx150
NFwKsnJ8N9uyvDhdkuwMxaApsXDCdKowbvgZEOyfbcTPZflLulWwX7r1Pe02qwiRgXRXKCe5gtxR
aDWRQOSDP/2OJ4BrRTUO96QrkjCbDHE72z455Qrng6unb63h/OqC/iez/mpfORwYpsV+qQeJzKcU
/XPl859aBxtljVzGX4O0gfwFM1KbhyjBozm7b52qeKAfhfSub643UznyMnjlu6wTPeJh2vLUzqcX
X7V8YIwWKTaCeXgDqdQg1LyTbl59N/Ggh7Wp2pOkIBU1sceiOdCaPSr++sY0TABItaKOt9R3kUEY
TFxxd3PA1zCTCIn1oPefBZFEyDrR8oISBKCU3JNLwwvW8eXj8i3eeNuX45UmYf9L7zn8XrDIp0HS
lEuMONSqIH2QoprvHSIibzTgPjmuS9CzSm9ts6V6Sfop/FlWEKimMYOHWZ7ZX9GeMODkRkX3kh/b
K8xV2AsPhE9Os4rWHid5TrwX201rfjjN0jiR4vuM+N9o7yYMFkcgGe/oLY7/PpdCf5P68qPokvFu
1S1YVRwl07HoRuuOQPpEgLVYGp6sHeW5TkYXAZodQkiwmqRG68feD5zHmepDPeSpqXHEMFEOMser
fonBgvLhjZryPWVtt2E/g3voOsPhLQMx2R4HEawoHJlaRCq1njrgoNAjEUggoHgV0L3fm7Q/V3OG
0qxoM4LgqfVB5st5atzc/GGkhVaHq+0CSGm53JYoVEDiyMwKGS2OWn7olU8VYCvF0zoP/Snh4Xmd
Mq06BI17j6kZ1bA30prIx8FyNLSVgeDkTt5HArwTZqbw7oLRyV+cbrApDcydaKjnKnZyqwu7lgwc
PSEeRmZCmI+DZbOz5lItbhckcMyuE8BVWvkksMjgj3U0LYIeNW6kh9QYYBO9mdpLBLRxx9eFh9TV
DrR0JvWh96r8hadZ+cJHnHyt5kV/olw9OeqFl590Z+bEm/Tumf4EIha5JvChKndm4mzmhboQUKjB
bbPhHGg0pWxFjaB1lD6ezZ4exqxeDK629la1PaV6vOokGUea4F50AJwPp5uno88e44JkZbyz02z4
2lrOUPL+a9GdWj38Su2QKOJ0tT4Hw1ijfnOYIn5JDZ6wIfckyZgn6KwNv+3UFAPTjOUFzLuuYz+p
3K8z2XX3NS013PkEnvhk9dlv8EYciPqqwV3S2CaJdusyAn6bvNkl4uvJp2plkBThYtCuVbPkbwlk
6H5AtGZH9bpUJ6LK+rbdSf2dbZd0p4nNTa7T1vcw8UuPIGLLeaiD/8femSzXjZzb+lVO3PFFBYBE
OzgTYPfc7ClS1ARBiRL6JgEkkMDT3w/lqnNcvuEIe27PbFkSRWIn/vzXWt96xmTSMIRJ9b2pG5gQ
mU8Qf1zTm75hJK2aCaDmWE/1C/4+kpambx9ZbJfXgpKww4IwsSPRUcUgOisoPn3nHmarmR8rx+17
6jyTGu02L/dTYakr0i52QLtoTsrX6YPdiWR5gqrVt/dsPjREmlSboFpjytpthoW6IxWOW04pG4/5
J+NmTv1BVPpydp7bMfXI/zHgIb/2w6kIsxr1s1gmNiN642kPhbVnc9b07MUzzlEdVBiiWbOdxsxz
3zbAmML7nHb+qS/5LH4PvSDZmQaKwhVFCBg+j3Bf7PFdsdOz1QSHyfCJ6Wdj314ntMqTwnL0pOXI
XQBd6LgiOO0mItYXOffdueeZ3KlR5NeucPM4sZX/q+6BpJvNRuSnnnEkEV93LwN52fwdy72Ka3pf
bkc+jxhC19UF5xMEP9ugS0+eqjfLyUhUWOa9/7oWVDVBOVudfUh08DDYw/phMljfzEu3WaCqO8Cs
5pF+SHVZbTk+dhA2vmbagRzEWuuydvRVwUbudqRdcNRZGd0PaTmMUWsmTAeyHI4aaTbu+4JEOJj3
HbkFh2aUiV49rUPa7qxin/KuYziXC07Hftyryj8bXTPtWi7uxMHy8NCXpv3hOto51WWPqFRyMlUt
4Wef8NgxT/Hm9q0bXEVOvWpUDtn8vQqN6VjZzr3QWfhpNv39Bt0CEECRamfby4kgumSUUum15Eqr
IwrNZhI7nqRoT7t7uZTcb3goEcOKHNsViTb4RrzGE22U3/DadlEb+vXJyBOxM2beJM2MizAiFjfE
hmks2NSFOLQJ8fcm9I37EVrKUzdnJ6XL6laXKIhu2tD/nc5GRXIqy352lDjfJkmec9DK9IT/lM/u
wMGviLUuCCAxWbZ635fjxEtnXh6z0Qzv2PqVe+jT3qkEhr+3K5MDkyT9BV7BQ4AhIEJ0Z5OHWPcx
+JuWTa8eiThLBnelQRWErs1yjzbqwEMIxfvv1c6C+t2akvOsfje64V0KH+PsFBwdBCmT9Pz0aWpe
rEFurvSXIMBYXDxZiroAUzQssHgpBdsHP/V23orXA+IYHQ1tFtmN/oot9iZLg92yys+mqL5Sk7A9
b8ps92psSlAcQuw9VvC41MPkUuSD+1EOOoG7h/rCzGyZMRVqkNt6m3de6mh5pdByCw8OPr0cJTXJ
vZNfqzQtaWEZTHOnHK2C/dSZ090wMm8XZFd3iD1bSH3ozqGUFbHbiXrNIjB/zg1XtGIsphPkb7Wb
KYF7BPbMRqDrf4yZHi8+PbERiEr/wl5rl2ULvbb4P3gBG+UFA+b0uJZZekhz+Z37GqPY0uQAQtei
PpO+nShpw+H+No3JELHvuRWiTl4ZpV5yzI+x34/+TeaJOZZ6ZXDEO57MqxwgcBr9rpnUt9CSt4S1
gUsV9itocBonJsc5dB7dJzNKw1umrToSsm92qBlTjHfefVnbEp13Le2bZsmuuQF/u/OH0zJkz71n
/RKcpIcZjCa9Ll3znLX2O5i46iymxvkEUNjvUDrFrjPqV42i8avramM9pE2Av4atB8O37lQWrR7u
02Wk0qCFQbobuyD5NmHlnFgBT4gB4TI/SWsLk1ZBkrB2GucZe6izgPqvaS2iMc49kgEKnxoOrDHq
hAv6ilCCj8e9z0Ycy3wGPLPsLzYcUdrzUnSMNNnxo+poMi5c+rkAcaeRVRoUGaxlTkzFJp+8n4LK
GvYKXg0yvBdgOe34pbIJftmp/eQULYdHkGcXSoPLy+LycsVQ8SMpOyWP2G7SPTwEB9ZaUe/cSl9W
LCd81C2QYEVDMQl6t7K3XeBG1FhC5Ue+5U3bZ4IpL7fco43/mtIzmyPB0/00n4pWnfxJfiMWc9E8
8HGVE44tU+M2CQdmnQojC1j6Cwns8TCL0t/7pVddOpf1nwwpySYChI2FW1ycAM3p0+kxLIZP5Ame
+GRx96FuHqXTkaqv0dYbB13TN8YMZgV+Up967/vZdt4A6SKEJ0a3o/w1j9NKNMfM7CgKaoEoajqt
d72rhnMzpiabC+pszNL97OYkfFSGyRoumbEYtsu3MqV7BXFf4Hvs86gYxffEnaznOQC/4Oll7oFa
tPNPd/CnZ84+O/I8F9ySKdWllyyjTKuIoag5t1UfGOxZ8tze92ZZkg1pbp2xGuJkhQu6s/MZfqkP
k9CHEZWVF8n70aKF8FDmS/dBOrR9dwNH1LvSWNcfJSR0HWOmNj5ar+7vfbOiuJwXHjW0vq/xURfU
7JVckfA2FFDu8vTSk9rfi3pZvjNn8dFKu/ojL6zgHvYpFbRjpn7QevIr7a2FiCoR+gs1feEjSCSA
4jmspLjLzflLoF31YNuZs97RVN8SJffr9sgWtIaKPpLuX9fQO6BBWf7OK3MwIXbe9MSTl+6QdwRN
HTMx7qy8d6fY5WVwypPpZUndL0wI7rNM0vaQ0ihy4nOw7L1+sLhcBa/Uh3HCZ439DMMfVFUmaHAb
ko8axEtc4MSnisy2CdZxSTduZpuh5lpRZBDJcQIl6dBPf4Cu0tIGknvq4jScP5E3kpE+psmstyVR
BX+RXRgzTU0Co+Fyw3g3w1WJfa/tX3tYNjdS4quKINCHZqRMdnw40RJA74X17rU6FHcz+faXiT/A
2wVSrSTGRjT2zk9YGrGgzqKUFslboTram3h6oHF083icZZNf1w6fDFU3wEfHXqVMTMtMpNkeN7P6
uE1CnDLvdenRW9NnAR9tVYwnSmnaSBoaM9eADgwZa0vnkVvUz67qRpZPhOs9aAcghTrbCF+po0k/
XWr1wJSl9Hyj8y009gEJBPHABw3cEY2FDPRcvDWE5pgRtO52k+h+zYzXeySCx8VgrF8Hz7x0cPsJ
G6oZv1giH+kGsN+wizV6R8CFJrbetR4G2QLTr+QUPA1uz/uUs6x9qFZjejOcXF0E2HgV1WsY3PaL
Mb6VnWHemfW8HDcJOdxMLuKREL8PmjTh+tJbSXhDLb39fany8jIOwfRs24JlqLYVn1L6UTER127Q
0Mk7ACwg7lDwoZwd3lhqZisYCYp3izs2/CPvE4I71U1h2Qt0Eo/apr6riWWOfVrsdDk8UIODv8tb
OnsvWEO9gGNMLwWW9ripsuVXBUP2PbEGBrXVGwMYslZ/l4XQ9ikQyuWbwjFymA3euikQKF72ROy5
7OR7Mx2KY2fMRGpYjd701BScp9kc993glVf6Gml1K33LvLZrO38h0UDXkKfzepcBbomJMSYcJyM9
QKXs7txlDk51ZqX7YVqBhQxUvomu5Ckx+nm8DapafGV7S6IU68+LyXx37Vs5H9TI9M8602dLY2RP
S1ZMEKtSWp7QMnD4D/WtGsMfBson0cI6IejujjvQotZtOPHREIWd4akW5zazgodGe5qmb3e6eIZP
gsJLqp1DDoSHBqMM++b+MlB1f2v0fnklx/Yd/qS1nxJsT0WwfFA9lcU2gLYYECVrRYs80072y6uB
nfvgA4Dao9QLuH9OcMymboinfrHBLLTsbNqyAcsakm7JhKYAiHhwNLots6y5AjutqFTkqrCell57
1HdYg3oI/JY9sBVCcKLOZKqetJvloDl42eCup7iIRFx5Jfqwm13kG3asFpNGmx2sMqBOBDOUW678
72byOABLu59xZkb2VL6ign8VKYe1azT73CGkxqbkI2zgFIQpgsc8Z5SCGZW5g0jQHmyrdE70SB+d
tHhaA9jHreO6cajMFZDGei+yXGAok2/dIIsHL1WnxLBPDFbjcSK58s3QyCC2ML5uoeiDuTIha2lg
MYDNDBBPfdQI8o8EoR5Va1dLZLYBr3ZruwhmlXGPaQian2lnZ4L39tWZjE860tVtazc9XAXtRDky
GIue0PlK0AbkHFbCqcOY2lfy7T+y9b8iW9vCFFjc/7kR6O7n9PH5F7/8H7/lD92ae+ZvZId4Bk0+
OFsg/n91660H4U/nD54g02cGoIXAxd27+YX+dAK5/JLLUGYGjo0QQpb933EC2diL/l6nxoyOfo4m
/nsZg/3/IRay0dFT03fi1k+opKH32T0vwjJ6JnYe/AUPnNzprr141sapbi3J7pyzdj9TjnrEXy8p
DzJpwXEzmr1av4J2KTVw3NgGX0EueuvPweFIk87WqUN/2xpl3ULRTjgFpL+7rX9H/17Fw5lvPSnW
se/N1tSzwtDVcfB7gU+5gjfeZKz5kG8NP35f1MRnt9off2sA8kK+RAaPgrdjygFORnkR+sFZFrKV
mQ7m9BQ61spKsSxolkCFXaJqKctPALySNAs9OtE81/o+SdoBj3ma8G+HpAPHsMCM7p/bpXdobLAw
dh6JCPOrYnA7+8KCF75K5srlnBqNW+xowNHQePkC6TJO0GjpfKxr8WgHXfsYOkX6tGKuuZdbhwqh
4nFHVBY8ZgJZmr7d3j9BamtkXDjtmgJCG/VDH6gSCJHDYq0jVWN/QbMfwf/s5sRsR3lKLDdXxzqx
U+EfA5e6Fs5g7sdQfIua1GfMRUPfCabuxsIbOhln528Uk+53pElBPqMh5JAH9CfpN/K2Dl5LQodl
1FNFxY7QZfTTdyXO6jDZb+jPMOpa3oWHLoDsGSlyIV4K4CArkvvEWgwqI4A+0SczjILSHKkmfyTG
ZUxYT6UJdPlkDjMtNYBRqwSRZZi2B8dfT6su3PVgwCTgTK/ZhlKGPirVmXfWUjPUc8wNAy6FOipn
ex6sr2lCuGB913m1NP3nOMuxrin6W9cqefzPgfevHHjC8WyOqH9+4H0ZP7K/2HT+9hv+PO62gjZM
j2z7vd/JIH9n09lOQs+06ZSB7QLfBS/O351+26EXbHGiP4+9rbTNNIXpWr7r4+xx/51jL+Dv/cup
RzW14Czn/N2sOd4/NrO1sqXjZAmW2xAfxcrmdu6W5cAzF74SJhYEZzDRIjql3Q069PBpLUt+1Lmn
HxbZ9Kdezu2NzZj5UChodpSp6qdsWdwHxsoB9nZLhCUJICTNpmK5U9eek8xPkDI1n23FyRc6X7ga
Ao86qZqsiJfOE7cOsFAGnSmIspe2L5BWYtuy2uCX6PwlV6eZ5ho9nVOiSLD4E18bBf3HgZyeQWKY
zrPRtNCLOmxyzj7lMFlv+F46XMFo36Z+OAQ5mHaYItJ6QyenzoZR7muHk3Su8rtkK6CUuD5FPDde
8tLUdvayjq048Y9qd9WqjO8cVvlLUDjciDpQW4+6de9GjSyzurS0Z22iPkLLBAI61AmyxhYB9MxC
wCidYD7EoV59u7kUOBY3IPRaonfv59mc5A0Mqu182lDnd1lackrRFo4aVpZGiukT0gAHmpmWxSYt
d67tH+1cgzaf/nYIWmaaWHkV1TiGSv3kVWbew8MDccFPoXZtmxK8/5wI/8qJgJK3sZ7++Ylw1/Zj
9l+7j7Id/2EQ+v03/mng835zqabi4+wJ13fsvziiORkwBYemzW3xdyve/5wMv/PMNyYQJwcHC/HA
Pw8Ix/0NyIYpuNPbAY2g4t9ySDv+5s/7X4e0g3OPOCM+Qp9GqACg+ebv+/HxRHX18N//x/q/HFlc
8LRvX1fc2+l6JGq9jNROA6Gq2Q0Yo4PdoeYNjhXHLWTE1md9R6wDPQvU4DTQ+3blra5IFhv1IYXY
AnRwHW4huJ2yXqhLAMxsh8OA7DVMlmci+F3cNqlxM+aBFXXI2s/UtuovBbyDJlJtYeD4l8ToBuig
3sAEw59nHWwpc5JVdLEeC0nrAF83PQIujrQ8u/UESEB7SzxlMnlkl3vPR4IKFnbpDp/qk4QcCvUm
KKm29y4Wd9WEDqVdlspP5eIIV1hj6U3s6T8QzXJLp3VKEpzJYjJ/ZNBcQb0Oxj4pCuuwmOt6dFtq
l5vUPjILNW/hQonOQJcFG0Xihrq/72Hi7I20HD96exSHyq+J9iLNnkTt8ffXOCL5TpGVILrGglhR
qIK1eFeztz11Jcok1IQkmruOBPxY0OsUgpocyhXbDttWxUm/6dy0rpuuIOcCVHquFRYFDMlkXPzb
zIKqZIn6CSPXhkjyj2GtTp3DwJFUkCGWsIXzI7Y2w8Q8Uj9l4RFbXt1xWuJp3P4RWCZ3I6zdXbWo
FEO84e2rQH2vKU8XsCkvXWPlNwQzllhQwNKuPiVWVQczAlS7KlFBOfn8SOL3CJPwQlTHjIMSb0W+
JsbrInLMD6ZyYbchMwml9QH2Hx1jE8ZwG2Lhi19063mg42eHB52MiLZALhEM3REIc2D84WJwg/So
FR4yiZt9j33wW6c750YawZm24Tq2XQF5cujnSFT4bgQL41B2cldVxr4s5AtS42ug1ysuRz9K2Wkf
DKJpe8tcsRaxjVzd4lshR+dYgDCh7oNaD9oO0Q7t8CcGtWI3TqG745l4qUD0eDOPRNCnj2FbtAeV
lktsM16TtAU2QTlwjNEAsWt0z9IurG+Ls1px2Q83yF3f1wVKCfHvbl+gip/cBsw4nrqArk+ehbyh
JNtPO+cEuh3qbrbwluP+vSut/qsxINeXvk52HlCgGI+HPFoBP8FWhCSpmIxJrhVfettLbxszqw8i
+E6S1bzolN5KaIDGS8VqbPOQUkyFmp8/4cYLqFjxTIx6lJVTpNG/mI2mwpHI1tMKEGU3DOvtMPbV
gVTgTIE1Yf61pLHItU1/TzQhjUbbMB9yr8dOvpb13hog0SgYAbtsFDAb8ZCcLeK7cZ4GQFvs9Dzi
qL8ZDFPtDDvrvihX8F0MEP9semlij56UnTtDjDJdgNQAKcwvS+JQVkQhC59cuR5GwFMsKVZUyLVs
nktDLA9Jp8yLNQ6zG4Ue9P94NmA8AMSZgUnXBDiAfO0FpNYDXyo7UAPHYegZ16bF+tCW3p3hlN/z
ycu2FzY9WpK3uQpocfNXvp/dOrik3yomAGH+ovwloP+kdS+UZKPNeeOzGeRn1UzeJSBIwJ7RffKS
Qu5nE+I+xmLA63Pl7RwHKwF+2B9qrJ7yRT8klnqoKLCNqC6wjktu/KyZYQ60y96gXF3zmf8/SuNx
9nBNNU7THPwU1nfdD91uSegQoKsnAJWbf8gWqDbqx/PQ2hopBJBERedENAfwXCwzoHw8B5TaN5JH
ioX0LYGVA5PaRygRnIOckWbaMpx046UkG8I93T+RyUftqB35c8IShMpBOsHtiVWblWVdgP+WB7jv
QMIW9t0ooVzgwjo4ZcK8byv7m+cN1yJ1ivPg6tdgHlBxcugj1SK8szLz5iUMp7eKG/Cu6/yfXkZh
55TkRA/T6sW21I3vjP3m8bxgE+YS1MIT26jUjdnjBUzAkwowCmSDf/W9Mnd56NBsuqr26Dgq3yUw
JPYSCNF1od3s6Og+iOBHhacKQssgQHMs9KgvzkKauCEp6AFunuxF4qqF/KAD/sZmheQ0OfnDQFVA
YfES0kQ6uKnhYwLrWR1ghwCigbZN6z1AUfgbN4sczmlPXJl+BiNKR4Xyira8Y+ngvVel/jonCqVq
8T9bDMGUfVQY7HCXHqm5MJAAE5b+9RTeA096MCm8i6TjbF/4fNvJAcysa3e0+D21BT0Gs5cftAS+
z4EGXz0z3lQIZJad/KdA8OAsVOocTGvPWUO7xZIkHpK5zi/Z5LA2B9u9p83IZetAEUlAqdkxX4V7
SP1ZHOyqw+bldNYx9Yu3men2vBrByzION5gLsXAY6S9hdP6lairIIn6F0bXzrANdVsHecmqTWh5U
55aoNDXkbXLo0UBo0FpW0XzHLLXB6HI025Jn1iAXftKzkVOvpUcZtPPriNLr81GUWEeqSPL01cF9
4vbh3EU+OevtQ9YWtTuIk7Sx1lkUjXh28kWouREINguMvyDFotZyepcRuJE538jwiftEyZHvQSSY
NHiDSy8AqIcxdZxc3bBhV7mREaanAq7vb/8zXv8r4zXW44Cb8D8fr8/t/Jex+o/f8OdYbf5mMUBY
5Fj+HsYREolxbOQsm1UiDvYNpPrnZXtL0njctaF2hhuLg+H+jzs3gE64meA9yCZS+LP9rn9j1ciO
8y8jNXkdmE/sgmzYSabtC7GtIv9upMZ1NU6QxYKLKWt9YxQcyzPpgict3PKzbqb1TLqMPBks6hTd
DL7PHQaF/h2az4D9xh+MByv1UfhZIE4PDnik13IlSXwjc61/ZCNlM+dWCpnESUPUfHMxpAeFDLVP
dMVu0x3nR8WqEyzyUlfJJSuC6nOaFvc6SRW8ZrotaJVDAoamzAZiwbECbXwkJJ+FwJEnF6N/kQlJ
fwyDFlmDWnifhDUpVzb9MxmR9a4I9fQ25tJ5KhNDrWAhu+QXFpz6PjWm2xKqPUNmkxfvayLkh5Ok
05tOqWC0cUP8MoToyBikrpRRr/2HDhModJFFDISKU30LTRTLUshG9ZdfG8Zj2xRAoPypTu8mw8aU
6nSc+ClIphxClnCudlaUBHtI34SRniHqrx23j4ry8b07Jdk7To5UA4isg+Pgu4I5kAbs58XKsnvg
BGeXPCFLyJkpMUX2u7hE6I4mXeD43VlpPNcAGckBNlnlc4ZkNi41y1bsdykJQrYEyvmJZQYc6BJA
WoyzaiLNgNswpv1dXhQJIyo2LWQeoEheXEkd3vRIOTABSM3zOu0CuFZtCGNg8tXT5NdwgpasPZWG
OQA8SYIxDvOabKGzevSfVvN4sfzAiHmn881BLxojHF3VvUXewYyCdAVc5C2tilPXn75WCiM1xoox
uLGQijPQeQt2ZnyjIYQLLxl3aT0X+2rAxEUTB9q4zuUSUdFBbcKs0XPNfCAsUNQii7wMYyByza+B
P0WdzI0ZtjMC0f6a8XHTgTevzAS5s44/GtaqxgkLSvWaKF2cJ9FI/ORLIc60XE0fHeC+B4ztyEtd
4x5CGi0xGwgpUOtDGC86t+b7dRzS4lWabHaw/BhB3pJBWY1xPPrWlGPn9bMHGn8Wq/rkp2ujRGZ1
n/O9xTSKZ+CK2La0+R3b2Dq5Q/EOuWO1iGzOOL3P7uyBerDsL2nA35EMeH2r9dkZ8HTywiAHPFrW
1JySxuoORotVsuETGk90TsPyc3D01WXNx1v08cJ1qktLpqHG6jdlqt0PxHRiOVrJocjKJTL80d7n
tCdTSo8SV5XWjT2GQPBNy4906zyxPDxVs+kivONwWMze3GuzWU6elnzfeUN3tBXBi9shJ/MEOo00
7wy3XTyGcQX9tIeYmBfreLHrHkIoLYFnocP5qsSKwkfF1VG6SuEdrFd545EKvtgUoJChYYCM8tZz
jzi8xicjHB4JT8mohMC1BuKLZXAMVEH5GeCM3BVM0VGbF8OLoTAw4vf1Y9ypGZqcaz33dLVzCaKS
AASKE0amBz0Dhz0MrTkN4skGij4pPGNO8xo6UPxSPGGRweqtGNMnjyqWfd1iUUkkJR1FbmJbA3UT
nHpMT6CGve273c4vphAZBvolJFMF141dBHU3dmE/eZ0auN6tdE8ybJ9ZCuJkohRua6Ec1K0LEmMv
dQFNFpT+m6gc56tfI2ZkJQ473WVgWNTov/i+q266Ge87h9TAmQIRgbMydxPjB450TCZZiQ5qUqUL
ZD0lGE317c8Sov+JnLBzUiSOr7NlhHqfDqk+JDbW8bEx63ge3DSmi0De1WrKj35fBzdlb3+YHvgU
OmWmg05AS7qhHPcUI5lsVvmmPM6wevY4cwDEemnFd9sWBR9UeA/hjzxfeIkEYvPDbjpKnEGgueZu
NtwXQwBZ33SN/UTC6ViPtrk3A9xK2AXUgVmo/ioZcR6yMe2WOOXH/7WgJM52FZ0xpW7uLUI4u6VK
zRei59jkF2d8963UefblZnySGfE/S5qHqnPU7bSOwbkgIVlyxzDoPwvsikM3y9UzmjNlVtkgPsTA
Iy2EnK/als1tYHXDSRuudT8MLjRpalf5VM3LM+K+F0S1YeV33LKBgMCFuWKSw1ieuUU8FUOJKh1w
ZFbpvRUOBb4dI6dQS/lBVE6BH6ec+TtRjPYWCsrWCz6d7FBDp4KxXiVfMqpCcGV07vCNZDhjIP6P
/IpaPpwGO8ELuFr6ez2qkjxOt76ISWBsTQqf3DlBw5TQ//CFviDWZrSiXSkgRuOr2AHzvMnsyfWU
9WzjPjngW+BShmKzxB4lt2+d7AY8kyzYs6GFz8XBJE+80fVHVlJPIzLwp0Q/LM2+WFA1YVPYXfBU
XrCqPI5qGQpQQMKCaYgTe+No4Ka3SvMrGaKqOVG91edvDtiRhrhb6yneRKVJJczabuHzRqh6ryxQ
rYuYdL3vTL1+BuMET7lcIO7gePajDOgBiO4eRGsKM/I4m/XLrLU85mQ/9zykyZkfZQVguakexQat
chv/olLsbdJjEf6f+fhfmY+3ckl08n8+Hz9vBPn/ij96gq1/Jdf98Vv/mJT94De8TabveR5dEh56
0p9EjkD8JthNb9LQNvNuv/LHrCzc39g6sw+mbJN5Gh3qf2ZlgWIP/tn1XcC/LiOu8+/MyhSg/3VW
dkJYIS6iGH+mJyxh/gOgQ+V22WCCa0968q15H2YltlxyYeExoy7x4DU2VjPO2OAxzAXwYdx7+d3s
6XY3VVDFdmyYrZciycWbN2TLQ+vZzfM0eMk3dHD90K1i7k7+vLqnrscDTLDVcm9yg1oov2Tqjeft
rbKj4AIXVsbOXVyRh7O70moNjjEgJhe1Sqq2JAYqEgHLMnPLZ1WmIdIWza+hJu1Ix97iHEpjcO4z
q9APZZbQAt9qMkamNMSlT6BqEMlz8YYbIsPYQryGXQDv7lvb6JMuHm1weqoW4jLzyqW+PTcbCsXl
9G7WfFE7ApfjT/6W7XPpUCwWJ6oZWGh3sDv5g6uFyhBXnHUCcjTGAkc8EG6qe8pN1v97sZr1L0ol
3BPEHv0AJYvPsbXmyefKYcWb3pqHt45+O/5cvrI3ZKfhrZnN8on3JdsonWcU+yXNSzcE7f049NNy
A28vpa1E2Zjhk8wPtt7KyqJs09r4VmvWBY/Y8Je99Dq+kYVFF01kCjCxEdQL/3HN1+6blfLuSap2
xpC+9qa1S9AqMMBVc3vwA3ji7uqfGXu6+9KS4QPoI1D3hRO6J4Lx3WFqZQjvPZdHSoPma6ZC+6Az
qh/j3G3aZ8uSwaPh8LSwxawB1AfuqbZYrNZJb70kbemc84WfjlHlVMgrv70n9jAZz6tTY/T0C+vi
DOyeZFUqB8ue7Q4nXA4j/2ZLHESD8RyBXr73eJjeOhNkeRyurLsJHbjIqEYd7JGPRg8r5xI+6i6l
6nxxwme7z9NHDaQR1JnuDTJIk/gG53sYWLZA7SDcb8wfwcoKtmT0uHadoIONlHR6cTQphFPiy3El
P7TYyzFPlHG1kw3oOGOK3wtTBw3FMaAOKW9zS5fl39ypJy7Lbknnpw4fOlgfIrJ66kQba3FuM1au
AMqZhQyuDuCUVzf2rH4Vx1QvvHUjoyjQjCnHq8r+tFA7GLxLOgCokglh6GSdJxJ+PhulFylayS3k
QY1M2lurjTGs7Q2uDsxl5rmScsnfCAqFvMz4T0961Ta/+klqPOM9xdhcJrd+XU83+TQOb5ms7xLu
AddK1QBkCip6eIPZglY245LWpt/sfPwpX1xh5gfsvKjK67juk34pD6bHfx2FWZ3lSqdfPmLFNegY
vR2KTKLUjE+ADTFiVp3tUYFtW8wMPEOvnkfh0omPt/HSpCI5gqtc+4hVNDBHKBwUPBY2mPNSpwdj
/N242vA1nBZKNBSDra12C7mbG4NM4LlV1PlQgf7UrsF1LIbkTMPAgGzV6sucF7irsXPsnTFjm9fq
I6WfxifqyV6y+4ypDT3qgDUrs4kVLfhg7oZFP4N4S1ECZkz9hftq9bS1osuriKtYe49z84nkMrFA
mlcjYwixoThoEoDIWOV2HoJyM8RD4Tb0X3XDT24Id1B/k3fZlzObNlkRVZyC+4JmIeIlBKCcapge
LAVOU7ZGRfk8agBFQ3e5DJZj5ZhjnDEIHBarBIJg8LssyNawgXqgilgS39sElC96+P3a9YRLy4Ro
0FYYKdr+KJOmPxSeYd72fQKhjTEf8Gf7PeS0PTa5FexzasYOaLAF5eAAI7hyy9PasvynmACWHl6E
G8LjVLX56bc2t8mOWyz4S39pdnYIub0a2/5tLuR8gt04fmFgHnkwZuOY9vqX6r3qiL102Y/9bL1M
lp18E6WLjYk1vnP2CoeyOSOwzbPy2rlEt3NcivZysM9hb+RRl9LE2Ckq1wA+VjEVa/6jIg7HspRX
U1EP+XHk9sFT4a0+rGQuNFCP1rzYBzIfn8JBJq+hdPnIunWCCqayOzYP8ntDhwizKF6sr9TA1bTE
TT3hBjs41MMYHtt16t4JBphvJJuN/UiDQtzOzXrXBHbLmnnuT7Wog0eoAM0tsq5xz8Lz1WfzYmLf
Z7hOh9W7o+jU0lwpx9K6uLpIr2FZB7TsNlt2e8yVH8Ono8dSeoQenZmYrjtueAjbAiwPazta60z3
286BK0xLxsTv/PJi9Ckh0y5V7JqV8Tp25vDGE9fIXa5mStWgKaJ+tI96Hc07UeD1Cka+06riMXDm
g6ntIdZW5qAGgTKfBtq1+8Qv/h97Z7Ydt3Jl21+5PwAP9AG8ZotM9mIjiS8YpESh7wKB9uvvhM4p
W0yyyDr1XA/2GLaPFQISCOzYe625XqzWLl46DrUbN7YKxCoqZJwjbXc6loIv9jqdGnx4TmLcV3HX
fyGDwPuJzDTa1pifz5vQfNR8Aj44qX1DBDSulpysdWs796XtaHj52gy1Kv6Z3mCfm6cmJBvY3o9W
+hi63Q/PhD46V5xciWDo11YyfZs4em5UzuBECPlE4jNWdgtfSTxmW2mY9UsUCuIdUw02n2elQW8S
dLE2mfJtoe0a13kLGTxrh+ymNNzLMlLleTHLbrsc0KYVx4Zl3BHLgfQPggYA96uQEXz7s0vjuwm5
NiKjNX5UCy+C1eeBMNJ5gzjRJE5l2VxBYi/FTEPuoS2hufCVw7MfJk9mlt1pplttrKHRH2NTJAGY
DPEiDfml641fIeM1TybN2tfEd4g6+qZxFHKgTBdHf4LtWuuLP8dqvlfRXO9mvzsOJXkrBDrWHDEb
IkCjnrP8OBW4muqDM9HsT13jPiHA5jznmQdbwjjAQPGzN1MVr2s93cs+B02qxlt7jtudMS+0yp75
Q5zOPxX1J43JrrrFQ9ivF+onE+yCiA6UcP3WcStMuGVb7MYOOqzUvB9hZH4z0DV+1xvHuiLcDU48
oK/GUDxXzo/CxAKVzF1LzGdSn+GDrEgFMF9EMaypC37ig29iupmYOgzShQKPM9+qtWsbVXlMVJ8H
sZSKRXwxtIn8DvCgOwhI4xVWqfBaEtkMO2ZT5XJPePllPLWwVwQzE3wtERrTkVGbkRqXFll4Iz6I
L+Ei7WEK4aDvBLjzpQNNC0YApBtnMsclJM7mk35OBgxtHnd+UGmyX4rNxiivsIOTIzv4iz7rF7Ik
Zh5Fvoo1nZjv9mrO8TjEeCUlE7a0Lh5lTrrD3I53A1Lz2lBXSisvqNYYpi7hFyAc4IrCtKEGZOA/
pbzmBPSScexYND5Wo7Cd8zL1vHO3aMp1jKsfQD30Oy0r5mtSN7Kz/zv4/U8OfqaNkvqjg99VnFR/
KhH//j/8fdzz9H/BGvd1ZENAx8GBG/8579n/8lAbMjchJuxvTfZ/DUeMf3EQM5dgMzTSC0X8Pwc+
71+8JTqpYpDFF7HiPyKVGxwq/5AbOeiPfMMzHUcY5DGZjGFez0bCQYv6uHQczkAA/DcADbMvcV6H
R3iS7K4TRw/fSoFhywQcDkTpI47f+juKhfHeKb36u+2m7VfdKtuvOIHM7R938vov2dP/w9d4XSWl
Qt/Eufb0b2fSa6Oa52jrgrZ8/bfzO0+GxuDb1Gp29eTE9njd6HF5XjojH/0G/e3ex+O6bmvOD6uP
17ZOJeq4oCwHNOYiFxOey5zq9eqIfPPa7RLgD1H4rWjweHdDl/hEqMoKn2/tiHNT9wiMsJbsiNH2
k3sjlcnjOJcz3PaWkIl6nqxjlKNbz/iy7tXvOArZVO6NQF4yAZIVDmZXkiuMmhh7RET2ik9PiPy7
4Fxp921xFZMfVq/prxsUvRTtMBaF2HTdTCHgdbHWrCzFZ7RPXfN75KGfriir2Vq86ky09GPpWHRf
Yr78u+p3DIemLCI5osb347W/JHWQ+6F/1aTUthh87zoOfwBQ5gZxgnDr8pKcmQhY4nKkkEsGyKQV
Ic7+meTX3xEhs0BEuopCVBlY8OCxQJn5xtZErghVr3HuDGTkukvsiDcwTAPvQ199pf9OJuEHcAOP
dNrdEEOoH30zAWqDyJpetdl88TstvdHbJDE2xIDp3/NKdzdVKXS58eLR3w6dJZNdb40e6BJepS/k
eWCPRW5Aospsx+rOgC2+LZUYOnK//ZzxEAiXL2PSoX/B7UqkLV9AsMpGFhLvHaoMnYXj1gZW9Gi2
zspR6hzaosQc+KwyLSDFhjCYOtXsAIGMqdGUYOsdHOebAO62jR23vKaDMu7aqDGXswp0Nvt34Eyk
j8YODpwkzm9wrqfcBIAAK+FnE5v9LuPU5Kue7Z3D4YF5avFlNqce8NGSdDODpth44D6fYrAgwbwk
4vh5TTZOIiukNqaiG8LBaXLXaCFGFE5Lsg6nEuMs1LzxSHZg+IAZqwu8IWY6nwsnfrERwF4Zv3N6
klIUL6aw8aKbc0Pgi5PQIiEXllQrABGORV90if3h3buNI0Ysl12WdE69gjniDrcE/iQjOcGirPo1
hLQmWkNDLsF01SrD8h6HiYdrMd2bOskaWdYXBtV3XCAMrsu61y8YBMnkqU/A3QV+2dsm/WcZHmcQ
V4dct1IQhXhU/fPJMaunGYRSR5xUN+LaMxqN0RYxzNS6viJ8mm4LBCrVyVLbUgtPFz0jlWnd6kJh
NOu1ObmdoLNNwdQ3uOm1sKQNVZUEGGyACUX1I0AJpg/ZoiTEvO1gTo2GTA/mJor5FFAbyngAXdcg
GnpqK2EdDDkRrqiRfnaYsjb7gvh52Qxjrp8TRnmVzp24NDvaI2vN9FlNLtc2xaFzK8OZJlsDpIcK
kZAyRrgcdSBd9PztUYTNAWfROUhw5X1vQ6f6PvSmT9KP0+MCiwdeZOZaHRg8SDzds57KTr9I8c7q
lz509o7zXV09yTZHF1dr+bz7vZUjj+Q+kd1ownf12EczTfWX8Mfnh7y1tIS4FHioC8wiNMOcUta2
jemJYZWEWe/9ha7P/uLZ5xPTB+RjBnOjbyWBbXDvNc0pn7pJAcWb5NyeVUyLLhvAqf2GPkWl7YaO
/vrK1mS9b5hJXE1l3KPXW86Mq5aG3Q05VuaVzWxWrlCz51fSyRlVl5FbORtv6vvDSK0Fgxz/WnFe
4BZM2RJp+QOrqu1DaaBSvLQbOWJCtYiY2ZStFI9aX8Ko4uZk/pr8xSUTzXMnfLoxU2JkqmKAMaVV
l7E7Mfz2XIKsQgr7Q2SiFc8GjsKtoe6tkRll7/upszdouNwAuLLyjZbZISOv2GtsWPIJBjuzQhJr
g+ThxKhnF7HVE2tE7nd5To0q78ysG+l0xJ3zw+lLl0LWMuIdB9ttapLChrneGc9tIPFnYQy5sBMz
BwdEN/lhbLza2XqjNM4sLVcHHyOKWPEAaXdE1LMLgKcHvMCxHdJvUwhz7ZKYCBOmMtH7T0qU055I
p4ndr3dTufjF8dBEhBmNS6xRW1jt/3n2Xv4nhSPjcvvDwvHiKSlf/qwc//5//F05ui7CcpekaMvE
dmc5PqXZ3+xuYZBxowtaq/+2q/xX4Sj+ZSNeN4m2/VuO/u/C0bawxDAq1SkeEbIvENp/oKo5rRu9
5Siv8+f4+D8R+JzUjZOP+wpwzxxU4RbUqjORInr1cQH2dgk0LA4VGKhpxgDGyRLh0OVaRIRdgMac
nRT17QTlx+WW/ntK806J+dkqy//+hziIMf2Ir5dVRPnYao/V+KKcv2Zm/9PIapsO66sLWaDofywB
tcfmw8gS3Xwj9BvIH838/PFVLH/Ef1wD4INJaV9yqn0MBNTz4mQJd0RF3muexCfsEbEON3CdYPwj
2HBP1VzsP17tzT37vZrPeMijOHYX6darCxqdEe+0oP9cRWgrW/4tIb9vm0d1vvnnSxkmQxVvOQTY
p0FKeuvWozkaXBhMg7sxtak0adxe6ApRycdLIXd7cw8NfBf0MOBkkg39+qqMzNEnUs9lUEpyZrNc
ZYErU7zP4wx+JBqLPUPl6Z8+G9xK+nQ0gomJho97sigeR4jzxMUEU8ZdRHQPXFICv6Ns++xAcyKD
+/2MmKRR4bvFf4bR5fX1EeVbA5HQaElOsbXkfRJMrzVeeshM0taIlWiu64lGZJbP8UWXo0n6+P4u
T8XpM8oAk20LWR9OmZOnZorsOiZcFYpSoRECWnKBbjPcf7zI6YlxeRE4yYFKxqisEwL3+iJHo1KT
8k0ZKNUYe0G1C/NVWOFlbuo4PTEAMxhACIJYWe4+Xvq954czOZp6yunlPP96ad+xEdqblgzwkYIN
tsh5IiNkQleo6STZwHR2VlNM7/DjZfEaLQ/J6ztLTWNzsTQZbAjgJ3e2zTUSr/pGBgAF5I9KuDpJ
dvoCOh7YdZyQyC/YHSGaiy48WlSMu7G1+AnSETn72A/7pJbywYxpYUJiadMNsvYb0wGEvKE0G859
MDmgvSTuYzX2UHHD8DbRTehHogDmO2UAxUQq0rMWAuIa6ssjsTbg9LyWsC+jDzr4GmhoYn2l+aBP
Mk3EF3lNdzdrGAy4nGHOkPunh1jPxRkoQfe7VqDcWsXOFF8ws3XP8iif1rOuteDLHbJ1osVek42K
MO4u6847v5jvE8V/jGtStlPR/HDNQhzDBEQb0uV+0+Lz29tmew4TSN2P5WTfIPI29loncrwZMj0g
h2bE3Bn2rs3YQ8VYGwB68EqkFoRYNqH+iyUUf0jmqXMxM6pgkmRC+CTVE4oZCQJVyrYbMTu4CdN+
+OErkoz62eratQu9Yy2A+uHtmcFtueG3uCaGZoPrer53B9IyCBYyXqQcmV5Ah1K/tMYeQaykuXrg
UOzF5MEq+6bvdf6g5QYjMrgAMm2qVaGWbDP4TTjHQ8UINrQUkr+o2IYoQVBBtuQB+RwesVek2iVi
/xfVajbQF9X9TOfx3p7NFx9l6ffRRA5ld1qCaR6FoD4h9FvJmBepHOwXPJnSX8VDMwdpw46R5qBW
V044q4dO588rQPNx7mP0UPhO+5Asj34+NuKsoEtxURdDyHRFGvsOGCsSKjM9wIPrN76s5W4gF2tP
iTqjwnRxdfsMm6hyJz1dz7kXHZ3JNgkzdVnAnDnkNilYnMLLArCX/W1Wzd2tojW8nqW/xHMTPXST
RxNSyTzMjt5CE7U1PHFU7vaVBxaRIZ9lwNCStblhEi8u1QD+95CaLvbynNQHEBkJ8/OO/tMXuwuj
mymC956WXUYwJQ3iKzNnHBhHkb43bBk+M1qzELuaWnhpQienQRILAcvGKOkZhKF9NcXSBFXKCR11
sH2catmcN8z4vzBS6A+uX7vXoWZp+7aOrWtBVPX5YDsPjADmGyVibO2j0+tBFzeueWgk2KCuG9Fz
4bYLnxUBUmC4BrrvFrOefTXF3i87zbxfWhSqdUu40pmkr/Aco7fYRl0DJZ0EA53UJeWvQsJAuB8h
+rmNMY8/czwMpNb2Y77lPKwHRkv0LwMpcwHM2Xc6DuVtOHmIHyyUYntPlHLvDPbwzTPD/pHhYHyj
F40e9Ai7cNN0Y7JOREIro7AN74eRIV5tiq647DhMPUnLKi+gf/tXozFbd7mvYB9wYOH42yANGUw4
BxaTul1US++a41v5NMXOcIP0Y7we01hdjm3jnhujmJYugnOW1dC8jAZ8FFIo97aeLNJU54mT9KB5
MKV0kwUa9MIxCL5Q3ciZ0fWKhLVMrErwXJsE9SwogUH/ZWOEIdk6r+Jb6Kcp42C3DYyeTSjTinbP
o+GAkPCdXY21Zk9oKAlxoJlbALKxve10iFD54JJ6F1cNlmazQF8W9WQq8tLE7ib1yZsBzTxD8+oj
zDTVfJyyqTlzaOSscydk8pO6pQ4itUj9A01kZwdY1d0IrHkHp/UrgERjhWos0vYyzhIEsa7FM8GM
a95xQFBbAsXkQZN6zmUwJN6FiBG30KZCuTX13MfJo7gPY0WBY+KAvi4pAp4Rxym2sT67yZH07eNU
n9aKXeAxSfx5W5E2Hihy+14IqJl3ZuQ5Z2Zp4H7CowUPUkvhkWWV8cxRc6Fd+En4q/W7/GFqSf7C
pQ0vcPnHzdJ1UHLb8jCNGMNXsyOGqwEQDiPSScGuy6ppyzP8O4fR29hIReTq95JoVWj2ui39aVQX
tEOsXOnPWabar2KEWd47aI5pulnaFoTzdFHWUbpGHWB+scsx/J7acfXQJ0WxV35X7h2gq9tkNnDX
aYsitNH9Nc2U7OhW3ZPnW+oAJRMzd9SldB9COkF83jM2T9lf+krn9pUxik5p+MkFSoT+wtAUzsnJ
qMag0nygQ15tWAQEWygSdQ+LPdrzESRu5QJ9sgmiD1RZ8xfWAQ8FfpK5t8bY6t8UpKabBJMigfeF
l2AN9ErqGZd+zVyDr8flPoTHkTBp1CNdv65Eo93ViTsMSytKkdk3G+e0p+Shy634p2/wT2c5qOhC
us5ZiKZ7H+Hm3ZgNAwDefs3bcxCVBwuB0MPgI/gqy8a99RsXqj3pgmtPqXIPOT5Zy+VjR2eXXk8q
xuvBFdrWMnp/XfmooOIQMaUlJ/vJKKBMljUPOJmm2XHmiV4L3UZKa+vlS8o3/GC2egvOlVEaD1J0
jdIjulJp59+WhPyuXZvBZCLrcu8hXv+mOIsq8hXM8DwfSkrxtigZXIbaeK1UNt/M0N5f+jLU7gtR
h+tZ0f/ceJr79++UkXjxa9L5y462xYAb39Slk+TaXYTa8prMuOmIUa7bas6YQKlvkbjhP9phgXS+
Wt1kf+1h5H2Ftzhd8qWC79LE2mZKEm1DpEIcCBguF3OkyS8V2UVbRnDFlnBUCCbLXVcO5rMKOO0V
UQk7vYQd7Ms2PXNkZSA4Iceo7AiwxFmt70bC6c5EA02tXIRDxaSsbU1S5ZpmtM1LjPLs2JlTfhV6
RnQwihiVx+9necbXeuNrNpgxmhNnM8lsl6ItF3qKiNaLyJ5ECEgtV3oDmNOdRvebH9K5UqEO1N7D
jrbRZ5uff27mC7hZMwNJYBDR4FsFqU9ZzBZoGF9iLXnGUT1esilgD67D8krImdz4ygE3PLX19AAt
1cGpNWNkmBHJ7oSRIQ7DbABVXqRXwJm1XWeZ2dEGenmWkgBzbYgBS7esx6tGtHy6RVziKkDpYiFH
K0S2MQ254J6N2N/ybeoPSC6AiAHAri9wEAJxKOk/33XVWO46NhxqoFK0Z4ZtqqsmQiogO7dfR3E+
X6AarI9N6A47y2RwTJpDqd2BTcU14BVwM3ATIaDr2TagsPFqKgfH3twmSNO9fmmP1325V0aZP+gd
j1NRz5TVfmI865E9XdhF0yLTGPRnchZN+LBJZa00u8X40/JiQsY0j/M4zDcyE+LoDva09dQksT6Y
fb2yph5UXeG79ERVv4y1kBbONzqZFfFKs/JqgXG5452tNZFaMb/pzzulodHnH71OLXKDCX9twoBO
qr1PdGs+pF7owhBM9ssVXQmm3muo8/ElkkMkHl1S3JpjJgmZT8vtXMcaSplKQYp0JvNxKicv5dvQ
3KK4nmiLJ9pZFPbXXT0JfIP0kYdUe/EgOu8Mu/xmdWRzkHUennMZ2SYHJUZBF7Vy53ly2AKoN/cA
f3u8+qE6I9hSdvhv8ChTIcbHenawPaEaJe+CJnTrFj9Eqf1oZ+cKMQp2x3EolrqtQfBMTqKYkztY
sfMadmYUsFvtuRE9NlpEi1HI8Q7hyTccxHJNjFlVIWdqwg1IJixellQb3VPaoXSQEuSi5nrL2rGp
qohqYccuL8Y6vKhLbLYZKaVb2P8IcJh+dQSZpfFj1PVOkJH5Nq+mbuyh6s7VbQ2jZibqVUfvAcTk
LE7d+hrGUf0N9EC54qtefG+1uvtR98K9FQaDtU3u1dmh66f5aCY+ATZ53AVanDnjwgm3r21Pztdp
5MrbGpvCti86AgfGcRHfzK67RV6O6UzGiCDI8t3BIKEbp+fJMUqNqVsZqnn25VycGbh5gjnLHV9u
hipChLvz4DJnZ235THlvfB85jl/ANFb6WppOddM3Kexas+qG63Am7UBNaKlSDUGIAgu1MYtCJ+gU
JiD5FJJfcTOGzrMd2w3uYJxIV7ah0pvSUXjGk0l+dyX11Qo1kXmJoVd9z/JYHEmxL7+GkyB+qcE3
96AvX0jXKOqVHntxMJZldxYnHppItFZfS2U5AYaE4YhLrz8btCn7oexFFhFDP12hzg6vezABP4sW
z1fvGvZTS9IHzL+wFkcjM+1zBKB0VzQO2Ay1Spuzbot/H6akfW8xANtmoQPeHpR5fFlp00vWC++b
WYkFMzB78L0YoDhtngLnZfJKjTfzKYyLuCNAaIR4Pkl2sjRPiUDo81XtCp2fl6/tceJUsalia2ZM
4W2itp43bVLcoXT9NpaKhha7PJxBEJylj4M8M+qv0krJWHFzuheItZsOAK+v9pXvFndVVlTnas7N
A0o9SqltVEwhcQ8gur1OC6x20IqA45KrvUwq7yCwYr0xOtd7IF+mxMPYeXtOMcPKhOV9n1uaOuej
mF9TKqZPo2FV92mTNd/qrh7FvtacyWAK0yQZEWBLwiipwCaHKVXe2JYB9bWtkvExky4+6U4O6RFx
1Us0eAOjT884H32vPLOobH+UEIBI1xPtxtWyy7la8jaYNjETh0+/HvipzrO+xgMCE0IRY+FFlynF
0CplDNJuPc9pLmTkhutWYizi/f+JgQcfFt80EKDCxJlD1syRXNTuOtNpMtiYth9G2QJmnwgtMRjz
3bS1VT3TBnu003Z4tFFwzpDk7J1w0dUAfDNAmczs7LW2+Oy7/Ba59rCoKhv5xdHztliHbrtz407f
zT0MOIcnPtC8yt7HJEaemxkh0atMdgQFkqkapKkZPTtIKIj4IcPCsbRox3ha3HHU4XsS+cVjWJC8
W0f+V2jvw5leG+aePwVU99ioWzuxf4rcg+VOU+s5msN+12eDR/q7NaUXvj8P+15iIPQxDZEylC4a
QJ+bYoXiq+hj+y7pK0SdXcILK4neGEpqqil2/Z2jOXuF9P2aM8gDG3J2RUiLe2RszphpUO62zsvw
qfJhUeUSdKjWWOmlS5x4uXI0TjGmpLodW/SJUT+UX0p0sFS4Gv3mQh2UNxU3YaK516IhJcpFl3Bp
xL31y4iwkVXIl7eSEd8xxN14hZIjPs+RRt/adeovIGmAJN33tCQbMmYGWbDdbnu0EZtZjfpNGHYu
tjyiFCuVVXsG5PmtYsdFPVnWW1AF+l7m3V3UIbkdhe4eraia9mqQj7FfiiCNYr5YFIJHNlINbabf
n1PKiSN4zeiSkX1G/VuVvzpY6NCCVf1sNSmjV091pMfBrcueK0b4+plRd+EZcgbyCrRk4GFrzTtY
6OO01nzT8S+TXEZAR8umGaHJQgneNUSNcTSLpX9ZTjIHc4X+q3AmjBUgfjY1Law712xfxhEErj5T
qsjGkkd9Hn4IMIFHJzeLNUUVh6SmRxdpZOkBIbaxWFkDjeHekfcfFULhPhQRtbEd4qGlKsw3tDt+
tGbSbYg8xhGQ8n2dhgHIgPskOIKM6XzuSP2GGgruuKBNpHWe8cP28+HMrhxr6zbWQsDGjgrrKuih
7P4C1u5cO7pm3rSj/6shPuIh4tW7JwJRxhsM/egGfAkEBU+wIA3Qqfa6P3bQLcDRuCoiHBpV0OXH
jdC3XVBav7bOB5oWN9ooNFN/TiWsllBCoqlkIJo0B+rT3+Pig3Dvcrr1UWf8Lzr3FsMW3UY15b0B
NcGP0A1ykliuVc5dYzZ7TgDjtsHz+8m4xVg6x6/7u1wZKiiyI9HD0Nl+fWX+PP/d1HbnbvjR/m7S
T2H3E3sh8tk2Ny7oK+l715v1JwJvOFEiX/9fdO8t33MFQih0Ym+mB8JSZH/oIJNEZN84yGou6og+
6ce/4XuTJX7CpYetM/g85ePZY2h3dsEM5vc4pCdaZG37sNsNO60/+f3eG0fYGG4Q0tGaQ273+qZm
IySYiWF8MCC135hD9eh61ePHl/PZGifTncRRpsvbKgPDVBezC+HEK/4iRP63w8V3Hw6eP4Mfh8dD
vHk4/NQbpKlkUPMBu4g63TySUEe3vB+Sb7HGqIWwH31xKaJbAjF1AOLz2Wjn7auHU8yhj8r753N+
ORlA2CC+La3y8ckbaGcUUYFrXJDNea6lzSGr/XLzT+8r64Fo89lMTUNYJ1OehtrKm2qrCYpyZJdy
J+R0hvhkP3n7LFrM0LHd0d8xF3Xk6wfEjwxFbn3eBPhLu0VimKwJAjkXkFk/eRTfWYmL8Bxh4+Fb
3H8nKyFwm6fJqwK2NnwJWntmTeKulunDx7ftnZ/JELapG/xW7FwL+vLPHdKti8zyJSBUYge3Mn/S
vHyN8H+dNOHx45V+x8y+3rKQrv6x1MmwkYOqizSMpbrep3tX2tGqGIRSq9Hvu23Tl/P9hCFj79AE
lcBYQaPrsgm/o4bFRzGbapsyAtrD+W3p0lt0wWAuZUfHS8l6tUbtEA3xfBHmFIN2AyWqi2gZU1yp
bW6C9j2KPh8vh6qjjTUh0llz1kYlhIHikwu10e+e7M2MMmnuAwl1DDgjJ3sz7nbN8sn9C+Y2Vl/9
ooQaC8p+ct3kqUD5dexyNPIyD7/LcUHkgmFicOUeXBcqAGL0tdHUGB66+yKkOlKIKMuqIDjHu5gR
X63I6cUhhSALtSugjBCwk4mJDMOX7OEeaKnWrUe7sgMGXMNGKc9cs0664RwvzjMbLUNKWBI60yom
LmpYQ6cfNzZX6HO3TI3icW71ZxEO5ScfrbfTUBvLLEgYE50AH+OTt8dtWjzWblMGNMSfmlE9eXF9
ZVvaDsfYNtRQa338xL19h2wDlxo6Eb5RjH9P1gOXVzZWNJUBIsDlxl4OZnYAuf4XfvO/3W7fDtFZ
Bo0ATzdEGfe3f/YPLYc9ZjGx86CQGJfcEBC1qAO9H012T7l1wdELqJr5GMny/OOrO2XYMLxf1mUr
4o7y/ronj5lfF01RD04ZFNU0E0pFOLwnbe2Gka5OrFzuU5/iXwq3KiO7OC9ph2kdgHa3MfuDwzzL
SQftYOmdtjOUTcgsLVCiGOs96gZqNT99dox+CQKl6ZWJOdr4ynD3SS9mfFzhrZnZ7dqbHdypKiUs
VkF02ab8ffDd1C9MN41roDbzvsa3tkO2xH9f4FyMW5VuhSbMh8ZyPvsp3vvF8UpDuWPozg+y/FR/
/BSJ3jpFmQEE0dXThC5gNQ36PjNIG/z43r/9iNvAQv+9zoJL/3MdpJawXvyhDDwn19dl7JK1Ecfb
jxd5uzUvi4jfHm5m4Kc6fL1BqdnYsgyorLw1stNVq5tfK/IIVzHZf/+LxTzTJKPcX5imJ5uzK2sa
0Dh26DS5hHVX87636x29TqYGKvnk9r23Ebh823AqoEtjSvX69uXTZLkp/YIAsvCN2QqXxJvpK56c
F5WgUIrdT+7kG0vD8qoIykffthEMidNiZAYlzv2FvpCOeYyewTTg/cnhQIKHvaksLQ7sulHrsfat
L4kexsEUMb7DQAj/IkIZ71f2dC8YfjOIDKEVf3I/3nts+Z0tAwa1WMQqr+8HFooW6KFfBENTv1h+
9ID8+za3ODF9/CO/uw7wR0a6SLTeKGFashxj/LRF0LYYuqZcPZWTNmyqTt59vNBbyQ33mx+X+nP5
t99E2z/eQ4tsHCekyxgopqNxSzN3KG8IqDumnnGVV81dkft/mZH+2134vbfljyW9k1cyne2cbpRO
HN0w7qOuevHtnDGOe5RV/0kVaL33/KLfoxJEx0cleLKWGjy7nkdRsM2Y0yNUy19D4oMdIpsYE2wa
rbVaS9YFO/I2aZapmmYsPUhJe8vvce+nY/w1bLw26Exmc+g3mKjHSt6Ctqo2XpljiCPudTeKwXvw
HHZNKF8trQGtBWqQFTkmW/OXPpgMbiuAlrX+mFbdJcK7eqvi6iXxeuIEIbhuu2IyCUIlnjsuTOeT
p+ntHbfg9RroGDmCcoxf7tIfP3II0hNV1USZk4Jx6g3fOlDEjeTHkTiASdcagn/6VOGNFssr7ANV
5k15vWBT2X0/1EUV+IstlRlKsW0iqc5dq1Z7XB7qHLOzfmcnfvTJw/X2xQERR2/IxWcu3mopZURW
Qdy5pG4m0/SNmHbjEdG1cQdSOn35xxeJaIvDBf1L/nUqiUPrQA9p6viq95JJZ28wmGe62260tJQH
t80Sb90imsHzYzKI+3jxd66TNglVjI6CH534yYMtSJunlVyWQRtinm6G8i7CcrD20kl+8vC8Xcle
zhyGQDAM1w+e36uHh75uG/Gq5AHfh6/TVA4b08OhL3PL2n98TW8fU7oHfGfQOaOqfFMm1eRAdlHf
8dIY3bCZXYYpVno1DI67o5n88+PF3rusJTPHpNBFGXK6k0fwCko7b7gsp7ACrZ6WJPWJOW2bW1n7
yT1878rwo3EOpcxlydP3Ab0XlceyHWj2XWxpX5vZ+5mO1l00uJ+0FN7Z8YibQXXOpXGEOy2l4col
U6khrrLqfGsx//ArJ1+JvMddUPZHRg+fNZfeX9Gns+RTJ7Czv35ANLsWXrWs2Bj9MfPrp2oy7iyZ
NdgzcHLFnflJPf3eT0cfjfxdKiBWPHkiHYorFwx3Fmhdx7exD2w7A9Knf7LMO6Wj7uhIXi1P0Ew4
FUr3nj4mCX90ACdRu9NEaR/qkQPux8/hOx9gXi5gmuzMlD2nX8NRM0dIeEYWSIuahe7tOk+7X6J0
b8BlI5LxZhyK1Se7pPn24Gv/3jgEpy6f3fJk+4CLpnzkrGQVOmTrDLlPa72sSZ8n6E7bQsvGzTP5
uUl9aWfxWsx+zShbF3s1NtEhRxtC+qa4mydn8fll2Saqa876yym/qUznDKmre++bgxtEqnU++du/
+8Ms3FEG/B6F4vK///E5Q2YU50wr84CJU7lNJz89aiOzi49/mHefMmwSwie+GhPAyTtb2A2fkajK
AwyI+aqq+kDPjDtPqM+aEPxtXzdb+Cl8dzn8gpWiJf36ahxBgmXdlGxEMDIRp4XxYXT1cffx1by3
A7mUAJwa6LFz716vMqe6OUadliEIbHEsYXBF6NapLfXlc5/a/7wpRg3vLN5pAUEBFOzr5TyscHgE
eUWnLPy53DuZuDeFDL9+fFXvvTxE67oChw3V3eljPLZAQ+eKlydPHO86I/CDYDnnJwPUaicjx/sx
5HV6QJTafvKpem/Po65czio4AN70MBmH6KDd+iyIcLupUnuayRip04c6nW/59T9Z7b0Hni4mBz6b
RvGbI1/ONQq3brOAYM9sX7iOuBnMVNt8fDMJAXv7JHIThcnnyMK1dLKv+p05dg5jtMDrBv0B6EK1
g0aKxjSFjMG8XQz3sBcIZ64UYVRTmV06ubD2sYdOe55IonQi+HxGE3bbfPDQWHVd+lmz2nj3zmN4
X95MC9Dayesiw1YHXV/wtRltRn+qeTKUX61RiraHRHhfoaPitwY/SUaolTxkQ98eQr96jFFpQXxV
x3oo7ANDIX/1/8k7k+W4kTVLv0pb73Eb82DWXYuYIzgPokRtYJRIYgYccEyOp+8PzKwqMchmVNa2
FzftKlMkIgB3h/v/n/MdV2lzGirf4+sb+cl9RKfCFtTzrGDeH74f/LnHZ0hGttvAZJ7FZIDKEQik
wxxNmnr6+lqf3A54dExsTPYYX463MaahdBBzLVv70HjW6R+sCkd/kooTtBeUM0HRbU/sMD6ZdAZl
LFfnahi5j1+/fZOrkZRPvl7q/IiTSFuaKPHoTTbTwoLv/q1uhnqFwqrf/fPvahi4M2gwsUE8Xilt
SKBJ48tqN1cIa2i3uG1yHOYucOcsegBKFv3zfRsXnKv6pkEx2z56ksyVoZV2Xe00PaqXyuhRGpVW
ezPUlADIZzp1vU/eOVyPPZTFi43N4tEMhKZmA6zg1o59hCPLBtyv1xXZwqjcT3y1Ty8VgNcGjqCj
oT96IQgPOHxRckQzgqq8xqQLkc9r3bOkM4wTy9dnY9RiQs22wtnBdPQm7ZG5lhOF/h2Ev/uOY6/j
1MR88PySqL7xCWf4x4cjFrBAh0FjmFSwjyegQaxxZcqp3E3mhG7XG26brlkJyvonLvTJwoxViFwY
i0Yyrsz5Jv+xExHTgKoTfuAujxxc4+PWn+r7rwf9TAs53h+8u8bRmAig66e2zTUw6RgLO0nEQTrS
uTU7NySABtpCEunDwhkaAdYmjb5VJAIiAER/AYEjo5fXoXAuE9QbNphSzSLulZSAfJdYZLaC2I1v
zACid6n68DGkuLgtJIJLTrdqibQ9hH3nY77Sx/HawS0PgBBJzu0UFAgoS4O0j6qQzVbv6zDgADVG
V2muszusEljnWdJcxaMXb6EUqX3uILvurbi46LWmJ8g6uE+qTC65w9mmoPWDlRvx7w7BMQmIwyTW
YRc7GACy4byyLQJHQL1tvr69n43NYHbqsifi/HLcgIVZIGF1C4YKETkw74xFq9vfHeGcccjC0a+G
E/Pus5fDbM/AMehxOjt+f4nUIKyIu7dL6gCWsOga4E+8LlcWATchHnqEqf/4K9LymN3GAUacD6+j
wFU+MCwr32VBZK/jBlJmGfNIVVrJ7ylswR06pF9fX/NNr3G0q0V7Q3aSSfWSd+HRazrSQNUR9lns
XMKfl/HQuXd2bPTLEirNWVzl+YMwCx94MpKtN52yH7f5Q9FN7bpFS7TVBtDzJ2698cmpB1UC28S5
oE2WwNFCFI3OJMKeYqecQvRsVmQTHA6RT4aN3AYEey0YKcinnHwdRE28VBRxkF/bxomd1hz/ejyn
Z184cgxCF6jMHX0QHWmEW7RJgW85tailzOLmxMqnGwSWpXPG4/L2bYokEZ8F6VY5p04omPRRkybu
r8mZ1jdKhfoPktp7Muwn/QfzqNzGA0MK2wQ09TFwtuhyXxSKTKrZ/RrUT7xGMGivGq1sd7Fbe6Qk
dR6YsTOzyqy7zCrHKyqaOFEUE+F77HfBIde9R71T2Yk3+Wffn5IZHnRv7tAf7zTZn6e5bC2+P4Et
dzH+3N0IJOR7YmjxiQn+2aVQX6I1wI1ORf3oPUeVqq6LuWIfVIDORe3Plp5RZIcgzqPvJ0b9/NyO
R/18XLR43dEhON4vlJqbd0OR0DftHZA0LQ1jHB+TbWxDUfUkQufGmVHp4XU7msMlBJroxmzhltpW
LraC2J2/zrD/612tXb6RAH5XQoE7jdujP/7bfYWstPjf88/8x995/xP/dpH8bipZvbZf/q3tS3X5
VLzI47/07jdz9b8/3eqpfXr3B0g9SatuupdG3b5INPz/TjCY/+Z/9T/+j5f/Er4BGTDP5j9QAvMV
/v7J+Sv8n/+5yasmeZ+5zJ52/pn/RH/xx7kyw/5ohjazlvwNcPC9f6FuAnUfGKbBBmoWH/076xm2
A4AG4Kz8sjmuhNH2dy6Kaf/LYfGZl35kWDMW7J8QHI734KSP4mOYm+YAHChjHi0g0TDqE+HAHRy+
jky0PAtA9dpmHJzbnYWrynPoYkOtSkAAx71/Yv06mlNUMG3qCMgC6BlxBDv29dc4MoJ+GnFxdmRT
eapw1wZ+wZXyWNL+eCzXf82dPyFin14KfgCKIaR6HwoJSKmJpy+cdmsbDSYI0yCATsZiTam1/m98
K24luwHeDhSX5jf3H5u5CWOXULbdbnHPJyArpxordYs7Z/S6E7Wlubv9xzrxdgMtvhM7bwYF3YP3
lxp7WPg5HIYtBrsAE7J5U/IOeB17d0VAVYpJmGirOgwzoI7AQr++pfOK9/His1KJUWwExwX9dowx
PAtSP6jtuQuYPTC2DLs+UT39+ODw0kNkoKFLeM+HIq2MfEuyJ+y2TQBki7FZynbh4Cju1xAUy+LE
lzrax3FH6Rkwt0zLYJPzgWrh1L1pxUbbbRFTthwHmxeKNq9+BMnSyIszYKli8U9vI7s3+A/wO2gh
fOhWIHBOB9ym3TbVHQesbpDzsIJq/fVVjraLb9+L025Aa1YPQKTPt/mPQYl7GVNQnXVbK0E4bGna
eaTJK3JWzOVILtqJ7/TZXfzzakdTgJNiVEdO3m3pSxp4i8Ev9EVL6HgmFlUQtIsmy359/QWPS9Fv
35AXMy0YH0XOB0ygijPXHwamHS0SG3KUnT9EekcwEQ79HVlC2aqrb71e+eDDCVV2W90/CMfadVFT
bcFB9OuOl+miGTzxexwtba+ofy5wB9d35NVAS8MGhJxxOrEwvRFs3k8jdGM2cBuXfQU11Xma/fFk
fBm5ZtUyjZKhQ1RjawMmZHA0/VrTLB3DkkHeMUlr5GZkglyV0f6pTzguO8MXl15LYnKEd+DK8K3o
xFxwPs5wPhrr8zzDHf539NHSIHezycnb7djGawIl8UU38bisfZeCbx3Jb2NiYY8b3CCHr0pGGy2I
5lzSJ85WxYgGp0ehhGiIpDvwvuwfgUuGpa8T7xaps6gzm0vTnbQ9B7NqVfctgfSeI5Z12wQP3ZDA
K+59QmUtPNDInLwNO/EESlbjrzH4HdqskYtBy4lxCR1s9zkHAjv71g2+vMxshb8HgNmGLAKidrT2
qgpmklriYdayc+yEnJLO9VjN0MO636Zlpi1JInzNlHXb+m2GWjzKdkjx2it+c3liN/lxgvg08Cwq
C/OB8UMpY4SW0znD/NBlfElAChIVX98byXiPaUGsuw443tfz49MrgvpEOY50jfXm/TBDiN/7wZS1
ONbDvSExvBnR76DEEGWV9jIL3B9fX+/juo3ch9WGMhtAGzqI768nowB8Xd6121TlYmGSY7iPqgEQ
BwKC1deX+jhMaZxzSKTtFVBMPO5JRJ3Tk0VW8Rb0e+es0mpjXw3dqULXp1ehZs42BWkA9/D9Fyr0
UCvgpfO6cxu9gXMYaLuujvzrr7/M8eGSdWyWAcwdFk6X1NCProO5ckZcBHI7wrFZVYZMN+4ImJAk
RsjDofTYUjDwqWpHh8b/3pjRlt5acmpZOioXvX0MtjC0E6lbGlSO3n/dGu3FhPJPbm3i69YUKvNN
OKTtxh6IiF5a9mTvjRL6ZqNXL2/wZTSBRFU6en+BXcc6OFkVnhjCxyzWvz4TxXBqmpguPkgIIlvT
aGtZcltGXbnXG2cd6N1AP7qtL0OJHyj2OvGIkUjDUKqpq04QhewmFLNxoJEuUuYvuTH2l6BqVtM0
/OxSzVyCfhd3quzgx7eJs3OieDiUKr/U9PbU5uLzL0DdGWmJZTP/58LCH2t9aDRBochX3ZIXfBs1
nth0gx19i1nFlqL20lUoDZ1MV7fljdUU8CGnJz/x7mXjBvtOhGh4/aYnYboKboh3ru59e3rBUl8e
LD8ONoOIFKmGdHTIWCL0NKlP+SWOjQZ/PYI/vsHR6MQfxAeulNwqLcW9NQXloXVG0qs0fdUmDYt8
50JYTPU9fM2ZyUsJ7usJ8pbU+P6F6XNmohtI5YOe2fF0B/5oD8rp5GxFbcWiy33nF9uqa89GMZUH
+nOV9+N3KvHxb4ntt+sBkVZmvMosKOZ9JDemTg55g1yO9AQDN7FndmIZc8Ht6KQpUMzIeFEQJFkq
vTvPIjVLTysci8F34afYOHpHPwd6Mouyqiev1+9cxYUi24C1OQTyFDnu49bNdzkNAticIcQfRNQO
UpcsTFkQcDR9L8MtCCFokxMeP3JBrBP7xE+WbdLt0VvNvQr2ikcnCpmTnwaNQG4Ja3zFNBby1u4B
dY5TcOJK8286eoxciYIKnXfE2sftnzqMOuERIrFVTXSfGVb0naC/MEfGxmnCUVmeL3RX8w+ha5wq
4H3yLnSBH9LutWZpy3F5pY2S2gxTncK2px7D1r8evfpWt8PX3Gt/ceR1T7yg3o7RH74rjTW6/xy4
oYO9n/cBbg40IAxZjuHlLbziS1ORoj1DT5dWP73oIbWXJB9XkRJsbshQW/YyalY6u5WvZ8+ng8mZ
G87w9JBJHS3rSddCRoFWtR38Cvu7ILPTjvFPQ3wFARqnr19f7pOXpjt7uGanCdDJ4zOiG6TZTOni
IasGkaaApjRBXT5xRvz0/s6+C0YSt/cDwBz3I9IyGwEvZ2TwDf0Yr/oyDUBu+dp+kLj/o94mxFzB
IhlC8oaoBuTrsdfOJnq5J7bNHw/lPkx2dss6c8j/oAgbVOcQmkDbxOpbHXoSUUGygTfRK8BghaEt
BciSLQxnQpezTj8xrY6Vz/MK/SZhwI5CZRye4Puxhq8yNC1KgFtl2PEv4TWasxiaqL2SqEIL7C8V
7auqc3U8mSqAJNO7de6s9FQQXFfUXkyrR1PDRR/TSViYbdsZf+UnfT0yPllokN64FK913AzecYsy
JjYUgbtbb3EUN5uOAvTaht20Zi+fnLgln1wK/TOUex3bhP/BtZikhhR149XbdgqLVxtb1Q25sSA9
NFeXz//4a7EHxQEEtJTW4fGqBsl6aoVvQ9w0k+YGE4QLcN0Lz9Kmffr6Sp8sYlyJsghbRFojx+dG
cwojNMBcKbEwWIfwg+4KcOMwneQER6iAdlbF6sTy8emt5HyNRw14AmKZ94ML0lnZBrFTb5VJE6Zw
IAgkaUGChm6e0jq+5RscvyHYaejYMoO5k3284/YzGx3nZDBE7EavN65SLUG4sT2Ao8YoRe5mI82V
y548X9ZWP2gbTo7duEaobRU3JIwwuRKLGuM+RMjwYEJkiFeEYvjdSuSElC3asI6fqoHAmQxjntzA
hYlIFikNEtxKvpK19Fxs9augdwZjM1i6pc4cbQ4UUo0HBctucGZEWWzcu505GavcHh1zkxrF6K6t
AAjhj2AwkuLFTSmWRAvBCSY+G+PGCldNkjXxNwkZkX5mSXUNB7hR2GsN+/+hmMYRCFyX9fISe0vn
X9ikTIY3rjTycsOftWFTDI0EQ9fZAaE9OGDs6AIIm0MmgGNV6aZziI4CAeuGByDodOebrAwXKmrg
0Qdx8lBI3C6LsbOrdE94VSSWfldV2UZlRJcCs1Flc572HCeTJVi6Id9KOQTZauwdBZWkp2l0hjg9
1Kk7FBCDROHMm6sEB86TRxtMLbyQ2NPJt6vmTjiJ5m2rVuI6B/7f35WJ3bQwN+rAu9WrwifBUvVR
t2cTO25qfyR12Yb0LQiqj6ZpidIMBx8JT9U6J7yoXeA5D3A6Scf/RnYYSU95UVlLace9QayKIFPO
726o824AtIjvoTDzHzn5X7dt6cIKKtJxp6kUVWsdXHW52pS1JKTOK2+BKi16mwDVbCJFybSzYZUR
w7SJuv5g9WpYEpT2lGbAYZzODFeokqwNAYHPONoGsnYUSV52421dOehrQrvdrR1MZF4N2EfSEok6
mTXjLw98CUA8KEil1z9NtevsyC6YFv1IpFNCM1x3167m1tdOUDRrQy+Ta+IXp2WnE67lF3l8YQ08
D04LMCCS8GGEb751NOMmSWJCcNUYolOyyW1Ns45NhYS/yFtiJfEG3mT5uK9bYpOwmoLrnbI5xW85
DnZzyEaCcCYdo+HYYt8F108omEeW8kC7K+HJXoe+fVto8bg2BkiU09RMS7Ap3So0lbmd2LrehlEu
fqL51M/L2PPJXavd1ai3zasLdGQJYF6sAMfk5FNVzp7sG+IKynDEkJaYe6k80vnG/mAa4yZxhLHJ
HPWj0Lv6R5mEO8+x75JO/XCIFFgPekChriOPw9WihhlY+Pu+88pNr0H3mRww6IEfHmRoJSvyevy1
ntqENACtJOkwmFYx54bbpNH6a9wE/q3sRt6LljxvQZMs8tkLp7TyRdaD2M1eqF0ii2JXFn7/akvA
DCoZSApfZURCEdID07+cgCOw02yicF0lQXufVT6RDyaD53uBsWFceTXnCF6mLBJp1A2Pgnt/ido+
oTwS4uLLjL3eRWqtVdByXGPyz/g/1XpkQgDwNB0lz301RIN8BCHpyXqhiJ4fstUkzeaR8EAyJUCn
LTSTz7z1NLP6PXpTJnZWBsxsVfgN2VeqwsFzrmlumy4yz2/IxlW9ox0oz+qSIm2d7JqGO7VosxKk
KhCs+7foTBN/7X2Iyy7ZDykhWU6Q1JfGQPxZlfTDBCSTYhz8Cv2Xq4fsJ6nvirU36fmZ4CX7uyXt
zF3nKiJEaXAS63wcJU38PgtfA4r73ZJdADEBNNT11aT88Rt9puIVHihBzqqQxs8SwNGKI5pzFZSm
eEwCrAMSP9y2Zcdy7ys7fewlv0dpOUjf1qwPE8l4JKYjtDZtUPZU4WiDpKSjbwhnYyTEVlD/iAEX
/K4FkeHZqNU/vNpMdmkTtvneGttskyhdfneqWnE+rAbIPqFD0GQ3SSYHqR3OMtNt5Mqui7mWDde+
q51shWLPJCWlDZpNxrkJbZeoZi98EvVkmQ/RtPaJRPNJsB7A4FXAIYNlQWuQ8PWYrvzAOnIABBTf
6UWMVthrOnNDepjQHkoknR16xCyIzyJz4qO6Wf/Qo7QcLqIwjK4Sv/aBe4jpomp9/xwoDb/VEsnW
1hP3rm9NZ1qwE6kPLprGq3SQZH3SmFxTOHPgAjBV13iOp80EEgrVzYgtG4Z0dIWyBZyvcGLniklU
M6l4uhTh60NWwFH14lj8avqoubEnIjxlwv1O0kxtJ6hhpCFwU7XGVmcaQ/NGOI345cwnzGXpTmRB
ZDXZWdzZZOfAjWXZ60DANXZ9EEYanE+9FL9aIKk/enhl68mD6FsZMDcWUxdzW2twPodoZrt0QSuf
g0E6V0TWaBisqiC6GhOHHNjBLQr1PMHvhU8szMGC72UNuA/PcfKYYgXyFfcWqQ0gmMo4JQCv6wji
qMmAvxeGcq4Spwq/CTeOLl1smT/dyM1WADMnAr81xJLEj7GJdDrLXEetXx8UQq5VpHX9WVPw5cna
Hb/NPMyf0M4SzBT8tNABHHZAFadF7DvswEtUPtii63zfZCHZIIRK4N5+YzvGRctfCPHPE0Az5O0q
nURFuCTznDIWgUtKUbT2vV4+g+RwlmGocsJI2nmUd2Ce6LmYzl1SxP2DXbWkCA4VHzJ39OzWbxvx
ZKWxe6eRkgqsqhziK+UWMJelXTY/kPKN174ruwddjNltMj9uUgD9c4fo2Nva7rlQpqlN4HlEyrHJ
iK9syV3z01hdgyNVr/qEp0gbbYysFO3DW7NI7f1bdpNrDfzGipwptuzjN/yp8pn4EFJEp4aS+FqD
Z/jqkVuISbmLw2pBvUUimnQ1aFOuBo+LlXwqtCWEofDWJkNjWmCZgkRY9L0LDgww7vWk1Q1Lr2sz
0liz4qs8SytjWSCDvsYRRBEX9gfPWpd+DH3XqvxyGcj2tfKJL6F3UaTLuhjqV61KjQc7EsOqH6Tx
4vZp1y2ZevUNq8X0WpmpaJZkHENgbFKnezH9DgNf2BPlpwnBbXF5k8utPmQGUlO2vGBgc+0WcCir
mef2L6Pw65s2BF5E7J0gXF2JxzEN6xuj9aOr0AXbB8THXyXSt/asY0GzVj7zu9Si9ntNiKJ+Q8ye
ZI2HC+bsK1Vx83zLu+BMHG6gFDVz1LHpUTdtkQkRYuX/JBqqvQwLEW37fLa+uKiZa16b51ZjZ1Ct
vCi5Br0pNtib5LdG9ETWTPFrG1X8KymEWIW9sH45QeRsbJFPS2ETg2haY4naz3K3BvdrQUfTXmVt
wzxEpaNujaIhijnn1FBCbXsw88he5lp11wb2Re+xJI66nnCWaSDUdUF6WVP/ga7akywKHxrlunul
D4VxGXsF64Y10V7XE+0CN424KpUT3rmhWc1RzSAokUVNC6Ok2QhDWMf+3h56pfJVwty80KOhOS8j
rzxEcakWbPXZAuIzWVBCfYKLCLDEK8fbrOqt5z63D3WiGyxpPv+wZL0uXUMsx9Y+Gwkj+M5+W18o
aJe/gmHuM1XtJqayvK/DyqNbFrMh7dNKfffHIbrVy3jYwBXfuVVer4JBS6IFllEymaYn6n/FY1Z4
k8c7h5tkanbEQs8JZ+kRVByDccjkPtN0a9GHZApmBY5t2XU0voxOrNihDsACM31rpam862Cms9QF
0W0nuUjnhN51pwOcojCtFhxK7ScIr+6DK1tEnIn3MKZ6saVcGrMPZCu3KBIInFUyxBcJ0VFz2Ose
6KvxK9bDYdP7mr5tTWNa+UkHuLxnMoKtbhdDRqkwUso9Y3MBKtV2tvC9qg3TiQW4SjmdRm4dbIM8
CF77rDO/j8I2LoMimFAtFPa9iMd0ObKH3cBARsQWyvwB9Zd3A+hLbpxejvXGY1+4aNomWqOWFS8T
rSZzKaI2uaxThkFS5lECArcULGuC3GGSYwkyFSDoaSCAu2jNZee5bOjtKH1K1ZgdIrz9bVbngJZt
7bxSRBBNmO/bRCs2TMUNQecpGzXHYUPmdZdEz8LNyyq2GTbBXSyB6UJgV7n19WZaZYXln0mFVjbU
Y/LAgH+Am3SuCuFUFSrGwKBpkU97par+wiVFuWSPpmVMOLc8iGhMr/LUiqtFnU5oOZuGrPUFGB2m
ET20/iII2/RHYdru1jEowFNaq3hjTTNAuEsA4QahVZ8ritmc6rw+yRZQ5hGqDYl+C37m0ADs3YU9
AWG+zC5ynjIIyMFj1a9ymqNDuygH2Z5T91UQltOdMWrBj4CeKeecp6YqZ/SBMy1rgdow9dCALvq+
NX6MCo5zZXq/jMl9CZuq/smONf8JMa9i0ZLaNy93IH+QZLluva64US47llw1Bk3voJ2WESm/gu3Q
uOvNok8OmlUN9qr3dOntvAwxP4uGW11pQ0RGUakIB6d8U+kL00/J5ISwwiJUGU76syjS8sasoSy5
CXXkRaJYQFOSsp5zaeq/SpLxniGdT2JpavzCGhXAwcHBfIee0B9+NOx4eG4JhxzABDlvCc0lgUyA
xp6CUTzytqR2NuUGyWERBcl9RRbwPftjTqYZMOtDlI3yuciq9ll2kiKCVF3xmpF6Tgr41IY/dZka
v7K4mTPH4A9ey3oMf5pZwyHcBpkXLEHJymfNESQfm1NPWvyUOeVdXo8sDDIe5yj2CCzsxg4GKhrd
GDM8YrNjg1OVeXUXu13msMeswp+4xfiZQIx5s/LSICMevtQZRshn22xFsGBWrVMHudSqRKXlcYgZ
uWia2KU8Syan5dyol70BLw/efbRh88pvnkiTq/b2QPlxFduB0rZQ/tkCtHRIwwWHqeA8jWcAq9sU
bFrz0OUpkbkG9SEfu/Bn3/QEbEekKJLSFznFq9l1XLWrLWWsBqxLP/+6mU6vRR0KdMtIlgBqUKZ5
BknOC84T1RZUGgnpsAozrPNzUcCCPXvnoB8rt3mSUu5BWZBwwMxG/E4GVaArs3ZI32udyTlTTVvd
kUmYCR4h/dblAN0yYh471EMgY2TEWKBi6LcF+uP4Iujb/rV3qY0uOtMR8QUA0fg+U725Lbuy/F4Y
gXeTeUFNmrbw9fshFlIhRbWN8MomRQV9Xa/zGdmV86mTMuThQV4u4R8P2GqXPBPmLrX/WK2oy3AX
e63l70+lKZ8TTi8Junx2xEr28iVJZZpvg66paWAERZJu9Swxx2UOxoL9Lo9z2pXU/0g0J0d+wThk
RweMHgeb7jYUUeBZkSoGS8hpmOpYZPhZjffXsuhmQmuJk6IgGXmc8iuIjfqynreQuVcSM5GjDSTf
koxPssX0Az1p0GlFZ90UkT+eo2VKHqYpHr4NJmD2t3rn3yrP67/aJUei06M//n+pQbWokdNW+X9r
UL8n8ndVyqT8M0bs75/6dxWq+y/EbNhYKBX4uJ116rZ/q1AD81+oDVDYc4AEBsYW4z9UqLZHwhh9
DBRAVJnpu/Mx/lah2ua/aBEiJaPbgnoTM+E/UaHOVeP/bI/Njh6oRrM1Gu2GCQHnqKqMOjbOCMl0
z1izml1TGLNFhJEFDw34aNtI50Tt/LMLorVCCcfWj27N3Lb6ow+f8a2FSc1yNmf4KwNI3pbg7PHa
zX3wdUoaJ5x878vmf31B3AvcL8xL1ECPum5B6k4Sc7B95lWx+0Qvl7hpzNr30umT7R/P/u9Z8qfQ
9X1b9e1SPGqeNfIIMCLHbQFyKWOQDoZ9lhWD85R4NKyddmLJd83IuGynKXjwMuKum9AZb7++9Cff
kpEEVQ79JAvecUtnqLNe6Zz2z6TJOY9cYF7Z5EACooeefUpLcaSTefuijEBE8iAK6Okcw5LGio2F
Nyb22VAhBlx4otF7Vj/A18u+9VK2CFYq4kNBuQmWEn4H+cM2Kt6XBFRqS90sgxNdyI9f3yVuCosK
OFMX7N1R6zw14rDLo9AGCWvzdYOCXYeuZfzjv3ctjDi8+hjCDJyjARWllp7HHAnOID0bl9S0OP63
xXjbUdJ4/PqpznPh/eREdEBL1Zl9Rr5+3E9EHdOwS+rssz6MX6Upg3Vnstf/+iKf3TsWoVkqpmOU
PFYa6ljH6YfmxBWQOHCW+j1vMt8V2tKYMl5+X1/sSMQyDx1MpyZUOt6l3MJj2TTsS6OfqJqepWaS
FSur55pGqEl3kTdSPPp15jzZrmKSskW5hW9g7emqWifE25+MYFQILHucgmc5wvGACeF7hKGbcYr0
W/Ng4UGfxdocwYUmGaF4Q8GRZ2bjYqTp2Bq9TV5HSDazgWx2X9+Uz56Azd7KRh3MYUo/GlFZHqAy
ywSTtw/HW0CHnIUhGp7Zojml/PjsUq5LR416M3KW4xFFtaOpaMdaZ4nD7Q2CiClL7ZalnmrTKUTF
+6We5duGRgp8AVsll/swfDmRcs6uBWVucqQm4lcb8Vhik3mcBjb0c9PGPzGWjfdL8HzJubhCQpvL
OAMse/Q6A3+B9gQX3UEP8RpA89TyhWzkeOsO2niboI8tCMGiuBb7VNaTiCmFWpagbq2kxuQnbr2b
al5/bytIC9JdMgDMZAKGjTZwlYC6P0HCcN5esf85y2ddKFGeUDzcNwUlr8b3b0Ryf1JcnZZ9kLle
bPSJWnmVuNomwpnZLSq9wJG5ZNvYkGpVpVhg17M+74a88LxY00zjM1K55EGGTtQ+T1bRPo8caegG
xBPzyqw1Vl69SY1+4RgDBzgjCuynOvbH29wltI7+RfvcICXZe4qfW8mUmjpwgvqx7b3qzI9si3Mr
N3ChMtqIYHe0Zo3wJHhop5jkizgIawMohTPn13oxhuciiN0McnlCcChnDUpSeVlzDUzuZ66kRFnX
SL4Wds+WlmOzMC5lXDFCKEaIR0W48LTV0Le5hwFg/Jkkba5ZcVgtYxJ04vY5S/P60RN0JA6FkVDa
8tm1aLiweqJ5sij5aaiAR+ZNljsnBYF4emDLzNhrM/eJ/Tqj3WZf/aSMQD5LQ8xv6L53ngqVmb85
AJq7vkaV1JA+RbAWdHwviWwyheGJoecIHN4whqKUqFk1k3ScS/4hukdrtLmjIX1BDrPJNrQs+dxI
wKpaZRr3MFW5PwFN2Fspo+nB7B35LAKb50SEd/BgwMp/zorINBeu1QbrSYaGtYRvjR4b25i70EJl
7YOw5LcUKXgexA7Gpd3psv7rjVrypqZORyAyvZu4SXcRQeQUFTyPkW0jzFeLolSTd4jnjclbclBU
c17UU3OutikXt7pOi2rllLlxSQQboybDtf7kuRl3U6WpoGxR+apc9nOz6SDm9VLrPc5C0u7rfEtS
Mx8G/S6hfU3Le9GtYuZfpUdzX3vyKR7igORR0s7xCUzx6cZ61NaoUGYh8jOjtBjLfaoFD1IP+bVg
3yGuadZ4LYw5KLvFjTduFG5OTrwltpwlQOXpYvJyQpTp9jtPfVU7TwQEBCZaggZtPPEJoN6sifQ6
8Nneyoxc+2fZ9+W9PyXqIq/7fFXLkRCgVIMotzESvTkQNtLvSTzkMhIn0RIIRNWtdBm691Q6Eoqr
rk/Oi+ek6hKbMP14Mq3EosiCYJk4RB6MlN+WqpwU3VDdQTIfC3HIdJyEJWMyJu5MljetkNCG07Ar
XiqOg68ISqu9Y1LhAjVD9V1Rhx6XXcbKRAgfC9egi4aboCnxw82zRm6ko9zfVCaMlWzL8ryStEE3
CFe8YREgwF0ZaVUSG9FVlwGqq2FJTgDRKaTGUeNsxYVyY3dblyo8Mwimrre+HFzao0W7UWhpaLcM
1YETcUTYBn30n2Veo8d0TFQBRs9j9EOHPnU2lD9TAbd+VfaxXGU6Xfh5M4qBbazRiDRNoa1r9oCL
ns3LpvA5yrIwhYsSE+Vtl0lCYLJa7NOGcBO0peolpNBGzGSi3aigKn4kCCyWwDLxsJTU09JaUlrI
Gtj5NvMjmTS64EW87PrG2NDz4xf52iXZjTrLvxUSTZI12IpWLpCeql1mCB8sZ9G4Hsai+cmL4Zyd
rr8zLTpOq5K2KkpvEhkWdh6EiAWieO9XQi7zVlKcrZS2Nouq+yYyF4VvX8pN52QKKqn+O/dkRa0u
MRfEAowbqSEz7HI+BzVD6mEGXWEe/BSfu3Y9LESk80S9yExJCQvKa73txDWOWga15rIje1Jha1xq
NDjgOJE9T39VEPt2hmaLDTbF/rZestq2z1GjsyBVU2DcK31iyBLNGzw09EMjYn1GR1+TUTiWUMFr
vV8UHlRjaB9a9Rga9nhNQKRGhTsnsFUGvI99atUJXVa7IjieOttCN0bEfVnSsgSxGrMxExWr7cg5
CnEIWzi3n4z7XqAgW2L1r3f2CHJxR5KLeBSCYUsyWk+NNMvL/NGsQE+Rd4ZynKATk5onwEpR/HTS
2BevSvT2QvYeEa2oQeW6TO3hpfCHGnlkpjnfUdQE+yYO5I4Upgid0Bgl3YIcyPiX7NunlGLi2rGT
KFqSXvl/2TuTJceRLMv+Skvv4YJ5WPQG4EwjbTYfNhDzCYBiVMWsX1+HkRHZ6ZFZmZIi1YsuqU1s
wmkkQUD16Xv3niv7T6ChR+OZuLrWOYR2Hl4nJdDUVAT55EDnD8Lw9W4Nm+5VR1lNry5w59fJU/WT
n3U/7Up/WmzXui8HeziwrgZVYkdq3LpjZ3/Phjz7rotifs5GlO8PPPECrHZJ9JybBYzmp7woSbaq
eiKmvALV8wLIqE56n3U8Kcc+m0mHWMwzaJL1IvvBeSInoTBiVZejFfv8Csih6Se8Gc20NNvFGqrL
opR7rwuaQ9Jyx6eawXNyUwx/cyeDFFUMSV+JqCGe1e+0TcihXfgxc6uCMExF/AgBZxEyw4rlIkq9
jahDcjDn6WvaGfPzPGTlozWO5gWLsvelnP0yS1SV42wWqLJiidf+GrlrcVELTVsjmiM/ztF0v9vF
3J1rODrbpvDGM9QZI43dgeCuvcWSt2NuOE6bBb9bSixqGiy7HK7Pi1923WFqHGhLZGjemeuoHwfk
9XE0ZfNnvMdy3Jp97xanpcCTRaytyVAlTOewJArFRGwR5WN/4JRr3IlAt69moewowdFTN4xvArM8
jNw8V+aG3U9rkv1l7LppT2dwPTeir6tNF+WMIFuL40XO4rYv3ZR2Z0dlYSBaDabHzJ4Afzci9Tru
y0p9JvHWidVaeXdLYbOMOuYaDXTjpxtSsUYWk1RNa1+GYGUKuUbSCrdhFbgsiNb8o7X9Md1FhryF
aWbu0XWRDMJpJ8tvDIqnvrbk62it/VtYre52WnSZwEkrEIygenLNPLcIYhPBxunmoADiq/PvZj2w
Dw0mcv/UmIpq43KpHiai0vbMOAJSf2mQ39NdXl5NNRsXJnEOMy9HOrvQcBSJm11DNEofeETfEYBF
V5N792da5QuCe2f4NjO5+j77A/nDZueTpEvYBU1T0VaBilO8kz/hDMhiowidGg/B0P308iV76AUQ
w1gXRI0688I0pSWKZZMvhVxjN1AqAXWg7o2KeDqEeekAGp2aPdMreRpm3pKp440g6c9odFei24Lp
U+6vLSKMTIt7MyDiI067prpvooqcuYbO+WNOeGvCnt1bLtKPmcbv25LT3f8dlfg/vdCXtcNV//4d
tgHTbAbD34a/7WqS6R2hg/3Pe6HXH/P/OrzXXZ8X6sc/eOXv/dDA/ODjsAK8duuK/rUXGtgfOPty
EEcl7PzeJv3dke96HyCJAm9iZ7YA0t6sO/+3F4oLn3+Oqwe7FHquf6cX+mu7BS9CwEEMvBEmdT4F
NdyvBzHX8JdMhlgVy8bLE0cD57H97O1vLso/aBL+egL//U3IcQHDyvf8O4D90E5Gh8VGH8bSJuU4
6NHEBTeZD2EB23/+Vn9Sw//2feiyhgj0aEf+nRq+rdNFCmpfUFQFukP2vbNtkzxvtV1NTF4xHEh6
MfaL9lziiNd/5Xv+u8uJ5YLvSzfyxt+y/nwWZ/8Mvdm32Web+YU08I8h0bz//Bv+qcMAlZ+38Gjf
cnT+TXn/6y/GEXhlbmJJyo35hW3prY8s4Ha0I4hwktylf72d/8EvR538Sz+O74JNnJa751KAhYAR
/+Qhc0gE9Jeo7w/ujAgL7SNShDYy6lPppfWpmtxXN51lTQUgB5O8sVaQl4jWUnE0IO9+07MaY3nK
LGK8RUju4BxENWeqKUIJWlWMUvs+YtRtSwsFB8iTWInIPtqspl/tm8VvQiLTuLejkBpMm0jfqEtw
Eow1me6Nc83lGG2cvKTuNNflbRWpuiso4zOgbrdgKDRvhFx5QFMKZrgx0hjnkWrbu/fYRp5uw3A0
uAhW4FFk13FidpXVFMFtyMQfb6vcTaPWxzLMLtj3JpIkkPQH1VNbuN98HT4OqiXA1w3rU2cuXzK8
YryF8Al05W/WhCJvyk6zzUqP4L7GIqdKzD+o5+QxEPk9jQ1jU0St2rp2PW7ndvavmMGJTkdndLIz
5y0wrPQk8oIdtw+6W1DgDwdr2MvChGazWkJcdSSzl8F3q2QMy8SkktgELVaKZU4nQleqdCvMJb80
GMWQNsVmirLz7GWmX25nZQwrYRJrFpGgJkaUsNTlL8AOmLTST0ts3IB33W/pYw1mGmvXUI75r24T
GB/zclL3TWvxd0LEvC/wLKcz/Y/xgGEBupdShE4zA83PBIqrS1txKCTUE2TWHHGL1FI8yJZkUTGT
JzitSA/ZzE1kYyVS3kkuqOQKe/w8Fqa0ssRcrTuDIJGXIpeaoovDa4qGaJPfRrI3Y1101IZK79I0
V4+dbtQDGqi7NFqdz0CLhxf4IrAXjdy6WIvjk+HDvSA1W/w4NMu+qZ3PwBc8ghDR8uxE4CwHty+i
R9PPxN5wOnVL2W0fkG9v7H5cL9nSdjKJusrcqZmuUet7ZHwWfkenafGKGz1iPBfpXMaULP5DEfQ7
6BVQHdIhIAfdyr6IscyPvOwjzLwTI1gJZn1+7NYSWGWPtJaWwN6tGwrb3icgknkCh8lsfjRSIgNt
p4DobnbVYa0hldOkleeVsyUetsxr7+uVfYM72vZDWiiZ+eikcn3vjdYEuWI0d2SyGucBEMDeWaJ8
41cUlJTGDdrUVAYbaUreLStvAaYRVADKpCXdpV2+nhYjTD+H5YDSJMzgzqfpfF4ELsaA2E6k+0a+
7+mU8OzXRHnCZeBgOTLp9coodoiWPGk7vyU0OuEuFX70BjRQJHXJ9sy0+91JnY+RpVekjYP5BIvS
ZJDtfAn4XY2wyp5LJKyxFXClHUJ1BvwapImXKtZkQ27SGZG0JKo3If78YvSyA0WcVptG6u9FFvZh
nJucTsI0m44pk37QVObjso67YSG1jkwbASuim/e65M/C9ZevyjKCmuVpNgAwKWJF7dZ5pyYm7Tbv
/G2PeaDLnBfP66KksUrVHJHY9w+j0TnvtDzDY1HPzt60ciwDU25v83zkF/JA+1/TihMWoYnd+tpa
YXXHgqSP1oLOvLO9z6oFj4e9z6CRl7ZJ1aU2woj8LiOOO2cDiOvJnAYUmkzuq9pqrj2K9GqyX9GD
IFCBvZFkoTq5dAUwHhtQEEojRLdbkpoSiUTLfhuMtvtOXHz3VYzOdM9Rto5ihEN07ojQuS8QJN1F
vlUd/domfy0kzxG03fwJnRhx28VNTGJGYiUz3ucBIm5vET8j2kkfrVmaL2mg3UcUTP7GqSIrAWUi
OHR4lbMPaGZu/Yb7ywKd9R2xrHFfghHmMjdJqQLxhvS3OdDMbHHZkKuYcGJ3EwGMeMu0tNqPOnDv
KqeYZex0erqv+9A4gCf2EymDbxBYSSieIn53mXriGIowgNm4WIjCCjp0trsmwbQWB8Jl7K3lRznE
ffrbLQhZBpeed++jOTkQCZ59Cb1tnRXrvlpzLj+a4FeLlWtju1G44yJVL06Y4VUzLVRfxlDazy6i
Zh/I60cY++4XqDj51Ve+/tg3zqYtC3JVUW6q62h1w66sYQIOayAObonmp6LVvGHz/Imsx45Tqcqd
n6X9kf1xPk7CYc2QSxv458EicYHouKof/1JX/E+R/6+KfDA4mBb/WhX9HXTrUjS4L9qbYe4vFK/j
9//zv2/8fV71h+Ah+kBj7TbQuDG0bmX+X4v8KPhgQxCgsmYIiCLC51V/FPnRB5QO9IZd2rYMlgOK
7z+KfAfBQwQe2oKI4t1GJf9OkY84jXf5m7GqR0Ie0yiwRrf0l1t6wJ8GLhRIETtFY54bE+W0vD1W
lB6L1aREzdHu2pauM7QwTCaUrwu0TTI4u8H5sYBjIFlaFw2C57W/LGvqRmydVDYfUey47puFVK/c
0HH4moV29lovqL6LjI1tct3hQhrr8EAPxkipLQSkW9rjwSWb+Z/JRGHZ7Q2RQ5EfRHMm5U4f6sV7
rNTgfDVmN13PtPqXMIbVNNxNInKbV6dMx+CuJy3eTEYem5HSE9nXd6GJkEC/tJCXi/4rEvAp1548
hrJfN44yHWgNzvgZvdKc42NDP4oLr0DHLRXwzpsUy3sGZVn7iWM3bQlOMS1erXxFp5/TC09UISb/
6AI2/E7Oinz23REXUTDkjADE90pG67YIiiLpTVlQUk62vWfc+7KWTvngiyAVB/6Jc+GJT+vNsDjF
YQDJq2LF4W87WMb7UrpLHJqino+qD4xEN5GzJQAlWhBOkhWs80B6W7a6/skyK+8yRfRHQUcF1nGM
IqYyg47SN12HwXMXeOmLGlY7POIwcYyN6DuvOlf9rWHJbio+TbNC9U6FnJTgYrgG3RRL8mxPftRW
56Gj00FYKiuW7eO6i8uVmnEYhyxMjKzLt0Hh6yfZZG5h7vE3q0NJGRgPakVEPMwgOmfdbALQCTkS
Qyl24ZqmB7et7U+ddrC46N7QLxHdRdw/GZ2dg2uYYfUGJnlsXjPOrIG5HZGKLcYWBASnj709Cvrr
xzxjEsUsqEIa+J71mt5/CZ0w9kgj29a9m9hYbK4gKubtYmLd8qPGOhaTJr059bdRTpVclu0sGFlg
SHJbWSe5fwNEjfiG4luuHi43z563sAFIw11CtItG8FIuHoBq+5iN6uLd0uk13c6gaK+u1LSAPULU
F8whQYld0i/7V8PIHxcsprHibXYZzDm27PWzZc56FwQFxdS0PpuETB+ZEuRb7UtxJ2vDPHYeBiF8
ovYpAncZl73Vb3sD22ftLsUJbV+7w0lfnI1q1UdT8mjafmW/Rqv9pRlCN6FUDjDTDUbiEie8a5tg
GE5wgMWxL+avzMGrkyrc7Eya5UhpUBPJ2K37FhEoZsFx5yJSLUtDboraoIaQRmTEeGPyhAzjH57G
trRYgnRzBj++NHXMKK8ME0je8yYa1+wO5TUhYgURb0iJnxEzs823BaYV20sTl3HsA59enIW3GrTS
lqE7wi4Zf3RVt25CwsoRmubzgd7ipgw6upCZHg6tlMdm9p6lUz2VYXGnrXRPS9pMhK1fCp+EcrOP
TphKn/qoODYae3BoUkIKrn5GtGHIEbWXTHrW5SKIS44jj4OO6qphO6WaOjd1327a/ltUdb+xaqAt
Ll4Nu5n9jajy8bkwCOmSlpVEg4/uefBYBAs8sjf9s0DvEyNYs5AF2+4j5oGG4bpqkiCaZu6tDjAu
v4dPqGTdc6KJxkOoqm86YCwmbTM6+SyXpxGL7i3PSFzzaBCHMcQDyVNhPWa5fJyIIjdCvpRum+sS
uuK9uq1m5ZhyHgxFb5y7znafClv6J8YlecIPhnmBqLHPgcw/mUY/MdtYfuZDbR2yoCdWlDlnjMoJ
ULKRRqdxLZxtz7L+ODgzkm8N/KUUwVPqq8cZpsCOZQKDoDDmIMESMXxkXRk3NgaKienIIK7CHqdE
DrCKTH6ondnK8eplXv7kLEtE69x80hw0N66oP/fMehMRjffrUmOElXkM9x51c9M/9X7D6oJSNx1N
sRNO6fDxWvc9d4srLBV2B+SuS2lhhxbDS9WU/s6udfo8l/Olw3qTMC4Qr4EhXr0sYpxjTO+9jj75
Gc2E0WOQg2cBXHO1oF2ed2C8OX2JfWSLlKso3attZXI/h+pbQ3z61lO6P5iD/dKR2MINjMVyg0lu
OntyNq+55TyNUXdX9fmbX9p4Lyu9NVvGzay0+MqiL2ile7BF+PZua2lnhA9h7+z7QixPCz9dHXdT
JhOW0fBLmWbWp4oQ5o1yAh41w6UHF0yXYJ22kyxP5EUN+BCkfVa+CGM5dQDKyAbIk3KtQrCPoz7m
7XAAQHyairTcD5VZJFlk3NoFxo7NrEp0GgUxQjFO3q07ut+w1sEcG8i/ua7adB/zGgcXzXN5qZD0
J0xI2m0nPIAOzA6S2R5p/kv2hLl6tdzp0KQtImXNxiqiaGur4RnGB/PzoP7G4OZAY+2TCMpqO/F9
/KVsywSsdHGemOZb6C13MEAIDc08T18Xj1w15jayw+2YW2ev8LLdamAZ6cfM+Zy2Y/cE/rJsYkMB
HdiGHGCTqXaah8yYOPq3KveTgX2tK7BUrK0nNvTmOmzr3Xhng6VMCtvuDhF+5jh1jNfcmG/b85xt
Wj+KjdC7zmZgM3Gqmnsz6yaSShm2Y+dYtRifGmGEx6gv9WmZnFd3MbuvMMCN7IBBdSx3XoCPN3Yq
a1ax60IgOrDP2ttpiL7V2H2tnKHFgMPhqfeah7kxjESWJNav+Xhfwg3ulQOLYvHbE62Ij2HvVi9L
UZ5swxq2Fl9vYzOi+cLy6h5ma03fhbbUlvGEwjNq2FvRTvnev5EFwpA815pZTlL00+coI1URk59x
yaa5fOuigabU1Ic/fXIyMOx3zMlyp3pvw2B9DmYmTOUYfnZKWHh1WAdvQaCLjZH6ZmIHuXhpMmB6
y2zeWNO4Rh1nYbDn3h4ifjARO/SrcNEXLMgRHy9Tfb2txfdOlV+RZwYIrprpI1DNrRmN+bUyMQWs
BNnFgeismmG2wmikO+XGnamqc691e8Dw5lIjNNnFsitsMgBFDWJr4dRF7VNY25JhcJiPj4Z0woMO
fPnR0NGhHdblBY6Nu7MwGhUJ+LnirhmG77IMv7E6VzsZ+dFmVOn4CqTj7DdOtO8i+HAetqht2vls
EDiUNsyjpySHE4qJvBX2tXEYJxIPJO9ozeiYqfh6V7tzdJhbC8NfLr9VgFaSEaWn9cC8zXpmgeyX
rTM6VRj7w5xXewAD/c6t3ZLNqzeaz5K2/DnzV29XUQu+mbNy1qQNq5CzNDDB5zp3rK9N5flf3aLJ
aVUNTFnTXMaGVVEw0M3a2aQfxRq4GwXwdApGbcTFaN6cFfcpBxWH5xY8a3rKkYTUVB4wpwrcVvgX
rHrOz4pOLMfQKXuODApR60KhldBwelORPvr2/L1NfaQSHWms9dAt2xH49zFl1BfrBf4hm+SeX+3k
Cfz9UYHXvqKXEy/u+GUa3AFBP27QpkMP4FWg2RTDaeaU7SF3my5e0w5pQ2hVB2cg2AvlznRqzHmb
KucqcuG8Fq6v9lXnh+cir1FoDnkNHiB6XnW+qyapnhBXuLRWviI2oGASKb6SOn3FrUuXX9qb1HCd
jY8CZdN7Kg4JdT8pf222gQSj1XDf4QzsY2hRVtIig0sKd9qE6AJYTgovJop+ins5xaEu8y9zRAIg
Bf7ODLnEddS9Lm3TblFfdxAUIBZg+9mQMFNvOKpgnBoMPL9ZgKsHBdaxbd2naK7dvZ8536pmfAWI
7d0zhX8cas4p9uCtu2WGiai6YYOpMaet4amLAZtgp7RhvxEX38cDooLXhflyYtu4ypbVcGPBICN2
aJOI3DNw+4u2vStr/VrLbtm1PTVdQe/9e6msjYU9/1EX3OVLhbzThJLmL2H6GljVncxH96qwRCWj
bH5S/KJbyPutJTTWMQNID46z+yXvYTBUY/2qXFFAHqFLKt0m2rrkx1J0h4x+DVFdyozFZZ2BWET0
zq9+mH41e0WyL/HT+3wul0e5BsYu6n0rwepC1WN10b3ZiWtDK+5qm21StxLtT6/KOHfN9WqL6GTQ
3yEFB+hGME1TDL9lvmOi9r3lvFFZxmc71O9Z5+8Dqx/vOOauXAxc5Tje0rCcttow9lX+0wglOUs+
uAggh91BluqBfOtzs+Qsj7kMkdMU5q7rON5OtnL2zjDt7dazYrTzZ5SlbKDCPJll+OoFOcz9Qr+D
WP6WjtlXUCbcP63zOA6XAP92O+kBZ1KTfcGIThqaWx2HArRI5gR3Ogo/wcDeqChq97iF2tjOQKum
qS1oo5nWnevSuSTqIjF6YSYDDADm4WFmXsu0nSnPjIfRl1OI+WvRbAki5euyE0g4JV2OtoNEIcUd
/AUR+g+nRMLopPMKhMDuVTy7FZzU3Ks/VwxqWqj7Vk0ckg0yZGmdigIPqezGzlXzON8kIJOxILXD
/L8XBeyLpLOVmSdtOXSfbVgzsDyQByqvk6/zGFbHacLZTFVdHqMgb/YuwM9dt+rsPJujv1PN+LIq
ok1kG91H4SgemsKwfqIUGc86L1DXOaE62NVansY2XXceoJAXt8HnGyr7nTO8uJSNywE/M++1zqYE
IXV254DfSUZmZhdox+5WArPZO+1CSMPEaWkKXGM3APzZIPGgAGgQhzWOu8kWBj+1xMnGXDjb0Nsw
0KmZ95lLlJ3fCWdr51V671uDD+1//RrWIzoSO3gPsoorRlF7aUbSipRYj54ipVDN09WqW8qKPg/Y
i6Mv0c1czGzVobWOFMzovIYyCLsmbnsK7mhORp6dDHETt2s970gXIMJ6sZN2WcQub83qSN14DOpG
IIWtp90tLWDLas6UovaabYXWXxBwzmEqRIlvILkIKjouzgKhAlkelbRrlhe2anYhNJjdldnZmZzX
MO7IZtnYaeDFY1knxsTxA7utPAdrb8Y+AulDX7pWolQHu2PozTNW1eHUt85PqcfLGtGxvJ0tAENc
LVb37aKz+kEofsa29GOMf/RWq2pOjNlA19MWA+iF0DjPrngo7NrGJFZfMj94a0PkF9TXjAI7bv9+
WXaNZe6zmX5HNTCQBgSx7kZ6p4kRjojMiuGHbrtHvx0uawfTRq0AWDJnS5eBcxYgsqQ2kMLMQ87X
q2jXOH1i5gursmemBwI8yDotO0Qsy3qaeVITOvJ0sseBNdKzFHmA09cpEF+LwCNsSz6gk16ORb/S
AJbyzBL9Bjik2bnjsuWoxZ1srUEyTD3qdVSUV22N9j5cZtoomk3XRcmvOutpFQad6HGrJyTCUuIS
56Cjm4+S8TvDq3kOd3ZlvbB2PtkrTE3u7WFb+jMnr3BOMrR8mwFrndbgJ+kIbKy0mE85c2KGCc3X
ZmijR5EZ/JCht5ezZKIDBv6Vwe5DoKOBwZJlb5ze3A29F8SuQticUCgbDH6CFRJKIF7qNP8RWvLa
a/tchv47uPJdV73Tbd6PQ/hTgQjgmFusINe1SJgVbKRoEgsR5EbL6Wc3kNhTGeWXnBHbVrpYVXvc
FKXNBImR+E2XLKJs0zT0AnILlgWrFpHC4kHlLNBJPyp/uTHjg/t6nOyTQU3fxUtGkCNG734zyVXx
j9jJu6ms48js8MT3S6M2+QBVU/rnrrbOyvQSXyw1hVhZjTu6OBm5oaMXl9oKJDv0Ksc7gsfV3u3t
KgJRgIG4qGT6ACTYHOK2txTEOtz4WIwXKvLhxYBT0KPf7OFOKKOcVeJYOa029FQ8hbW0x2In3MiS
mIW5Rl7a0XMYMTfejQzTv0LMCsrhLkVzTcci/q0J/V/dr///KP4CuektyuI/78Tf5DaXH0vxrf2l
Ff+Xl/3eiifBgjAL+rC3qD1CyP+mFQ/b7QOSEEwS7AbRL95DB+8hLGcI0ugkbtZDhB2/t+Id64ND
GhfBgpjM6JyD7/wjAeR3AcVfbKPZj/YfCCq8PylEsOTx9h56Cs9jvIRK5Vf5hhRuhSi7EXeKm2d9
d1uXYXmD+NXdmjlNP+akMyPllZyrtq8NHO4AHVSCIqg5tFjq977Rr9+Vk40872bnAd5aJ31eGj/4
wbws2BR+4Cstyf8EHYMXoqzm1X02wBGFYCqmkdNw/x17LUQbc6XX6oEf0yKnCiuMIXhEOj3R/O98
cC3rs9PQQE78Wxvoc+XMmPdvw1Yeb8X+1NSnAjYckOCAYe9Uk8laUp945YLed2pkFz7nNipF2q0m
oTrsCayICENE09X9CyJN39qGghAZ82MhMUCM+6abQhvBqFkzqSisomTNNOW33OjVLpDd+uDZVRMk
ep0FLyUIUX8hfiYoLv9PHq3/dvkzPIDWv9S7nX6o/sf6pwfw9rI/xG7OBzLs8Pdg72KAdRtd/WH+
DTwEb8z2A9SX0KhvUrg/RmE8ZKjBaWXdlE2/Pn/hB/IVcIjxf3h0THye/8bzxzP96yQMCdONDBui
bw9xMnJy+PUBtKVC7cFecgCTWzhJoxzYgBiByzMMOu+8mEpOz5nXp6fWLPLxOBXN8Jh3xlTvMbLe
oDtqog3CQK1IgnR06FcqEdsdhqWMXnLxSKvFpKhp8AFFkmn7YszXrLRyZ0MPJ31Z7Mb7xAT8vbLQ
3vCnXsgb8Z6HstWPvYpe2i6j3iPV2I1b/8YLwtfWx4qB2wV6N2wjZtoW3dLWiYduMD9FpSVwyhiF
/dQ0c3nqFcUDlENU3x0vnP3A2NJ9W6412I6NZVjWU6ptg2mJEWGwVBxCEYsvUKxqrRCqC9raLpky
785EG0rPZMBrl0yF3y5UqYFo3HLX+P2LxDBuQIzZmtTRK5UO95QkhJqKejxqKsyEgRsv7L0ZT4Td
3Oo1vwa88nESGn17U4Xmp6Ae9MXvpiiBZ8z0z2QEOMy9Ok4GMb/aCmfgPYLtty+GiCS9FqDQDXjG
Ib3A1RRD2yUIToTIwewuMz6Po+M9h4OoOeGOjnVH8GZk7mfw2W+wOTgGAH60PinwJxyqFpO/VtX5
ch92lfETkkCULI5MT2W+5N8NdAPXjv7K/rfP198+FXc2sEnBf482BWoTNzVRZoEfNPPOVGOzH0FL
0sfpNONOLnIfrsO20ROhcMFQ2Cg4rBFe1DjgIbnzybjID2lllfrgo051djk+omLvwPdrMcnQbQBz
VZ602x4n5SIYYaaDaqDImKMxMPN3VreGtGFKF2nlUHMv0Ac8ibHvN7w7HbC+h27r3kabsNaqN2U4
1XPeqfWT7HIQfzTAXoSewh2HQyjUaLKcU+ON2TmVbv5RrIxgqojgO9SbBWZJUJScBhCyTTfWugB8
uPW0TYAb42c3Lj1Jn5Fhmn/r6evPupkhsrl9tK8q2/k5+wwXEtBQdYsPQoNMxgZSlLtImEN+LauW
vxWNVbcDGGzPNtliE79wPKk2EFt0+v1TWkfrpdDQiRzUFBs9mOmlhuXHfDSbwz15utYO8b7zViGE
29fhYuCD8W/drwU4U7gvLbN/Hlr3kzdUtAk88yM2xFUkiM3mPBb0z/R2KqtLnaV6SHrL93dFqJlb
BXaXjGYJvAkmJYcQ8ik5f1btQ+/r+rE3HH83r2v94BWudRoztnDOUri/KDBv3clhC5Ncn3JXAocp
QcIlc+U5rwumgdiDzw+VRDFYmpd5jN0eB0JjY8lJgjktd80wLVvyWugomamAyjn3Bj05B2G/E4n7
JXTKc2PM3sPgZfSd8wn3mxn05oiKsUpFHBoRaplIFuOG7K3gEz7k4pJaZHGsSgjkDu1RYbTb6A7a
agMqYaat1NLVXYXjN4nJa2CGRjz0hlB09gkmks+SAlxA8rPyLbAsJqZG2ejXxVvNrRYyJyuzUydt
du2b4Xvr3paUVVtnBTZJdQyNboslz+riqRo4hOZNT6O0oc0CT2+24rGazc3k++t5JnzuMV90/zHi
+ztHN9WLOHZ1G/QbX2fqNKZMJo3VH3Vc4pBgxorIh+8v4aUxLYe9FjSg0lRl5y9+kJkawSnnFFvV
4jwNUAOTSQHJwQxIC93xMTypaFr2uZk1ybzW7y21x1YVqw1yRwbXdh0hfQIzQSxqY1iN5kXQkWqq
oYM8q9WDCkumNQ3iyXZmMbf9iVWpxwDx+beVRZYDDEpcz6eq5QmFZUX4wm9PUeezaC2aNUrNpEv6
hsmyOt2aOnGwssOo1m/2S8byjAHAdnkcZvvJ8m5vNOQw55A98EmqqdSX2ZwnsKyzETVXdvv1SiOt
XTdtS0JlPzb6ogjg+Iud97/6JPLfr1xyYUH8s/PKvfqRtb9wUuy/vOSPs4rlf3BJkYE1jc4f+zAC
oN85KdYteM8H3sFJIQo5zyB0/6NW8j/YAFR4HSzz38uoP2RD1geQHy4FVIhc24U48m/VSvaftOYm
UwLPD6C4QKQDxmD/qVYq+5GspDEqHkQZMerj9GvSI1cZYLwo7Vz30cVM3e/R9jYKgWsEWJoTe+En
JciheblKir4O56Is434oSgxfeVjhvf/ohZNRmomPRJwzfUMgvab//zBU0vxemx13cRz0DckvysoJ
cLJHq8X81uZ2GU77NnJZXXMpTpC3rJ8OIE2Eqr0Mvxp2SU/SDzOkGK7EgZPxzA/ItT0M0ftMt3rj
RBUku7Job6Gu/giekPUAk2LVUVNox4UbZhpfw8XPUXzQI2SPDK5+PhVHGrjiDpVOcQwmb/wyi9He
umaHJUw1fv6kgrDMkbsv6wOS8TTaQP+EqOx0fOMYROMQbntZdZsIV9NZsrZnU5ElPMr+14Lz1WuP
XlBcPTQvm77ogvtCmYjJ12L5D/bObDtyYuvWr3JeQAyFQu25zN52Ot27mhsNUwa1oSbUhfT0/ycD
P1Bw4Oz7fQGDUdiVmZIyYsVac34zzRBZzt62B35KTy8yEcMJm4zfp8Dre5ISUZF+jueaCSnqb3jB
Jk6eAlcS0dfVM7MzPK/jVebH6c0yGfOZbVV4R59h5lVSyXEfcUxkqRc5g9mABKoEZYtsPoF5I8cg
aSHZQXVT11ZXYVSzvJDgGxUv4V1YTAG8LCjk7SZfMvp3AWOCZZd7Xac/ektf+mFuUT9rnqytU4zK
7CJsVrvMHmiA2rgrFeqvnwNdEvCbZMWpy9zhMCUSQ/a6ZeEhDh7axTXQVYhK3zlzXz8UvtLXc82Q
3FateLC8aNpXo/KvYzegiau1579PTSR2hi/NhVwWumbpXCtgWslMZMahrazm7CZ2Pt/a1WAHzTVi
0ClsOGNXXRgy+YBzuFVjWjX3btGm9RV4buFubAmrvNowRfMB3yE2OrNDrzbBtIL5USAwYOa2UwtX
7wGv4zqcE2PwpLDw4vm20Lq9lhrr+MbDtLybU6ydG7rp+AfQSax7mpN09XVexzo6IyRP30lHmJtt
XgYFmOhwVtZ59MA3IL029aUj0eA8Vn1KSGA1vWEHpmVWdNOwn5tKzVcmmVOPdr5TETxQ+naKKqt0
6hPtCYavPe5nsZ0QtfcnGwHcoUqy7B7FtWBM2I4UALWOFd/sOGRII5uZFi7IOjTeTdyM43lZsqHd
AYxEHJ5yN3fNqEaxtStLAx+ni5Hc+1DG2FHVoIJbs6jpUnaefdQFwqM0kcnME+daK9GvActnBdnF
qknSOYy44rHC0cvXO1XCx3Mwkh6xjbbI5O3uES1VvjxEg/WNmW/FdwpajNmG2NK9S1/LDuhyC8UW
iPpcfzbxqhgP5yF9XpbQqY9u3OgKxRChO0jbGQ6fWInmJ0wiIOYcz8dgnFGuAm+wGXDj0cAnKetG
/zxZ7os3+PBKM69bnsbCGZvTBIufAiqGUR82lriRXWffLnHuPLjVxPcRTU2u9vlHzvmwZtPNbX5c
jAyvkRXMxS6cLGPORkzAOCRh8zteqTiGYdytcWkxuFnuVY1zcsl3zuLKB6uZbTwoQ1ruyDpxbqgL
IjJFoQfsraxRuF1SA0d4cbOdLUkdBTIAcfJHDb39jTrbepG6HL90thn1Xteuy3fNNSO13SL3SvhW
f6WTlZEqB0RHfkomzA0/4DI2sxqoBp7jN3Oy8cNFpdduZ3n0amaOF429yRFNYHjlcLN1Oh/dv+fr
BAXX2IwnxDmy3mMIn9Bm154a3Nu6aoZwE1Zx+SxmbC6AvT+5PMJYtjqzMiMq2zkRsBg8YCQWu6SP
Z8bycFKxjaMNrCBq7nEtxAnDksk8VnHnXkqFDmmjdKDE7aTr+habJgqfsK3l57Y3n0F3jtEGWydQ
E5HFZbgdR7vv0ILmZrhVtJAvyyy6R0VjWm9r9q/kQZgx1s6Gpt28zCclgx4AwtbFVBFftx2rxgUA
qjj8t/30/xN/7FAN/GM9dal1n/6fLdDPMqv+LMf+5Vd/a0F5PyCpBopFPCf+yg/I3K91VejSzV0V
2qwuPsIZScn1a10l/R84zAOfo9IhKtHxqYZ+6wHLH/hRwYANziOwMe8/8lziQ/y+B4WnTlI4oAYP
aVgH8s89KIgerdIlrFPTh6BARFSkAXD9BDiIM+rI7PuxYbMN7SBFc8FMCL4ZVC8mkwtF/NaZmHMc
OESrYl97ddKeLJI90CBRSikbNzEUFpV54XmOU/eqqYEqYL5wr3qXOSksfwxLaCskrS2BIWXKKclo
E9MCUgynzzjE6y/shLAM7CXWewSI0GJwaYVnkeIaYdIhLvRx0GHVxGb4m6F2wuboQK7U+66w1l+R
QIe2RZ7N907bQ3PhKMIsh7MfLI8OCA+Z9tGryoR51EztruJCYSiRDej9u8SpivoaOkgdMkYLuvcO
/Bt6P8WyIFJs6qJaCU5IJcz9jHhmQAqJ32PzC1fGcRLoPkKK57UN/xY4eMPr2hpOkoChlw8IUyWh
/nXSBtDAdEdcEgda0KYJkvg19wmSZ0KXAaAIohzdcRMt3XuuM65A5dbgk7qy+YKdyh43Rmp+zCU2
8UbVHmidhN/DdcUb8D6YQxNqnntbJs5zHq/b/CB9Yhr8yPCp3YLXDAtJfiAY5HgTld4ybobJlhff
RVRCokV6kYWVn8MR6rueMsRJcTayG0XFVYXSLt4E1no9f4FjKKPA2PBc8ye/3NDSTgAbJSQ1vzrD
eofx2AGVsZeu+4yxfDbnqYnBfJmC6fPOJoote7BgyBOZy7yShIQRHskm7FbOLdm6XJcpt3iPqbEY
mTJTIJQgsOB2H9teeSjfVvPRJzoZrjyUaqH5wqL+M5A67ps9VtHrXE6P/dJ5kFYg88BphRpE+yh/
CEYoYQRhQOVAEuY8Vy4PIKqM9amF4kxgAnnCh7lZQbyQivh3kMa8t3R9iHobVE7qo+CiwzbyNDi6
485Gsg/knuaVZI4r2HHKgCQUmM1wsRLLgfMTj0xWNsHU9O8Bas1kb69woXRqV0IPlAro5g1HIkRC
yTpFyZtqvibkiwNGgQNf7QkyoIAVK2yv5hDgnj6KBSsfoZnMk+R9Z8sAREgVAM7ITCIPp5qwkm9i
MXTvxri8ZLUQa0gjhOdkXlm/w3qLQsnYWHkDZDix8nz71s6OEe3RfQDU9ziPY7RvXNF8YTofv348
wgTecH1Xll29ftnz9SGN/dE8TmjQhu3kJPO9Yf+7V4sDvoncAeRjvhu9MvniwvV1I+EKlSEPzBDY
9U0J+Z4nYP1K0JKDfZ4RrrJFtsjNtlk4GM20X5CL6lPrrWWHP/ji2Z3q+NXK7RHNOMxjOpgt0Wel
hr6CBmAG74SdFCGONwFOzBQfx85chuvrft/aMz+FR50HzJJ8ybsCiSZ6MBfOitPzqT8wLziVIXal
dXSe6pLEhhaJF+T1mb+hRvaMNs8KNUKeoEvlfd6OwI8s3c2spwB5d3bZBCff0/YB6X109lqOWnJK
kaKbesX+SaOT6bDAT0736IL5hnE05A0tkhVLOfWUPs7Ac26TfIj2H5RnCbzhsYhYnmEjUYQpUfL3
fMDti4L2TN6zZNi4tZ97rxm4gsj4HxsedIwVadF+KUA+nSL8nse4T53ngKSIi8/ALj6Eaa6Xpw6U
qXsyA0ukXPjAhoMrULloRZaRCiKewUovzXVSB3hBZEVaz7WKybjIbVj1g7tSv3B66FOZQV/vMoel
mSgKnikamTzgs79wW3VXem/2BMVna4ihfG6B/z0j0Z/mHcdzWW2UXfO8iA5CV13xlE5MOFaCVysu
WQ2CRynMj4hcGvJoxmh9ctCV1fO1m5PzsXXwsb0nBdEMWerxdK+BBIBZwfVknsgB/g36NIiAxK2P
Z951XH4JMhDv0gGmhLYn8GFOZgB+GKkGfE57XfZI+m77h5EYFHPgoMH6plfuGP3f9XmMZrg+Tbui
ZOTCjfxlScs7gFm7JpjYjLw41MNVHnYtFERs23rfMBu5d32+XWVZYJMcJi6vLIFvrd84NYbu61T1
RmxN6+n08LGy1nUq/ONEnseryBAXvU5JMhefvEmyTpTuukqJFffqpr33FpVTtM+HVj2IdHC2YVK9
V6mJrnSzFtdha6+bc5ywAkflIi7TwkERfRtDCkAw4E03JuWomd45czqfWH6kmnYiQZ8B3RpFotiS
PR7dKOjUhIUEMadmjYe5fFjy8qfczph+QHSykle2Us14mN7zNY4wvjXFYFhr+U4iqGCJ4ZQ/OZS5
stX+e12p1zoR+jqKzUBbhjxZQx0i9bPjhlekXHN1ke6XzxyOGxTeQ3gvKNFjvrujPOiW9jDeif7i
2SvWDmIpbqYkfcmC1gPUVsVfW0p5EoTacwf+d6v7YGsHOd8BjthCWdOp7+erLh0aDAARttN7O3Xr
LaE/n6p2QK3XtQeLYdR9A60uV7gWaMHZn2a/bCz2iVr5xE+LWrGqEmAlXZ9et7QHIsTshpGR7yx4
NTq65xha3Hzb1I46CdHSbMrcBj+CW8hDUTkcHIJsOdgD2h7ATQWC5GCa4eNVuKIPs4+WkZO1ldEx
QadiuPxpdNMTW3wX0n+67vKIbS4z7SkzFtJXNYkXV4z1rWX71V22FOF14MQ8vcKlKEnDep+E0GQ3
dmM4fHBkvkEOat+SwWzLDecu81aSpPYyB+rFzdG0nksOIw9tgfsEkPcUbt1FR4dwlOPP3ayjH9OQ
uUA3QYhbeMj2LWJ8NHWzRmifRyd7bMfdbHp022FjsGy5OeBx2eW3IYlz8y3Xy3/P+7AirQeu4Fxm
9j7JppdoNdkVWaCPQTx9heO59bI8+DFpzfyYenO1E0hxD7IIGI/2nn7obC4rjix/7xllvtE/ewbJ
B5tj6rrbMEuXB0VOGOysQZFiiJ4tjkbwA1Hm7pO2e2459KP48qmM9p1q61vyFVmikLxu8fQ1+4S6
4XpQWlw7nbZOXlQTXhEN7rmWeAW5aBXjnZZGu890zbRtuAetD1yNFQuXkiru3TYHnRBeW0sh7tgE
Zko+xF5JaPlXJfrshwQFqqxkdXIQJBzDdYeQALx2JsHX4xXcMLxP1pcOBskuB2R6u+Tew5DhSAJV
Zz8WzCmJeij7F6iB1nlWTYmeOwz4PZSO/o/9WOLGjx0Hb7upWiSXff05p3yHfjioEfuwcornNRPn
hO/Auth4sLbsvMGuCN3DEKAkzklkucLQELxZhfpM0BQjJ4Fqn0kH7DwLwx0ez2AiP2TphyP49XTr
hQUkgzJLSDIr2YiStL8aK++9SRN37/Qg9ERjl+tqJa7mXMu3WKO/2sV1RyuxdvZU15pKMLOr3VzY
xb5vXf85bllRWPm12oNqYEKUOcHJ7ow8YqKZd52Dc9yb8E2c08GCiNDQcYgGFpJQc+16z37EuVCK
feKVeqYWR9WZP2axMLQiaM+Vp2DpxuSdxT85pLnTkh8miIixRrTcSRojMqkTGR/pZlosTDrzT2Ex
TK8W7uqQbS92fMZ4It2h6OMEkrZ7NDP1Lel12S6T/fSK8ry8WnzU2PgDCtLn+oVZFxnIUR5kB98p
7ZcpMSGPuFQ1MUIZreIRXeOgsugbxt7knLTqwjiu+7Savm6UDm/9osISRDXwpAaHWe3UrX1Ezi79
ddG2M3YQvxnsK1UwQ722WrE4mMXouh9QOg3ttM+FReWEzlnGd3EfTVSzYFQ24Cbq8EvcQkc8xXk+
NTPL92xHMU00veC4z/N68bbQjpEQJiD6J4QKHj27L2Gq2HVXZ6WPDyOUyYGZo6duWlvz58AWaJTY
H9zKEcoYSWwDNShUNaqtauooRPzRZW/K2qacr22xmMcZUfAztWi5Ve1EWQ4PovlF9vbN/N+/F1DJ
9Wz8R3QsUizPd8kC9UMmpIiovjs7jxAhlW7TU+MnbJgY5OtyADI66cCsneuuempQvLpXc80uujPI
qIrr0XXGx8Edow5+G+RR22bquQFpwzYteqpqK6OmS9yFaoIWKyVATKjbRq9HzyqyIT+SNcHhrQg0
vaKZPsX7LzUyiAfzOHxwTqu5MY9pnKEpRuBg7tdt5S2riugMg5LRICFHsHr/hf7r/EXOIvwAHQt2
PZeORvR9uHQqrDabx8A6ytTjljg1WbPX4bBWXpXh3fMcEuTghKP1VDkLZzlDmspbNmfD8mQiEhUg
hQqKJW8hxC4vXf6Ti8W/DbLnBAMtFa50QMxuJrTO5jxMQ5Kd6oQD+TYLcLHtE/wYsPMVr+45BWdJ
n6QKzBXUJ+9/mJ79jXhuddh/d+9hRQsPrp5j28T4rv//DyD9MUoykGdhiQFtRKYSzQY8G9xdsCva
izw+cqMw/ZqufcNqMz+2PR2GNuUEntVGP6qq/ZfLL/7uabSly/DODZh+fbzjP7wjy2utZWC3R4OC
BGfjw9N67GkkvXY0ZrgI1nponRxyNVxCnK/onZN9MuHDPQqYetjFu2Y9OXEc+edLtXK7/vwtQdPj
4mpycGfSbVr//x/eF6SfMmv6LD/FNWrtnaqR+Hxa3GUASz8vS4sXKaJoryuYHz4hStSo//wG/uZe
gUQQiF/hRknexSqE/MM7mFJf1IvTJyfPRCHS+6pLst0Qidi5CNSIpPIkcXPMZJYmGM7jpUJz2MWX
pOrFc2gPcH7rgsPXP7+rv7ks6M8k80yyjZiTfvcAVXKIUTcQc1UREHMElQcw1GT4nzm4xOUWiQ4H
hEHR395ZY/JvbPuPtem7u8LL++s/nFTF9+JPUoSKoRoXrslc0jHIRTsDD2FyqXJuSDp7mDDlFMrn
IoitK7GeUiu3dJEruG3j3AGJZ8a/sYs+SU/92mhqWqSkP6+o1MepktQjH5frv5P9f2OCONykPzxZ
f2GCXH76Ub91xZ970L/80q896AiCH+Q+l/E9uH3wafx9v832bRcdMopGNMW/CiR/G+2v2mW+LKEP
li+AsPV7C5pn5T+QPeI2//OCYJOowGbp0nS2pe/9Jb+bkY5FjyUdz5Im75jeLoWmBV5wJGrzGSRU
kLlzo2Al4ASgJgtbUFjF9EzAvX+1xkg9lSqMF7IjpXOrURySzdj5ZwOrDYZDaRFu1ZW4XBypsRwz
HfwMUUhddBhQVI9ONByiPswuDoqlbQEUAfvfuDicudNui99aXgCeEye5tgFsAlnvi8Ku7vtpGh45
LzBa5nRZvMKXmK5dC0rExmi/+my3HEcGO7WcTRvW0WOZhupRO/2rHxbLVRcKgyUsYBTZesujLUr9
aKgKqad4+wuB0XtrkhRf9HgxMkFdG31h9oQmIZvMyGZ7HrBrvwWB4tgGxg5exOKb+7Ztuns01umn
FmwtY0z49DuZjM4hSgPBTL5NHz3j5/vRdkdAXnZlzvSVnHPYdi+qzKjmaYZjCndH6WxtIEbPVT9A
bhPmx8IYzH5yLPCeW2N2brOKo1jVeN3XrFpQqa19shdyJdUlnMb0YPXpcq0VendG3DLZlWMYbGnu
4QnN6T3cOxEzBqtM7rAc5Qf4KkT4ppzsO8QlJ3uqp7NJq+FcWSLD067AhTGkm59o9g10XaNi2+Nu
v6Mm706z01a3QWtPZ7er5hO1mXxDu83AOhL9kx86JZivwir2ldNgLdcp8BHVuMPtIlr70IrA2jHt
qx4sGrZP/ez2X9jky59np7OfnXEgObkwFTQnzyIGIzhQofafuVbNvG1NFd23Xag+S52NBxE2JJD3
jr2fqmI5TjYyRLiu5r3lGHkn+qY+54Yw8EiOGcIEHpx11BtF36BgDBqmlIA6YC2SQHeDeXRPBl76
UEEtKzibtmiBY4IcaXnht0IzT/vXfRudMbwB6EsfR3rNxdUA6YbKRoDvLMOWMak5GGExthmtKD8z
fnVPZdKEHKx9Oi+k6d0jE6l4ppLlriAmr9mQGmh9wzAYQoRLOtiI7eRDJkCNP9xUKPhZv9L0mtB2
0mPp6O0ga3mf8erRYDe5OftRYe9TtxtuKcFoNwCjGx+0lSxfUJg4HgP/xtw0iAWeieb27sLWpZRd
szfHoLrPiAZ7dFYgWeHJfmb+uWCqEXRtUCa0iOnSHtwJgtQA1Q6m9WmThXRRcEHGVxgl0PrONJjp
Vwlcgxx1OZP5iAVeWUaa+xkG76lKWns/DsrbZ1ZD2yIV1XQcxqbZBm1G7DZUnTuVqOROp66z81tf
fi2zkox1vtvmUxenQbIx4TA/+X4hky2iNwtloUhPng9zcljGiqYkDZh4SwK3Nx6QFtt3jOphdECy
K9TFwi/5GggsCLh86pigu7aNWUmyZtktqn6nqWaHm8FX5lYugZq5NR6EM5wU1ivASer/XHgRZGMr
MTuZwZQHS1zRzDD4glAs0SZ54AwoPukuJp8wwRbZtIfSrz3b3OL+CA06RJko8pkPemwgSq6URXRJ
UGmGzn6KcZTN/ksSKM6fvUyHEcwJAT7V9dI4sHG20BiVaXbu6BTTk85NEn5zkyJOKyhGpT15L2rM
pzbYhw3W34M1DH3+PgdNI5APcIs0Gxc2m//WAf9SB0iPTvQ/1QGvmU6yKvtTHfDrL/0+i3ZWN5Lv
rCxVxr1szL/NouUP7PPo9BgE4wiiKvx9Fg1QDI8+jyG7NUFFCPn+dxbNmJrjBrNfeP2/jKn/g8Ig
+MsJBqhrIFEM+jg1PB777+r0cKQdBlpenEJiLmi7jjWqu7UVu1Rze84muTd0aecqpF87rK1be2iS
rbu2cyndh4usUc9Ga7PXC2IR7zXmi/t0bQazRZfPdUWTd4Orinza/jmmS0g81tC+sfEVGog2F/iF
dl316vRsro2amAONjqXfPVgDN3WaRGcmvd5bZbfr4dUhnE02Pj/0Mb/q/dr6CZedeYFWqcxPUYBq
Mr/OkGZcYGrvNdSdkIDTG5vsRYT8Y1w9T9JNyKQnNNu9DL0jBCLk2sLr59GZXdJq3DdEfNJzwoLe
qax1d4EjzUVoU+50kYZfy6IMnZuuH0MuS+04J0HS7jlvxEByhc/ugpoSvQvWBe/A5udu4q740VVL
dZNMNPe9cHF3HhPgzzrvqr0nYndn4VZjIiqnV/z98yPzZJFcsb5nR7jFzX28ZoAeCSx1r9DuWF/6
ruQshV32JbWJaCgIoHRhRIxt8Np0GVGrgU+I6n4hQhkfZR5TVcUfuUdwGXvnDts7J0ALdeuzbkM4
kI27DqbLqfniJm7I9sKMhopovcq4S5INEzfxTJwn49CPFg8c5XU0gTt3TVouGSXpde7YSYk1jBgD
ppySVVuRPz9Sm4RpRLfA0i1jpI+UJ4EmGxn8GvhElAH3FfgG/ZiWcEsURanidzw5FzR/13kTxhDU
BF6vGNAjt8m2H0KsnvhuMD9pQpPnQ04Q1gXdqKpn4C0GizJLh2t/LFpniI7w+BiYS7Mjtt9hOZo+
Yqa2TmUIKyV2xe1DckYodJabqFpDUGbFXB9sMR2bHCzWqgfgojgt/APc0AuTNiRcvAHGUJwhgyTn
MK/GmHk+BMgYqhROVZJY8O3sQlop7i4MMDZc4nGd7nV9bCdXfTPSM0nqvH+nR4faqyDnAEHB+tem
NWa+Y5nn9HEgVIxAnJCF8z/Id+Kvh8rDf4cLWrgNzSeuoJ4Mf7K0NBk+5o/GpNyWpcOp72NJRbPE
rASvkmPfgwHxzx+vCAWMhte4Bs7SjOXZbNlwMpC8DH4nXZBYI12PIao7OeNy1Fq4b/a8jtZcALg3
vk24VYvAEnacZ/QpyXLPffiYjhZy1U1yuNfdPsaII7ets2ooElnysWYVhmc6FP4nKGWz9frxLsNy
GZITMQDEGEPW5s16jc9TZuFau0Qa4NOmLDrGkZ3PVHsLuaRdnvoJuNChLtdbSstovSYrJ+7SE6Ny
Q3erJnoVPtglmte23C+jfCzA2bGo18l7xJ57DKaSFQq8lD65yhbzYW1o/rws63g/9631mQJDU28S
zwrVEXvkKtcTcA7BexWGPlnRT7s+csg0WPzp0f4I+sI880XypEnOB4MALZdWCoinCzSqD4dtja9o
pl1mARnpHOoNAhwSdAOQ/y4+sP+bPJqjV24mMmQsbuKRkPue8bbumi+oeLqYYt4xT4CG5BFWhDos
2O229pis84a++5avBEdEowgkyqg0T6FvEWfraB5sRyOOg+5bW2ecshafjlReuVlq1K/bftIlxJao
AqjEJRvhqOM8hT4UBd9aEm/kXlR1uPrtJ9qjDpSAqyQhfVFW6/WdTRqTwhKwggwtAuvAUdPdJDx3
z0nISZhNSQCBLX5oZHpuA8Uok4jHwzTFTzonD5VoqsdyRNUIcGvNjA2K1HmJ6iUgUEPPP7mBktex
7rNTPobivfSC5TVMBhMciKSFoKf97CfZmul58LwZp0j1kRVGglhmvdCf06/Il7odDGpIl2WEGGEW
TJRQXJdnYSpYIpGpoLwobO64RX5az5x8A6ayuwm9iSnWmBPdhEgqll+IBetueqgKzE5owF0Niy5u
QQR6wIQm0ILA7Rx/m8VLcPaS9qJ9rX7CG5m6+yXEP7gxc4ucpDfhpZwsguotx+w5v0tiIsKxE+eS
3lf7gOYzvRrt6NjDyjwszPPgEBTN7TRUeJusIb6vRs1qMpNqQak9PIqq+iyTifNJH3ULBT9JZOem
QE35EjeyfgVFpJ/Kyb1PvbGlXb82Jzl/PGIJCp6ABaabckCTdteSF3DKgrLZM7OzPyfOZG7cOHxe
YEp/Gqhej7Xxan30pqpe4ccQ/E6jNtG+kNMJ9Bxip8a5J/SrRmPVpLB77dRGtLGUW2JqevuB8LN6
bxy0nIS8iQ3+FQ2YbeyZ42EAquxdGqfT17gxqtyS++LlBLoPgzrNbQkT2BIucDGiyLahsftnFGPh
l8yJbLKYMiAeQ45kVYFDuRp9yVONGuerYXu/mcphuHB0/DrpsL1tumXumT6axsfGE/dn/Fw0K9zI
eZojy70hjEo8QLbsfx5do7/OxMW2b6a3y/EBCXhM21JDOknKokJqoD878xI/kFgS7wq/QDtC++E8
9gSalZyWRgZM10MnrTu46P4eXUMyM4lTP5X9ZM7tkuX72JudB2Z+4xcU5jHZ9IDDoyby7sxAitem
qFLVbugrNZfAiotbpCNOtUsH23pwi9rbBe4A9FKVATx731w3naq+ZkPvkofSvMRDYxPGpV/J8R73
TMxI2s7tL8JJrvIp787W7LmfpymRiu8csAURd2IfQ+O7gaeV3MmwHm6HQJ/CYYJKGZBnldpiYNWs
G4MOPu1dPmEIMD7Fzg1Fwxl6Nj8LLRuPCjbaswL8CNpFfIpzN9gkpa822qndbTURDO4TBLATgLNY
CxusAMaP2CmieNklMJU3lc8WfohcaTNYdxr5ECauj5BE90+1hkSE/2Ks+TwpUVeLYcrZj7f4eb1N
MyQvvt2Km0pbJINJw3CwArkV9Uo9ZeDTYIZQfhwcVPw748Dj3De2sbBn+l67mbs0vVcGW2Yh7fnZ
xvd7M3fS/gQBjgXKT+pbVqCRkX5HyEOvogfZ2+OxqQYywXrHbW5otbVMwlU5EozWTWSiraHsKdiw
68HNh4cs8+2djv0rDKtMhotkfkGHF/vYAofXdEg/w4qNt6heQgoKOPEvYxO1m6AzMHzaTl77jTIn
YyfOxo3S8IAKi/vQ63xCnaNsulphMPgM+YvU45ug+mLbGBINXGZdFF5phO4qUOWxmdwQShwffGyM
forzOjh0po3zPdvhdIIxCcdmPZ6HMaYLowVTLr/Ck5yn7m6Zk+4G8qEr0Z3Ow43RLoxSxzHywO+Y
20CZNNwGrDfveTv4P4dlOu2zwveWE7DL8lsTBEigdET+1VpaQQaAhj2C3V1ccDpbyOE+XYS22efV
iAl1CIfbqYFnEjNHX62bKyo0AFqSq/GyIFqVL+xvxW1flTIdtwq/3X3e4/PuCq9+HJRJ/McS4Bma
ASvSG2yAlAXV5P5YCMdODpFf0QYZbWrBwhcFYlTzhEfbnOFyd/t5KKDx5l0YP3SUAbdO2QCvrOi8
4WMeqxppCZxzVP9fMBnXj0s85STkJemhpVF49jrPu7RVCkcxalsLd4s3XMPv6m8Mc4BjWGXmXnh9
95xO6hqMy00TLmYHAZhmCZLGbz6r5XHsW30tRi8+6iR8pVCbDgFumzHQ7kM+ziUi/bEoikNuVFJe
08CaxCGLlmVeJQZNvq0JawJ85PjL4yChGZpClTQ2acUB80RAtpHVwAWR8XIuBm2pb/Nounsrmpc7
kDU62ydN5g0/hn3zDDOpwpmis8GNnaOyWNyuYgMyLpXBYy3KTw3iqfQGhGEQn2Vlv/VT1NwaGjQ0
lHgWrhg6xdznfCZBosjT4JFeMtqdDBVPpKeNLqr4nhi69rC6Okn+3HrN9GlZ5T+u1GES3CdO096z
+12BNl2lQn84yf/NtHE9+P5pWAMmwHc5tGPBQzHx/WQVbpoT+51dM6xZBcdoWygTB4Gu9uqfX+gv
Q6n1hVCIsiMwMnO+z+Chww6Os+SFyhQlHudUcg/7qqVW4zasur1VI54wwPRBdJLp+Z++OnL3NaMY
yV+EvP27eXpjzYjvZlMzwWycZ3+awl3GSJlSgoC82li8qt8H1IPWpKjg//nFhfjLRcbc6EDIhbtC
w/f7zw6O24pxPNWn7iOTFNEnWl0Mg6iA844TlCtWiefozvCtk3UKbUMR4wxQJUF5wpsinv/5Da2f
9s83HaOjjBCI+8zT3e/fTxJNw+wkHGYCrd2rSdJ+8DKkmcuMEj3S4t/GpN5frAD2aizwHFcGNqYF
b53b/GFMysxk9j27q0+VwvfVp5zXoA3xGFg9Q0inHr6lpe26l2QMB2hSGvXHvO2Elarb3MtRJ34o
F/y2cvWd0qsyH7Zgc60dEb2OKZJN0LU8Se5SxdTqyu/ebURkEV0cWCxPDtF8et8atCPZgOIYhqz3
Vnvj1D/Rlfa6w9IL5FnbymcA/hX0C5xR7Gec0pMYaXUmk1U+yDbxTBgeylCyyN5XtNXPIU3aJxkl
HOP6tuPnGYg2X2z0rwYIgmEawIZpc6oWVvywWN3QQQLgtHgkolKfZn5Q37loev2jRmFp9p0I0YSv
DZAP3enHTf9ve/Nf2psY2hwEDf9v4NL9T1XVzeX49l2L89df/K3F6f5AptcaQx8CUFp7nL+3OO0f
PEFjhG+2A+2IQ+j/tjhdBxszq45NN0xEKyrm9xZn9AMqDww8AjsOCyM9yf+gxel8pEn/8UsdBiuL
JhC24wYCktN3Lc5SYQtUjT2fgCgV8469GU+ZV07y4sSmjlaxN2W6UplWh6n324iTrdZXblgL+7C0
4Ji2fAkBarZdX3q7lEXU2kBqGIA4fmvGPv4f9s6jO24kzaK/CHXgzRbpk0mXlOg2OBQlwnsTCPz6
uZFVPS1xykzve9XVpaKYBgh85r37boULsKCUhk4aIWLaEAw/RAOeiT2bBEmVBKW9QdnOjbvxFsmg
0UwilJiUUOQ+G2b9iEwdW6vCJ6D00TeetixfI1Px6G2MNZvuwlzARdI+YOuAxKBfqAzGrAANmWI1
5BduQ31hOLBuytdsH6I1QHL6uCX9AfclfhcK/zDzM8+OrLNxzV7MPiUXUgSQGagRnNE0K2CC0fVp
YCVQbhRXk0JNpHUyXE8C/IShQBSRHsGkqAfwFFirqTeYgE0rR+ErZgWy4LHBgLCk/gqDJoJmoJAX
fsfHTKgOokQICvqxYjK1qTyUEKYCZpgBn7ytIBpiCcq7QYE1BoXY0BVsI1PYDbjREDjY1VVHnF+Y
YxWgIxeJtzWRDA2rzi+vK8+I9Y30XPalHelb2aqiqgA+NJzG2n7uSQx/MIibAVfTRdBBTCZBlGkK
GgIv13qci9zcZqPl71C0Z9BFlii6RoxC3palg1muoSg4ztSfWS352cZ1I+doaUL/wIpabezSOHvT
XRkU1boXdrvDaXxnj6TMKDOupbQv44uBmeUr2vr5duozZxWUBIb1/rBy2KBibiGD26rm4ohyJzoF
TVbdsw21r4mseUqF7a6R5uVruBcShHocPcjRaYGOO+VesJPUa4M+iH3vORpbemGt99YRbpND7MIb
zSx/A7tYrGgc63W01CXD+6mO9hnxqFs2YvkHUrp3Iwq0LQbRqGYbWBhnLnKCztl+oQUwyG8oyKbg
qSZIyzbttVs59zVX24oU+itiqJKw9Ft3rSX984IPDWAwzNfEdMlpkD6vsseZHI9klBmjkZIhl2jP
aHXiQ1Mk7dmhqL6WCAABn/foaLVEbjp8mMjpOyxRU8t1w2UrmIHSWzaSTLOxStJ1ppNIvmpgXG9A
XKBFFIMTTnFq1zFm95INx1c/KuZ0S16esBjDG4vtjutMJHHinwU9qNuspAaX9ME0c0c8OPhYHTt0
kFUbj4bNtcCEJkuv3E737hHdR8nTbC8loFd6SGtbBTXjR2jckt8/pTdA0M2ngORgPSxA9ZImEVkY
5Gyj1pxnErCq7CAU3C0s6iXj3eDZsKtdh5p2epjS1BYgodKRFNY41jILBL4+ZS95zsyhWi9TXnks
ap3eXMkG2OR66s2Zk20kCfiFgPhYUYENfOe5VpdcnqIGzjKDXUGBbaQzb98X0kMwkFU43tvSGvJ4
LwfffqFHFcO7lwdG7r7wGQV4aotxqI8peSWsmqsoHyz+x43yQ6ZDkcQRr49D9KXKRxc1REuBuzKH
zoy4sZBT/PdJ/f+xxirFGo/Ov35SP/7oOHiGn7Fsf/zMvx7Sxm8oFHmaWogUL4/i/31Ie4QNIV9k
oUg1rf8aUeT8xr8wkRMhIsQCq2Bu/2KNmL+BLQGjxqISE6tje//JQ/pTs2USDWqwmuMV8ktsW//0
iOaOGRd0zA5byB5/RAKCM4tb6x/ajc+dlu8aFu8RoopFIpOlqz//qdiOxqllNRdH+zGrSHpksooJ
HUgA4SkT5jiX5UmxAIZeg8v5pz5LfV+/tBbqlyMF8/WAj83jw/71lyd4S0Hl+wFtS8DSwutIJ5pm
g9/r6Pk5owh4i4OygdpRpdaa2WT6Y9YwDmxYjVnrojOWUI6Yu9g7FnhztPY45nVy2/sZfrmsiCCE
yK7Z9HEMKa73onPJRm/900X1Jz3xn74Jz+YNOHD0uJA+fYI6Y3sLZFuwR5Fvbma7XralVmLjww7z
teWMWkVGzppAK0GEGfrFLTb6a0zKimCSBjNcCBNLLqANXKEsYuAUL9vJz4sDXJMczwoK8pK5JS5R
tlshNN9/bLn+5HvwPXaYdPa2R9/x6/eAPxVImwe+H8qJWHcUFyE8BLnz6uzj7z+tz82k+sZ9ums2
/2q/73/6sNh99mVj8JsmjDscryybBtdvj91gtfe6gzvy73/fp5sIuzvlsg5ZVu2+CfpSV+BPl7dp
9OxPtYLfF6fdPSdKH7JT+ydp8eeOld9i454nt8y3fNP6LGINOo4Llhb+vjNRDZPn89FYQbrPe//L
37+di0j5l7rd5exBA4HSgXPh/xwKGfr+QHAN7k3YWIfF68lQDLhmpOSLkyUwCxzh1JmYXvOznDC8
N4Wbr+3MiM4JsKur0nHa+46QVZTZE5zVBkjzFE7w5/YxqYpHpmFyl3JtfsUqWknyj9mIhXEmMJDY
Mb9kbmywpb4JENt0+yfhLun+798kwo3P1yMtkMHRgIwf1SnrtF+/tQhQ9chobd6LjJy/EkPDAeNt
fwCbwWozJw/QJRgQdBkJgSorkIs32zMXHbeToZIEGzIFm0u8IE/odetWFLtscW+cQNqvnsojdAgm
7AxhPhgsPBmlsetddWgovph6HmwTwt3Wg8o3TOLKXEOCkbs83hrZFL9ynOV7dyAXMR5NZz+prESe
Lsm+JJNyY8Vuugf2QnKFSldku2bseqv2v3QqezHT8AJUqO2GkCr1PeHBsyppEA4EYE63DeafNpxU
miPFYrGbItfZNJNpr1wsoStm2SQbDEZc7/Ouzh8HEEWFyomEbaPdOkEjv0s20SHj5GETU5LsnMhm
+Jq5ibkC8U31qTIoyTnRGVT25RPJUvkHctN6DnM9wH4UdAnzPFHjqKuxYT57WHjXnkq7dIKgOGQq
ARP0nXvrqlRMxKsKzVum4nZkNvetIoLsTSdIE64P3SHRmprK2CRGRluTHsOu0+uOZUlfVrhGu8nN
4IBwo7pBjMZqiGUj8Z0qyVPzqh00vZP6PNd1kTUrS+V+9ioB1CCV1sHaHtrs8g9EL5cn+DXyq3YJ
D0UMuNwgdECkQc6audF5voDeFBahBYHPQtK23tgt9HekdPbVYdBH+levR1tubyuVX8oaEptfa1lv
aA3qLatW7NDNjCRRQYO+VrJnT53Pgq8GgHqvUlIFcalJYt2bEWnFnG3TYcDoS/QDO0Ml+fxudXzn
nWs097IrrtMIhDumpRzqZgHOSWW1wuaBHqzrx8ZkAa/HNkEWwRw/VFl8TcLIa6JSX5Nh0NlJkgSb
de6THHL4RlW1Fl2frbTMDR4H7LtbC0HCyWM7BrSSfFlCF5CgwlsIxwxT76ByaD2VSMvyChObwujb
WT1faT7JtTn4cKp90mwJTZC8GBJuoYvZK5KksQdigJq4uCbhrXkM5XiCfJeIXJEiu4nJze16crec
hcSNQaXqdrMj3zLR62zfe89nJaACeHUza24X+iGOqd4goVca9iGhsdsbKr/Xq7ldXE3SzLEQMBdg
x4Av2Q+RKBMuQ0LalZ5V791kxyyCjPG76/Xy2Zo6cUQ/MR3yieA6TAr2qWPVCYUhZ1cU6dNhRJFx
q8kcGEUhoetAOPR6A2hE4C3t2mhdjJ56XIaztsxf7UmvtpZuJged8I6NXbCUyySrPUxn6c5gsHhK
Acci/KbTQR9anTKSjxow03N7DBoaUbce5U5zfbLRej0n13eSH9PQifoGvnSxjhqKgmWSOhohM4eK
BuEwRQi1M5bID03UZBt9EuaGd9wdPRc3MKv+HE2WLq+WQe+flkDYtyY36o1MYTuu8whbX6g39fSD
pDOS5wp9AW6Vde+Jhx2QuAHvMaFbIY3Ow42mU18UdZMAfRNUJxMlH2wfFXMQZLw6sBMtHRyEyplI
7HPBxvE5I31sneuLWKcadaHmkJFX5AYiGRie2wa352ONBOvQwoL6vmiJvi8yjLtZx5skEhigLaEI
xwXq515Kq7mxkoVwwL7jySUYU+GedhCbwkDaoJvjnedpchvouLmd0cKdOyCMx1cQ3y5eE5HGYi/8
jBkU/RO0FVK8O4tXAvSEbdA08JY014iRYXkLW/88czZWkDi3zFWJ/SIlfNcMSFPI8ChWgUccELWK
A8WLFSt1ZHecUBkCZE3kBzXw9Jhi9dtYtdkeITqhU6C2MXcGpLVdVGkOG+9aO0t+Af6YgifvggCC
lw1q7BXroNI9uMlwhqnGPzEfO3c63swOAfCz7jtXPWKynTe19a4nvE+E1IvWlTPru6HlUDAYvsAO
bYkMSdoZHySN5FRkyba2ogTywPjFiDRzJYYhDZ1cOBs8p3ddVIHDy5N42nXNJJMdH7+Xv3e23yan
DpswhDHpDCGG2lGibu9YuFpYaE9BVNJbI7YibLvyTTu5mYU5l8vvu53/jpb/YbRsYDKhHP7rhnX/
Jt7S9Od+9Y8f+aNfRRX0GxpX3fLQ0zq/N6X/8s+4+m9oatnPMArFR2Mxb/7DQGMyVCZXk3ZSp4uE
rvTvobIBRxzZqs+4Gesgf2L8J/2qo2r3f9emqoNUZE4G6JRAPltCVSX/VGvrLowG8mzNBxx8zRg2
S9lLKkte52opsFw2dtzdJ2nRseHOzS9JkmtnBpxyV9kaVL8i9RF89jNSJ54PYs09jGRHazbOPLEB
0nX+HldDNEUSfA1/s5ubPCRCxjrUyZxvYXso8wz+MFPTldG24qyCaLurTZmfGQgv+yDGxoI9dPwB
ZYZ6NrE5RrWZo2auUNuHST+INxY08s3j7k/X6Hw4ZriRKJY7aN5bhObtERFH841hbfYGqVLeaTnE
IBON3QtBPqQSwOTxVhZm8h9TFxOC2UCZik1dJVe698agQXCui978Olrzkv9DL3ppZz59Ba5aOegk
6QBuVGuHn7+CcgFUoEW9+7B0VnBwgLpveI6zrwxYW+JsAj3lheTNBHe115inSig4UuP6tYPUEqUG
6XVy43lOfQiWcQLc5yQ35mjX3wke0MBLOP05obTZsPnNrkdnMBKUrEPxWBSRv4uTrtki6Klvfb/7
OhQW+eGNOJFDan4xE3MHAALBg9t+++km+ZMGPPjV78t1xy5aXcD0laz96Cx/fdONj4sg0pvqgTjd
6MVQ335c18azYdo8qTzA5CNaqkOZiQErU0XYTqkNy7ZX/Ph5nPVvTW7wMQSOmG8hJuRHUVvOQyT5
J0Z35g+zqY0rCEniNgEtcLKgOdw5fvTIrtXcBWlaPOYVz1EoNQjEKkEgvdZpu3yC2als0eQ1UPSG
SglzpS/W98odT4Jl5H4YI2cvfSAtoU0oHKjJfDM7PPfZVSRs+CGSBdmREEXxniboEQu0gu8NM9OD
J1lEd4MxkX+HpKO5INBxXXNT5jfehPWs6HP6T+u7XqZZF7oKp73Os8W58m167JSF5bhO074NYYkH
O33pzJUJxXvtVRVxnBXfUogHPLsmdK89Sb8wKTmr5odfQGnD6o7RjYDhoN3PPIipnft+D6wpvSqo
Uq+jBA6ZXxnTtZOzHsIAN6J7bpMl2xPABTN3sWPzrKXDfNuzSz1ZZhpDhvKXvXDUvanlYC/YqzzZ
Sd9+C7ALEwDWBSsdXNPN3187n84sJe4HGwwvBu0nwwEGBL9eO2YMXDPGK35OBp38uQBevWb0kPFn
lv6dR4NAvDnXTlcv74JQtVWPlFuubCGT73AooOGDrD8i32ufvNYm8Y+t2K71G8bZdr5G3VMSPsff
kk8dZoFssqpdwXd/qiNWAjoMpg3Ll3kjy9o8z3pHwoEHnQQ7gCaviQRNVxxXcjuxJlcHKuT7Dkm+
sXEGzdzAjKV1zeZpvoFovdxfLtsma0m5S1153bWOcTKaOvpAT6o/+1oJNpy4xieMvu1N2qdkNCBE
ZKVuoVX9Vun5rq3Rt6zGOQDOz0jI3WGMzr1N7iewbfW2lr/Prv+SXHAZLP37vFIfP/tP39N9HB3M
TL1Pjb5ojR6LVhedcQsRvj4YnhHKrtUesgWyPaZKKLlu22tfMpmC/nbQUaKX6WhOdz6II4lXc+aT
MYksOhKb1Lzlk0saQdAKDBmN0UUvnQ22hL6jMKhNR23799fPn70B/OS8LOVe9kwoiL8cuBVZ6vCY
Y+9cuODEUUdCeG5ikgCZJXSMLTlnIsV9YLXLEVMRS7hx/ap50yPduTKEG31w75GcZ8r6jdg24+SK
OT8mZgPerS386EvhtYjbEwB//j9Nfj9NrdSHj9OG9a9pekpH9Om1g2JOu8UWzrlGHExCWN9HH1zN
sFS6viseDaT319ncz7eFN1W74RIQYVYV2rwmnY6XPA0RmN2hcFRysNdqXwbCLHb0JkO66nAu3C5+
n548lLJ3gu0fYQ296D8mHhN8RSlhUJEYD+C6/GmVMzy9G22RV1TDHql6GTn0s9lxDI1j9GQmBq5N
X/OPJDWbGEk8d1v04DnYj80vuGqQ4ospOqSSfdJSeeQmDwjufhhxz3llEuVLpFZjGpvFaqCH1Pk3
o4R4mFhVG1p50xxAtUYvlcetTk0w311uPRZ+8fcOyee0cUmivxurnBZm7sxzYfZyXJcZoaho0ZLv
OrrZbaYn0QtX3vTDLkp1gqiPBpjPccSoem3rLJpDu+Tka6A/Yxop8y96Yy5IzVo3RS2XvePXqQ+A
lmZ0YCag4I6gRJIzzVMyi37teMV8kxkLz5K/v4gpErlKf7kNA4sQGMa/nNmqHPxUNnBWlyN4OZSZ
hQFtSurcYOHlbC7E3O7QJyfoFbHPhsmSxFtKsebNNQcCNA3OpE1cEkOvtd46KbLi2KYF4W+y1FPs
w1qWlqzrqu3Q5up2RVj1TQq9+MrxP3wzhT39GFMCCdeB65Teugf0lO4qyrFrQM7OpvR0yXVgV1YR
FlYRFdvCAGAcYn+BBBNr81oujXeYbaJA0ZCSPZAg3sCEyhS9dbV73DdSrPtRH7+DReOIRDK87uq2
3s/GgsWFu5Ysw1SVnOp7bUQ6PEHf22MhnCT613TZBJZ8MhoMtkzxrJDXk5Ros7khYNxxsWZmz3zO
9713ljgMeqYpP9ZGpu8XUgk15pRLu1ta7FTXzFPsYNWMefLIcyB97EkHLcKlERbtd1pmT71vBxga
8taN9wl1C6Mbi9Mg7JOG6JUAy4M2CVXgdHN91JEc7bS+JCKb1Wcc4pgcNsMMv4a3m3PkkajAB9WL
jn+OBiBQoUxMpAE+OEp7DQem+hLHQ3+IdJunzmJk1rfEilICeAy3ya+0YVDlTwDiaYAGsVkwsH4r
mRrQUbfMKyQnOwipajFOsUPGjuRC8MNYMA0lrTepVyj3rWd4FynmNn1c7rMqiEAV4bg+d9SW+0Eh
scOedOMPTPf+AR68tilGWD8h3lrad71bxMYGNLfyezclNbuLSLbrFFMkReoLsCru1kPgoA9w0FNA
KVqKD8+DqFm3SpxI2cowM/eYN5K+euN5ZXJnlp5Y8TAI+GQQcN5fbqT/drb/0Nmauu3z5P7rzvb6
DXLLW/X95972jx/61y6WrSqCBt3FYIPBk1Xkv3exGD/ZrKHDpIPFLMpj7I/W1kIUxWbFx3COndTi
Cfy/q1jL+417juPEhfnCHpc/+g/0Up+3VnRTSpXFnpKwOjZJasv0U2db6WPWQcvnrIgNnkvRZFen
eGZHUioVRhwzPvrp4/mTnkb9hT8dyLxfWhrP1x2TV+7/H80ludPJoAHb2pN7ytpKm2gv3H8E0tD5
f/4tfoBTk6aJ0YH5ee03OL0OLTKZf9/DMetp7/MaWQYHMhNITaghLdNEcBjauRc4Sv/+TTrMFz6/
ALbrJoMDheXhs/20nWPpiPFOesO+LvD6E/qsBpMew0MKXv80E7p7xNuPBFJGIMzJ5bQY/nVNqkEJ
Ysf4wHacgwIiv7zuRaLMdLhg8ACKfIuRh/+WUTw+SatQlN65yTjnHYzmrF19KT/agcGAlfkQIGaa
j8R2mBx6bnss8To8RymTCZhKHDdNbEhWAK3FXBTJOaNDWG5fXBhQN53IsUBSgt8NgHSOwu2bN8TK
RL/3NUPfBLn5dqqK6bEY2av12VyRfYluu4tSvCGoXSpcf3r9mqS44xBp8YNiToNT37JLJm8Ji/7k
lQNilkavD3xUSmdq6Pwssi+bxQYNTB/qag+IpM38AsWYJm5mCe60S3WqbWyCYRGbiubMApQ4AZYB
kyeGVTYw5ezBL18vmM72kRq2cv53x3w02/u+HKh1Rm/euS2LxssA1rCG6RE08/TYZov7wLfDoLZn
TFyZTgF1b27fZU0jHHsG15Co5NdkAFs8Ql7FRkkq4d4VBJp5oouO1gAk2KXt3rctg1YxssRBxyy/
Sr3rn1CR+SdARDbVEOyjsVj6p2wQ1WmuAd2Wpc8nEmTQKSmohKZyzRYdXDferL5hxisqRsh1a+bn
hrArRtmxu8rMunu3I/4vwXMUCjHj1nivzczoK3ts3+ee29nXBgnZdywOtc+XCz6AfeeYgUbGZdlV
LJQYcTdqUT+Q6Yi/SJtpF6P8jL8s37p+0t4wq2CKFcTTj1xn9k2eQr4tC13n0DDqV3iX02OEfe86
aCf+KsZMu6Zk6G/MvONAaKRe5+pmB+Jwq8WsCeyA9+LaGZj+gMR3nAxcigRxMOnP2UrK1LRJaOab
uIzxSZKX61KzqEQKzAgfggXGm1dgXZ8FJLz1gCO2WtdJFJ1d3FLvSBqW60ok8ivJLBReNTdD0THR
J79q+M6E3PiS2mimkrhYtpf5eR/zPWYgkIlu4RItqnn6ITve/ZKjEsdxzTdhwzbe2QbXf0dP9lLE
FMEMJF4EQr9jgqT0NvY/WL6xeE61ks1FH5XmIemdV92U7TMtyPgYm1yboakR/mbqtb+27eLVjrzp
x2Bj96I94KKcqY9neqUb19MG+iy7uW1Ky74NBuHcjjICVJf2IKQdt37VBtbWzMGXLTqs+tUqHXmV
WRrsS1/66FAznzoDDNkb+Z8sVlPCufBJoxm9vDk/4SbAcaKdZ7JEyA9OmR0RSN4/Nb3Goh2rt8/i
iWvPGIzoOBcZ8m6hp3tox4wQgWqlO2dOmXySO+Jz1eYjZTaM3GcGa8Ep0yUCEZTJ7c1A5olvPvm/
q82mi/Qs7Ub7JTUU7x3dxFLZ+3RYtEphfwXoPZA/zhGj2mifrVzKsGWE/9Xw5bCqXcSuIdK/bt22
Cy0TkZJ6SGcEeqWe6U2nsboZ64DOjCsMjlB+x3pJuydo+6w5441dNiXcZc+5Xzo6RMebrZvOiR8i
J0JU31prnQ3LPjaX5ACH82vv2MZmLKJxM9ryW0pAOPXb+J01annQKgLWRjs5JIvLesEYm1PNkGdT
ONO86qN4YMTYt0BU+6t5aKNtIaCWMiEN1obsvFXhOTEmuji9sRdbXmsBm41Vxw7JzfyjlkPfJLa4
WkDeR+3BNnWlYZ3tVavHTlim+VSHZVF8EBvCVtZyKm839jYLb7s6y8pLN2apBVdZEjfXvZuJrZtw
w7ak/1ylMpo3I5rfA3YHVk7GpB+IdJn2pVfLVTOgHa0FK5hGcWumimUOM2PIT1qpXwknDfZjbDzA
qwm2sNf6EznXVkF63Ty8940Q7sppAw22zsJ3iAVwmPZmA+rHNcRrhQfkNPZmQfidPh5iERhr6gL4
VE7ktmsZ9fSLYtzFTswzDyGNv50SHnOJOQ84w9z2jPTKCI0h77cxaYt4SWHnh4E/v/rOlIXQnear
ao4nBAN5/hJgOvFWLgpSRpoT6eKeSwoN3SKdH0xLKkQEOlRnPknfjuUdGs5XIns4REAw5SBawob7
6touejylS7RsalM3D+bc9GsrSbir+k0c521YAYQJSdpxjvANZuIHrGzFhnyiyK/2olhbk1Yfjc5d
3ppCdw6mLJcvDZO2eGX0AeNGJziUYyTv0txC4ome95jDVMJLAdG1dnOUmSLONyia7Huvt3OKA2kQ
/deJkv2ov20JLd1oLCpCAU5hzXAve/bcGJO8LsmbjySJA8GkbdsEe/sYl/cF8+RVn+rikKbWbIGo
mtaxFmMi92NjVyDN3qBFSQ7+NEebQEQEuQS1jVdOaOdSmZmNdpFHprxsDlHw4nZulfHZxgENlNU7
BRdXNPJjNoUFZhgi0pNc+XCNA7M5vNRp4nZXhTJYjxevtXfxXZvKgo1BHDc2fk39R1OWZbG2vcqd
13rGxntpmQM2pdbt8Gc52FBGFvWsVbOTPcT9e2llrn5t9DbovdCojNh5CSZd34sk79MQujkppdoM
nELZFL/VJCCuhkKouqBp7+d5IG2nxd638acyvdIwq+ZhhAjH4/Irk0PHSv4UtD2Lc/gRyOcFapj9
XBHjs8rS2rmVZpTuAYs038zG1xh1NCBl+W5oy1SJdNk2F4Wx7DOnr06BiZKPqdnw3U8jIjNZKKAW
1NEBxWHDKfxRFYW/bqQWnZvcU/dATpngsRPAM+yoqXaSlqs2aZzbJU21s1Y3DW83tZLtCNLNX8es
YlclRR5xQe6MBbAZl2aTKJv6ZSUvR6rC34uvNjVBwRuYevD+Z/7adBLen1FGJEDMUiLHShv3Yc5b
yjJVMFYbc2ISnCVmcbA8tzoV3bLsbR2lY1mzc8ebCiagbGAArBEv83APShbKldqop1iib+OSSqNy
3OYmXi6vImifLU1NE6O2VYfyUsoPzLJ+iJiB8gQjpXHHMVh9BwpTk2QUu8y+KBOPLl7mSGEGeKgx
xN6pTRiyAJ3vzmg1n8CzEs0fhih5hbCa9z9OYh3HPMtriq2Xpmdz0EtV/gZu/eINc3Ewe96CFYMT
8ctZfviSZIR5iepNlaVkfqaCmQ8Z8EBSyFMoDmh+2t977r8cITt/4pfzLNOnacQyZ5GK/Gn944ya
BW1XdPu55SyRXkoSJ4RXCTB75qpgI7MO8F9+TKbEmayYvrhL3vyseRIAJjYpzuKN5oh4PRKkeT11
pv0yMe8hV5UkUV0vrVfTJv32uombarrq0OEeIoywa90Gf57OfJAlX+E+DlLnVjdw63cEj5xntfHk
wb1sq9mSBExQRTETFetafbOmPWrnKe7cB83x5Efpx7oTmpWN1M7qubZd26XeAON7GEcuHOJnqJVo
UqgH45z/aCFiqiJ1sOQOuNRIc7W09/hK1XcZqHKJYK3noETgZ+up+2Az5NwwgGoQzRNak40tz36l
wI+nZHqMFw0RPHkaxWtnwes5DsXiTac2EjEfUpqycZ172IBOnCfgtRsoONpeseNgMzjmoPWEltpj
ZT7WkY1hvYVjdPDcpYgPOY8SLBXqX0QUUtFaB0HorqIUeO8UOlQ6V6Sv9d+9QjnRbUEtRf5bVq1Z
j/COCY4FicDFzzhrpoTyZkMPNUlxdZGP0vVwaft2/6RnlPh41ol3czT2xGXQsNvrKJj9xG6+yWzM
t11KaAbINX+t52LZk2hLIZewjXsc0uLVA9K0WmaDiBFRWFCYWDhQzPPZBSSppsdl4cPnZteAY5M9
YXDD3ufw9HYAwxkx+SToHgbHr99g1dRvtjR4JpuFaYYVSRpbC5bOHR0A+UOtjtVH0Gy5RcUupqSG
nGeENPo81K+DqqmrBFo0orBJAK0vZkIpCjFujSUuD6i9qBaZU6PVSb179J7jo26QumhWaKUdpafB
UimvGoOuZd1VC3feULPzMTMa+RYU3s3gpR4TQXuu34ao8teWP1CRRrbN4Ld2Fu4RXE8owWeDP2Qp
1r5fEi580pLDnqo8JNMXnl3CWdQ2UCRDJK9BOAfq6ErKbNk6ki07yWPtM34KApIE7W3fJMEpNgjB
TaVXnVyCHncdB9cODAd4e7+aHhl+0lYJiX5Wdd4BEPibMqcv91LaE19UywfuGhZmJBA3L0Qe3k2z
13wbxoE2B+XwrVEhOCqB7ELH4C+tNFWwqFc92wHDAx+hJhlmhfoOAJgcDHWrznSyPEhysW5oUl/J
Pxm3M2G4YG50FrHAkehIVdOQzjqNUzLbqJRJexKrOuMRcDkDm0oF2dBjy6vc8rlUKTbopy20QAy0
eHeFh2wrZiM3Kz3u5TI0Z1pfLu9W38+XVZ9S1lq9bO8vnXZlcfmUwitWrkHH2hKiciggMuwLgpBW
BQvv04g4FGkCbZkWo0cY7JaOgkEPH70aoDB2lehgacRFknx0/iKvF263ajXLmIcAZCTFr2dqoDdz
fm4bey5DCo+A+pBH4Vh7810LBXGfMIUHyMTE/jAvvCNEHmCq4oVbsA7QpeMHx68T5zoCqlGrNwHB
ULuKgQkJlCoHPJ5L59aEbfDAg0ZnI+ZO/dOAhLHiDMvbZ+JFGVA4g2jfccuZm14f5Ffgm/TLZlcc
NKVNQ3DFsUYnFR0vHTKUKZ0UJq/qVmBV+ZtKkya7ReK6sQx+/aVv9my13VcQ56rGIgso6gdROqpM
8ZiiA1HgIXUR5/1+aaaMjBqblpzQkOgMGLU6NUqb1yI3OPlD3z7XBrMLcmmYZYyqRhGlldxONhXu
KtbBHXUaRGsieOpX5tLsjnEjngSU/i0hOXyEidN27zrhoiuR56OxwclNC02U3x7eQnBS13MLrlL1
wnV/BR+FSVCQotbL8o4fD4ZWXqU4Ob4katoo2kw9BSiMXw2fS0JRrL+PbVS/AVuJb72RtHWjU9cP
4axEqjH/KVzeTqSmDpeywlcmgziv8nOJGnWL0YoTyTPML5dng6GUhwptdwtvSPX7DK8mzbFvvVhz
eFQIQtHagE+4lSh5UCeyCCtt5hY1FQjktAkEeWZ8aVwLbuzIFxkwmDtIQnFPizVWJ8ekeAAKVm8S
6qWXnjVFs+2WmqJI4AE17Xh6lILypAHcetLrglwMZXuIOMeecUo0L3hHoiN9o7u6jGIw49kH30TA
TvStWGczgwzUPMiKKC8JlvVRCLX1rELhKTIv1LPBspg+sRtH9apP9SvpQQwGBbM6C0jR3obidrBc
lT/HUG/Dw56L53LMzujid3Ts8orAyPiJbko2ap+n6rh+pvvvyN/qaJa/QvJY9toiaBWnfuLD1Dne
kon7iPBgnlru1FBbW1xrmh6dZ8GcAmhsmR4q22mPAoTQm6eOSmVg2nS5lbNRNYF+uTgIp1gjJpyU
TspdWlXuyY6pYDV48vrCZbNab/wBw2feDbz0EMQTN26qVAkNW5xv7EUpOdp+QddNjF6YNsigTK96
nSaHT23xNOtg+gm3CgkhwLwKZK3VJNpnqpLMDscZcnIIoYF4Y3N00huh6RyyoqWcqOvIWgWSBdo0
8oVLyMPXucko8/J/LzemVDHFoWaM3TtBJdoZMCt5fssw3xEDIrdlkoH5EzU3dGq3x9hTVD0IH/Gt
3XgL7km4/teNu1AJC09u5z7/GO2ldjdJj0z1MqDz+ubVNukIhKoC5Ax8C6HtMu5o4HjHGAqKTOxH
7H1LFyfr5eJEoZHdjI7HL8vr0T8OEVSsv595G7+K5NDH6YZKJ8B7zQIMpLVaNfy0ShhrlrxoNIa9
nTIcJr1wdG4vEt8YdNZR2hxtCSEyoOCRMXmEy2+y3rH2C8VBjN70f9g7k+a2kXXb/pUbb46KRI8c
vAlAUiRFUaIky5InCMmy0fc9fv1boFynLFUd+507PlERFdVYAglkJjK/b++1b5Vcr/aN3k+X+VBW
j11nGNd9pI2fWBLm36gb1EUB8L4NgTVchb5t4dXBiPHhwzq2k6Am0putAkPK7ZvcuptKzmJCjcNr
peNgQrWCjajacyhK2oatFaWMfcKe5zkuKa2eH/av7+BHyQV3cDGGgAXhQy2Kxg/7/aBjJEsSKbZZ
plcMNKn7q8bpqsM8KEhe6XeuOL3P60nXqU34HUW2uFygdjil3cnoMZYhWt7rS+8XBVbxWkapfXIs
pN6ssmwMFRrEbtWaym/Uef9wUlGtt6cP8E2nWPL+2ZMYkhRYV9stYrJq70vqNlTu2T1WkPZO6VJ8
nfXKWfWsiV8wvy+5CDnnwq41f/Re/tuq/E2r0sbs/9N4+xvFnt1YUT+/Fj93Kt9+5k8RrtDoVC50
GJCzTI1FYvmnCFdIIPYczYDKQ2/BDPavTqWhYhrVADpYoB8Mgdjpr06lRUA9ri0A9yaFs4Vr+x90
Ko0P1inBnET/iW/U4XKERH6YHSILS+Ers3LptH5FUg4WU2fqHuueWme9p3tjgwBP2OWF6M4bon/N
gy7TbEDEIVEWL4aGCWP33pC+k+hXOaxJYZGf04bEg+ORTuuoueiSuB39i8SJzCiC5jf0zLSZ/+p3
W7+audYnYfKyoLYUdEAXwoPaU3AnWmpwbIW8cGXwlB4hVLZHNbGgK9mRR1Sufb8XT1ht/KV23VIV
uourmXbNGtniwCQNxy6U11HUrodWGrhIModSK71+IqjwZNezMiGggwVHnk+BDO9t9f7vrPnNrGE8
L2WVf9/g3xECmxdR8/O0+fFDP+aNY9PFp9cMaACrL5ATft+PeSPVP0zmDSuifJs2TKkfHX6IKCZH
ChDMrJt8CBzVf5qtySaWsKIdDIKLqJ059Z/MG+vjxDFYjkF5IEmU1E50+6wy/unFHFmREadqE+7H
SrWB2JaF6RKhbl2Wla00gDxVY2UQyXVXEk3F4d43I98TvWOOq6BBcrKtKQIir6GVTbHANqC39QWO
jlaI8dTRkTMuVAq4yokgxfozcCLOb30JLQj8I5wFt9ea/gApl5gJjMud5na42QAlF511IJ3BLhYt
z7xDcQXRLo9htMyprRMsrMYE1IEzYDvckETvGo6Cajae7K84AXtsepJAolkwQcIybRtvAr1kkpI4
GBqV1ZbeJrCNq4HGpZv13W3DPhiAmkqfGLuLAH1qqdFdGcfTCc9de6wDLSMQnOLwmj6zEgIcGWmy
ABQJHNeKy9vULPsLfn21Rhw2bYPBknutrKNLNXQuxkjD4hcWUbExqet4WhOCPmkHoMqr0fQh8bW2
9hmynuZGmFnvVG201lTNvwRssq9ZmyTuM12/6TgI7HqWqlWoaoTdzujjcsteK1Nk0elX0hvdVtKj
ng+3poDWZKZQdt1ytMOvRJ2VF4ZNcF0N++ZSXQrni3Xrtq9ReLpdGAVXwJeM4xAusrO2m7uDGNaV
VhRHn6Ct73FvyU2fGNOmMVE3BbXd3OIA/Wr6frFSAX7TvsWvZjX8jaPfZ2koxBXbGUzM1NzDyoU7
G8n8Lq4b/VYf5XipE8B5EzWiOpVJ+EJ9KXw2C2tYzcF4SRdkwgWFWBdtJqEFVqmc+mLM7tI6ybw8
SZujphNa13JHPF8mpzqN26MyJsSQMWM/JdRjXQMWBl6xhqjP0URYYPJJFRDdK9H7wf3MopyBxq1A
VcfQS/m1eMcoDZTqpR5CF0HA9Zry57G8GukJNSgd8Wn05a0dmeUJbQdY5dqPfZQS83w0FB15Qdmj
gRdjcTErXX4rNEa0bXXtQUsMOKKIQctaNzbsHJurYtTnp54CXAQPtw1JSQ3VVWkkZAHqem+sKgo0
F13sU7mtuksLIM9ehNZV3zeV7aKHTN0K7IznxCNlScQWSOYYg6tRUJLqfKVll90+KEq6CZv51okm
sfHtS5LP0DhW+eM0dPFNqNfXCkYGmo0S+5xxC6U8XedOSZ/OtvEOFA+TTi8V5eeXzK5TQh61dvKy
SLs0jYEe3fKkpleFACcX2kzJ21B8NjrYiP0k/W059Ar9YinXPqj4BczyxGLYXGtlBq6sqaE6JoG5
m6rGeDAs3o4j/sRVRq6gq+i4nWNlb/uh6fqR9tTbfrXu7Ky+QBus7eJmP7fRoc0g1VI8IkA0OuY+
TRzyd2AOoQTIxjhbD0MZbZIBeI8Bp/fW8fX0VDpmsOtjbjOvZn3H/n88ZWM6X+RtQhxoWdYXpL9Z
V0bd76daH3b1BFBmNajNcELk+9Cpk7JVqsk8DgY55EywojEGgXEV1apcVWqtxTeTP+gZnFvzSOLf
C9JLc21Zs7yPyYncGHBq2Q5E/s2kO9E1vZTn3CiNnUn0gztH6rNV9ljVwlq0X5qar7zsb1Z1mWqX
S9zahuohQ1rAdumJQFynU5jeTCy7BGEvG4KiLgo4ttOXuZPk4/qszz3BEIdoGqcvRKVR2UaqU91V
9XiXCzwPVMiy6yILDayAMu3Km8D01R1QhJDcc1BaoGnMpUk1x8WuTHpYQFFOL6woc3nbxvZ30DaD
F1Dd2wyhQwYfmBC2W4pF17m08qzwPQp43Rh4SK5jFP2RpVDYpRLjaG22mTD5McXzckhHOjOQ41Rj
OyGE3We5CJfIW6X6ShMXf3EILBV8TTho1nVSY+d18fE626Rz4vkwGrV1Gnlh3+m1zxRJIBiSqdv2
5iNxv/U+pPIKhG7WzZeW0U/eX4fq2EPfYRvuYJX2bUVqNEBRVdR7+rjOvpp8ZdNKglvY37W7Ccrd
dUgC+p0DiAfgZa/YF2HiM3AlmTxPJTX5NcZ1gmOjIHxGwSfgWzt1HHvB1BqHQK9JwERlZsNvHDp/
R1We+aH3fe9ii1JOxDjS1UsM0nV1QxuuWhJIblBUV2JlW9NYo1elyEhmTAd4xxjn7rPw9eq5qkX0
xDs5QM2edVcNQcfXfm/K72IMuxl5sq+joU36zwp8+GMm7B3C/vQbB0nr1cylibIUv0sH7atP14E0
op1Z9LuM1ZY2g6pNK3w39Pmlz1104zh0Hrp+Mg/YPtNXJRaxvyfHkhK5VUbDCT2K9cB7RK7LcQ42
Hc1BhSRXDKyemuAZ2NXROH5NImoyLEbg5WWS9zejjWbBzaZQuYliCk+upmf1Uzz5yVFPcRYwilHA
4H3Flyk5Cr+SDZ0gXM7vqBkOmhdBNdwlKpxINcGDvyIrtbqe6UT6HuJ7COtaE/lAwEFDXyGeH57M
YRq++UiXviAoIziG+NvapcEdUNSvJmWPCaO/wTeMgFgnleKrIabmeqpzWFXkDjbbzp5K2JDKUH6R
AS1eD+ZztytVzEqrOIorpP5o2z9XToSvnXyf9jY2/C6lpYTaxWrLlKBwTEoXYPgx1kzGWLl8crnW
7Vo8+bL1jXUeiWRcqRQgLzoq4Lc+JuuLSp9sL++6PHYJbIgvWJ5jB4RVj94v0ewDsKtqr4attbJK
A6VC3zUEhDPg7LQkNcOp6cQLs/KsWGvXZphLw1Wb8qR2TbsCSysPqUJej2v7BXIfOy53jW3U1JrT
vH4itnbx0QVdo+KWaYpHtE9lvm4NCaWX6s78zWIDdeWLgRwszXoxglB+ssM8ey6CptjoIT7iFUu8
nwEqSArFG2TCimhi9AcbI+wrSYPvS2/W6bYMyykgMdycc3fSJ/0F+Vx42fqq/iBbiqeuAzONpIu6
R8hWaMWWUif/mHAac7Yx+rJbJ6Hq6yGmVJ97xGRemZvll8Dw25MpW5l78aiJp44ipb8O0BMxlkSz
AG9t9RUPfgWFO7MCZQ/VxH+MZJt/wttoNRsdj8Bl12B078l5pIJWA0QFeQkDK0huxNxFj1VuH4Op
R2+GvqN3lPXgdKGXT608Ga0Ux842EPVIjqTw9QnzswB6uI4a2Bc4IrAimxj9X3Doa+SSIjx/yA2K
ri5AB2rfKjj/CU1IJC5kGgTHBkv3ekDgvtPiFCOjYbarmZ7zphOiOwAHXVsdugs43yReRZ1lf7OA
a4ZLUYu0EM6anwLCWl4sROObHgIGDQfU+I1X1gR2oamBas42C5Sxb4rSJaKFIiit2Pi1FLKnFbv8
rVTClKVFH64KZDGfU38kA9wUIbhvU+F84HeHugSOwQC3nMukzshAEuwRsyHYOzNoxE1eV/gaIslx
OteC5LFxbBWfqk+ymRtGZuuvy1Kz1pU/z5eJopb7AWHvgW+YHjQjir76c9RuMqwV0EiqfhPAVNtV
aaCvyL3/XGJqw1OuqfVzQHX4BnWC8k0VUf1fg/e3/z8iGcfUX52SPz83YZQHbZH/fE6Grrv82J/1
JZVzLegbsAXIGcyFIfbnORm/6h/EWyw1p6V+9OcRmaITFM9zWRRlOkDRfx2RDfMP06DMLHXOtsZi
Dv9Pjshc4qdiMHZuDu1v1SuVwzan+/fVy7mYqw4Bp4U3MyVgHDZ3x1mDEpI7DlXz5acbc/NWY/6f
vMtuCjZIzf/9P8sv+6vyfL4YVTGSGTmOW3zdD6XSwBwN+pitcQqxhj/lRoG0ue3lQxK1NfRl3hVP
AX73Z9nH9fZ/cWmkk5jYySzkSbz/npGSqLTiVeM0Y2l9ymW9RKFOyN/XoOPVe90ZgQc3oqad0viL
qevXl19+/ftvTnEbxNNSDOHBfby8pkeoHqAnntIM8Svtq568G8EptNxHxXK5cYmK+fU1zwavv12U
oWIsTkYVPc3775yXud8FpdROJh2u+5y82J2W0V/Z2JqUDyXChoMR6Vy8o2XTXIR03V8tcpUuUgXV
qldBGLko4Z2O20apA3+NWsJ4thyNV4LPhlm97Et0eKtoXiKkyfdFaDWmORk4v/4ei13049c4h3ZR
YMXUe67x/FTDcQZH7zjia7zFFcYKm4XdmHbk+TgNgn0qjMXlmAAo+fVV39solrFqc7xnemDY4MIf
uySWIux4NGv1FKs9kuNzjK6dh99FjKFiUufx1jRK9WjatFwxYcGQ+fX1/z4xMbpQPbMtLHyC6s37
h9dLmSdVMqqnc9RytEyYSXaY4PtK/Y1f+kML4/xdQRMzsxx8KTaxfe+vhcavzXndqCcDcN0toCAk
gn2kUon1db15HTncP/fCWmanwHlBXYPJosTICeIkVH7zuP/pi+vCYLVUl5Ldx1GrGUohK5y0pw5a
SuUZtp8WBw5SAl35EjL+69v8T5NkQT4yL/nLhk/+/rurZSzI2u61E459WjOcNee31KfOFgV59kvo
T0++UlVFjHI0ppDHKTIE3rTk1LtqPOONs/rxNqhMArISoTmHFmTRWm0tgBVhT581n2Jmmenk47CX
UETTza+/xIe85fMDtDWen1B5VdAl+ID6i9OAjtgk1ZPvx2SgzXZdb8/jZmyz8qmuMwV9ycC6N3ED
M2cgAp72MX6bCbd/OSFBJxnSgE42DzMp2qovmlenFuPtrz/nP6yCNr4k0A7UHQ2qsu/vtYKru7dQ
k51MOtHUMpZwLeRDeGQEsv4K9ONvRvbyBn23dkCuZVTzzoXuiX/m4xWzNtBikUzNaSAV6JJoNfPZ
l6Ts+UiE4WeJpaePpseiBuMDiEchSTloGCZ5FyEiLUmJmNpXvcAJBLYWGZbCJECwwcK5jInzLWp4
a1ioItFCNb1NEJeqOwf8jMZOs/lC80T4269vI9/g49fim/CcaSwZ1Cf+BvqeMRKQMDoFp4KFFDrJ
NNer2Fbi60pPp3abo/8bvNju4xYpKwAjL+ozPyS4l+gy+vuoLmmel9LTYq1fA7yyNyiGaWECGeyQ
G6jBpLsKfoB5JfQZQ6cIB+VTqWRBuxI2iivClEAhYWPBmbsSmmBmxM3QrXkFUPROYmTWBvG1py5v
w0unyeKDljnFsY/BKK2coobAXWqp8qgiw7pWiyn9iu5XXREazOadfKEZQvHYh68TtWGEi1OYrwBL
AOcFfJPpSHDj8qYSUMJxikiLSmjRCKzUWC+wQdlK+dDlCAFwPtn2nWTfvej+AzyoeK8JIsvMoEZ8
Y0kCgOBwOS+VQgWAfLCmTbbzOLfELNOCr3daNUVkfRBncdCCDgFBieBW0FK/m4aeFESbE359UgZd
Be5mtrnpVY1G1TbDc1DS58/S2gMZEforJx7kQxB2vHYTxohNwkrgWhS+EbWGQ7BmayDXttoicyYT
0XxukHREXu6w2rAFZCHuS2u8baKJH0OJR6XW16GhOo1PIOIIl9k+0NVPOt7Maqg6SD3yDsvCXqe/
N12hZa8OAPwcdRNMFMISalSjs4PfFx77RLZfQQJaZKXBIuNUE9crqWfBEc1svakpsVHeI/IAodWj
2iCa1HpnXKFW016mlkqciW/3AhSBv9FmvfiSycZ8LPDguJWFw5mBMn4LOj9eIieDfCU6Hg8cwRYE
dFAijFdt7PCE5C48Oz8fR7r5Cv0+p2hfjUpY3mhGQXmvmE6UXPa5QxLbPs9Tmd3bFOqEZACkU2Gv
MhuSAce7yQA+ScAuqbZL6rcKac4sPfRSihoSrq1MVrZyElWWjxAALJ2Pm8R5vZqqKXM2ilg2PzNQ
7YJsGQwtMIku6YCwGWIFN54rZ8DRQ0UG1EGGL+jTqDQ8scknEzKDgNZ5vS1ZV7CCRRfRxKikDKry
MjXI1EXUoNoo1GsgLigAZx4q0UyKJwSSgEEODK88IPUTyz5LdmQEp8525tabJ8t49s1hcINIsF9t
U4fVKBvM59Gf5QMRRM1rQ1rMzupQECoG6xCedbnO6rBCrc4MdUD+6/z6qVrCIRFiFJds60gUt3pn
hfOsuEQxpt1TOFn+EGq3Q9v2rM8sZwQhpQgtg5W6QI7cYF4QeX3ExkcTgv+A9wohrGNyc2qNNzUR
6Tp/giyL+NgRSyw90FLOIUC6fZB2Md6SuMBL/Q03t6yR7OEwBUIYvDwHE/qF07xWcrmVkjCs+6bp
+Mfzp826Di0W2DSoumw76emY0XRTnfciSWoZ9TVWqnobBGSDdDNP5BymMmmDet+rs1yfA0e7iOOG
nsYo4nzwvCRAL4TVZfdIQLf5rALdjFBmhlwpCfvmFVvDSCYh/wQ5t2xAprL7FElvPoOGlWAE2B6V
KW/bSgbVU5xk7H5HECa3543CnFT5hNk1tZ61xQpInDSPtuLDjLClXg2dWj++XDB3RaWIowiZ0sQ4
iyOkjqQ4MIx4dsR1sXkvKl48DZEhjc8nErFgE14UlVybalI+UXrjbY5qT6nXvkaSt0UQhE/ErTXB
nmhqPnnPz/QLEXAaD5VS4zg9b3C6ZauSzERzvh1+9OWdPMUSvGVqTkbqYR+rYteGN29cDeZEnmVm
Gs8hTUryLSkPOV6pjYSjOEo+xOsyU/2XlNAW383PU0iFkEry5lgv2yDePO2qHk6OMTSvqWx4RqXv
sLnjX2Wg8gJGIsfaRl64vktCvIvqpLIxAHG9s3jSx7zBpMTXKS5xFFm30UT91aU+w6clAbDeYrhR
j+0yPM08VY8iIE/cTYyO3xz3bFcNiF7dVTkESrjNQF+wS7NIa6c9OBP2SEWbD4N4iDK6kXDP8P/J
h7GPbPSasFvXbSWQ7WmSMXKOMKLGwz0dSwTSb4tAguL9dopy7kqaYPi1JkBmFd6Py9JaLp8NRI2e
E0nTFlE6BhzSO5cgGLb71bbydZ5qpKG4SnmRcx9QWRPTGvkPhAOgopsC67l2WuarIHJiDchCsfDC
MOPruuGTnEeiMYIDuhwilgCT3vS4VuslhBZvUtDcyNHXhp1D7c53sdqyNGlUtbZZTYoO9sMRQyrH
0WY9Wy2bIs3p2ANpQ5DdTYLAHKLREQcrWKE9vCO8mkZHvR90IqsW1o2Ky8qPJZjWSC5hrCUTvSJ1
8Ob8DXkTsUfGiEeMXYGe93zgRdxVPs2qzhQFyXtP/noi3IEj7T28VvW+sHGZr9tllzY7A8/pLY51
eW1Os2BElSmCRt1ZXAWzWcpDrsGUjTsNZEfXcZJZ7hq4xFGCNFXTeQUcmEm/iFiTyDeeyw65qJeH
oKMJN2RazROyM1uf9U3XoCl3zSZgOYoSJhfaNVbHsKlNnZa7Rhg84JjxNox8S18PPeFuU2RCxDJl
l5q3Yz0sQubBIFZXQZP5jHuTUcOflg/5KDi2pp2xS6piUVdLzAn7rLf4aQjJWnUHpXNgx+5DwvXm
5eUSxee1b9Ri5aIIVBZ5tiLBciQ3cHUstoLi8nwD3tai5eDexxrrwrKw1oHNG+c8dv1g5LU2ttT2
RzuaXmCt+6fz+DS0zr+IKQRc9HllJFd25zBEHNERFmsm/T4MUK79GBAZeobvpU3LxSOJqd4qaE3p
0pXmc2BRSzmPCmsETOYmmq+SjYjGV61y9RibS7UhaRRCQgigU3O3Nc9JyHOieLQ9KULUJE/MbrR8
IeWcwxWB2PJqAzgZKabgl2hUaupRNfgKDDn1HnAwAmM1DZhZ9FB5w6BX0Tc4k2D7IKh4QBCsXqM9
nE+c1BnUAqNQ57UDi/Z5BTSSlr5KAYsg81r/nJbbxtwl3R6YNssLiBp9oE8DRLaWRaEI6h6Mk+JI
lis49TMDrmWa6RXaxA2cwfE2m+jVuSVHtQc5km+Lm5Pv3U29w+jWjFZZxUZNek7NXmi+w0ASjXDj
+jy8VkmrLHY5y+ixFgsBxnQQ+vLmLxjtQvXn+r41OzYhgZLIBzoRiy5/XL6vLYcbo9Psu84Zs2tk
ZF9DxVc8dCnN1kwr4doAZi6xjsffA9xIro03zdUtjtReX6CI0Md4uo2jkjfSFA2z11LylOxQJush
iSfuMw6s2S3MYcYdD3pvI3IHX2VQFXRy+zHbRWUZX+lGo6pIFMxsx8l+3C5Jt5NH0kl+5SOS/S7H
dDFCaSOLIZtM360brXXWI04ksa+WxX+PIoBCJORV9lTQXjjBpDmegQIxak7NpvOqlFDeO6z+PJ4a
jx2VKqlyk3QT2hQVwMF1dIxjIJpZl6qePU62bOmq0BlvE7g3F6BwFa+rBubMclCG8MeN0SVTVYYV
rg9R8/GwcVJs0gr2B4QA80nH88vED1m3USoXybeCPSZvF1nKNYHBuIeU2H/wHZ8V7nwwDESQl/sU
1jVLXsuaVlgjicfU0+iskTR+iIAN7YZSqsdzrreqtM2rNoN6sPQlb5jhRNqKpfH+rOlqbLssYLWa
LYAQPVf2zuumjBMWR8kLcz1VOXMiXfabpY+Un858lIElpnw1jAbumnQcSDJi3asrplCbMngiX0n2
SmFurGBZmee54A3E2S7c4oqKvhm9JZpLs+yYca2C7Qj2nzwobzuMqrjslkTtLMkdY4cons4rB7ax
3Tacb1yn6+oL8MHdJjU0zeGsQgi5SGb13nFUSnamZFWizsMtsWPMuzRhNE4S59gzi7C4+5CK9Wqu
yKoozZH5MC8ujbctsymy7xYdeZcqWSZwPGS2s7amVttw5fA+rLvx04h+6BAaU/SJeFR8A8wQVmdO
O8ACUq2zEa5kglgZo1RuasUqRo/tdO6sdYT+W1pzylc8ceZrLLv5G72oHuDe2LDdHsiRZF+lUblo
xAF/e3GBUXV4NPi4NexvP0WyUeVxtcaaUO1NfYyOkY1BLYit6HNWtsGdxR5/9LosnVZJY4oLxFvT
Ueql/wlCVPK1qCZ+k5nDwmOnDFDpZs4VTqwkMg6qZ7cC2RCtKevpXFb4rw7yNzpI9PrUV/69DNIr
8vzb1zb62rU/d3jefuxHg8dW/7CRK6q4AH70cv7V4CF1BoQgPQ/QP1TiKSv81eVBdYzVSHMsA23i
kij3V5dH/EFBknYR3SL7P6b4GmeY0V9FdC7CCkQyGLsUqqq0lj6U3kxtQnFZRP22yAPItgB718QX
Ss9s28fJSl4cSl9uSRwM77QRsiUqBXeEXbp3OF/QqXDuHcJL9kraJuBV00OPGMS1FeuoVTUQU0E8
kh1D9YIGMTL183lj6FDLqqBku+RUclOya/akBTWTWsGpRBK8Aq1HMLHhJGu1skcwP1zzbPOK0YFw
LkYXEifNY59Kgs6jwq0wb3mWGb9YSilWKRmPbgIC3it6u96Vff2oskXzZrPXXaCoyjrz7Qfyym6J
m3jpay5vmeVjWkTfi6DV3bGwI3gItBVCPA3YdBeFB5QFUVePFsRht0VJ6A4KX49zueaNyHVWSGJ2
de3sAhAwa7/h1rAUr4M2I1g+Tr5riTK6lsWtLJyayljFL03Rg7pGEnziK3AbhLPLoqZZ+TV/qhd8
hr40lHXoaw3HEFr9bA3KTZFClLdomGPUMU502Nv18pOILBZHeBe7tM9zN5i4BWWqI3Vo1fkUFOlJ
Iu9cg2vgmQSAYU2DbKF8gLbeVXwgvSQ2RMzBp6RBJ+ezyVvJIv8+5bDzKh1crOmDpB/O0Bca8F+x
BKvcB3kP2qpdo8IrQTSh9zlbQo0WezoWZg3Ug2zuefMl2Mcs30OoOW/KGVr94HD39IaLDqa9c1Tl
/jxIooqX3GRUzYpdpFipk0770QEvKeT9QESSh3CUvaUwT33EhwpiXoe6UqN7j9F7FEE27m0JQL8v
l1HU8meFtIGf4t+uigWa1IexZ/nWyG1iYHVpVnoZocSM5++jTHSX95EDUyJ6gaXJs5/5t5hzNVxr
hfSF1mnAYxT8zBLrR2ArQAAb67GoGulB0Xw8P+8MWRlxfwwr7GW47mDgEsPA0lwAP3KpxaR7oQbf
meSMalTxMJUZnY7NUCmWuRBAqvqUhvyr5cQvQM94/pToqPSRaYJfaWcb9v008+SHinli2ziJBqyv
VziTSxD3zSMuvtKzbJ6w0zGYHGbj+Wbk5I54EJRwUyXZC0ACOELCrvbIHM01Wj9AwkmDLSmX6m3W
EMWhlQPokMXvp7dluZkzoNvAZ8XqjBWoRM9nCMKGSi5opIA28gHlUeSdXa2UM3mJDvohGuLczbuC
UZbzP8chT67w7omVLlgInD5M1wk5CWvBPCFaPjr1IRLDZXqBbAY/sBie6Q875EU7o1uwd3cFAMsV
Ba1kH4QivxgRcKCMXqZh4hTe+dkqGV9f8XEfk97BEsIQyEsgGTr1NO88ys94oKKs5QUR7wlQ3hRs
C2Kd1aAwnM8DYBnhTPETHuj8Qp9YxmTP/DZmzKHnx9x2g848YBiNCcKinuCdZ/Khla250HxJRigR
LanKlrYCHH4zeommxROqJt+ho+hETDB76B1EXqa3VN1zaEKixjEJ2X88mqN54Qzxi0IgDTkpALH8
REvWqc2MAIGlbM+0i2IG/DtB297YFoMszzAYKo3k6hRFWXuz57xZkFMoiqLRuJBhiq8XPTdkMuhd
RqNby85BX9U1buJKa+odWDMgGjn74zHKxFYUJnFWacCiGKgsbgOPjt2IvPA77RSS1nKBPA+wVcti
gqmWEEzYG0vOROQNncossstii3ODv2H8f1ubNLkAz5ZJ20cAKzA13/O7wxuzZkjUpnHSphg2l69w
1G6L5bWD2G2qxnLTWBHPr0jFCqkyiDDLGFEWEdrIaZSzJjPgfK/p4JJggUr2BiCKpM5qJWtjbJuV
4nBOTzFcogxT/BtNnTMCPOhwOX71vbL5z1kXr5n0+Jwj1hNDSSPMtfVXRyjmGq8yas7KfsgKo1gn
SnijDN3RLgjq0gcn2E8RpwFXQZynrqyOyEEtIbcDKoBC0uKczl8SSgG9S2/ZQOjuwENma13HLxp6
zhUtR9BdkdDuQS+kuNwGDk6ky3f7aBA8Ql34yPB8qHfdmm5evAjr25swMCyfngEnXXtTN2OPxSBp
UYtOVJSpA4QleRtof/al3z0rFOZfG9l/NSKBijTQx+S7U+nAB1klZgRQLP/Dts2Jw5FZMsrSrQE/
weclNiKLjV6Bkq8VK011/Cs5UBHapIjum2OihY69Q1XXZNsWxZjyOAUYhMOO7PgDGDa9des6hQWB
g7iKjmZvadM60HIf9knH9iG0rfuftmI3bzuYfy8pOe9rDIvTjWWBmaTP96FNTsS9NhtF3QEUmCbo
A+H3KOHloufOfVeDVzcxQyHPZaT/+rrvW5k/rmuoYHVhSNoIS963Momc0ibZlt1WHc6LHXNQj5LX
HNgFBcHk+6+v9r6N+eNqNjZDzaBPLz/2d2cKlliV826bTgyQZScg0eVSBKDtdb7Sfw8BvzkEaASh
/1Lmdfw2/M9TUSc/HwF+/NBfZwDIlIDP37b5iAn+OgPANIWJacCRxN9qItL/6wxgLsmTDntyjPiQ
JGxG8J/JkwJ3FXIxlGMIQCTm4v+90osxZBJdjqKCuEwi+kCyvh+xam9VvRBBsUOzyck7yQPzWq+H
8jinUPF/PV7/Nju4FsEji29RGqr6UVDSNwIaPZ0vikADLfB+ovbXUQ0798aB1sn1r6/3vh9+/m5o
CiCeIysA9/9xftTYKThhC66XqRTNBgF+0Y1HuqftaOi7vF2KtPq5Wr2UT3598ff6pPPFQX4sYZs8
PXrBy4f7SZ9E54bMsKbOd3Pdtq9ZmlFkTNUeIsmiEjo36XxN/O4r/8MtRgQIZBVnDOEgy7D5+apt
A28D3yX0GHC1NwnxcK89kmv62lGNSkhQI//11/zbBS0kFILLMXoFp9Ll///0NWM2EyXbBgnF2qdb
57ArnsKWPqOjK190/89yxL9lQKl/u68cVLGDo70iGl1qH9PM8UlwUvHHfttRRyHBzfIb7Xqe2Y4S
6mvQwJq6SD06aU7xaUrU26o384e8RJ0EpyJhHxTYjX3bThpZAnVvdvRHyrA5qHizHiftdyGO5jnW
4P0R24S6zxEfEqFkshvvb1CeARSMSX0jfR14FmgLzfQvm4B0mU2AbXWVVQBU9qSXT1SQKIbRhMiD
6ZbSF2U7rE/WntcU5bRzIR1VvuWCw2AsNb6GEGl21COhNlm470FdZ2t4NRRINcF9qBJzVled1ix7
kjrS3GHiSLM5V80Uasz1+lzoLhVK02dVkh8tlcu57gvzxel16KJWPY/92kkqLb6sdZP0UlYJaxU5
yAO2NA6Vz/BSpX9b1VrNkPPjiqo4MW1KUHB8ClX1G6N0cd6oURSPV6ise+M05tNwwONC94RT++Di
IDY0quUsBPVZc4SmfWRn1dIiSioUGKNfAfZcGhdzLWj59QktpLGnH44evr8RTYPiQ8KE4XghYsqu
ak0jtqaxVLDrIAGm98snnaburVIplKxbzrfRHJnPAPK1fJdPcnyyipYaMgJrunznXipCD75pmZC0
nSF8rbxzw02LE+JxO4c2e9pRfYTSRU24piXdSR7aTEnjASu0+fwmzwsalBz6YOqbic2a48mRMwEN
dDpEb2M1jEF5eqEeDd1VlIy0P+n9I4Ey+bLa1JfNRTP0tHIUMuHCvbT96P+xd6a9bRvtGv4rQb9T
4L586AscS46XJM7muk2/CIqtkJS4L6KoX/9eQ9KpKLtOgylwiINDoEUbKSNyOPPMs9z3/cSUh5Sc
ZnQ2NPMaGoIe/A6sx7tzUclENRKx0f15X2nYJUAEegEVP2Pzd9V2OG93Ge0zaUWQhKyM/TZTemRb
oUJOPaNjNxWSWrQYxU1jStnd2RekqamD+OkWmOiuLjCmXoCOVY12RwZ9FhBK2Jgka11RtezmH3fb
mhtobpwHW8dZ0NUxKOd5AhOg+061XCbzmPIhduMQXCo868fAqXaLxve813VesoADsT3sattkl2W5
WS7faOVOJbUCpGixzfeu90l0CiJSrFwD6BAICHVzU+UQaSyYElt9/xkelorW4jLdL3evo43aglzs
MjdRqKlXjVY5O6LDWEkC+LRVqFxAfgQglPtKi7wg5An6RIG7AYIR0OP7rX7w2i+IIjUPu1bJieQ2
5SH80LS0C/q97Nqv0YF2d1HqQdKcHdRteqa4O3hA6jY8U6wdyCi/vEVRLTjf07wCXAvCdWiEznO4
YFcNGIbXmUuvc5TFgIzsGuLGdv+m8tP9rR3X6TzIljRyRTPlhmjHnpeirxySzPkiC1objMtee6+I
/nMNCA864kGG+pOCtUdTR6NsEHLywv2bHYpIl6ZLsgSYm54iSpEebtyi9h/yErNpx6FznSBDeZOp
aPif0UazRci0iXnhoFpS0lm+qC0dqgcvDCg+lUrthwsWN4qyS7rMLTwgcKgBOs7yzkjKKllQlvwN
QQFlHhb5KqEnwM0Gmqt5mTcGJht8MouuL2p1gItA43/Qf6FOyzHHWtaXtLcHtggUkL604UVbVhmd
2SvvDuIUKS/Hd2PY2zuwlod9sLyDJ6fdZCb1mLbc7oFIbZvVPnX9uw3SwG/ovbO93Sjq5vdNQUSG
dA2l+KUA+HSACzfzVCSPUFQEkOCmt7YVnx9CNOpKHoOmsEbsWtdWdFC93w9Am/+MaVEATzswa/cK
7tbBoNNmVu7pzakV22vg0sbXg7+z6DaabK8jL1u+pbTtf0DaLbjyXe/WCYL8LqqKVRvvhfUPtbsy
9urFpmaeYI9g5y269l57aab/SbNTOnnC44LN5TXOZ2KQrbMId82VZdTKbmE0uUatSoPvukwL97WX
6Mn7fU1RGskn/S4O3GyR7kvzcLYDXbYwWx2+oEI0DLrMWCY3iaOYXyPN4PsZJ1bxGxACffmVOjQM
uDzPlunrAy07ojPYKrVJGmWrvI2jsGbqYqiwh8ry/0AFLr0MzcR97wQGiVoe6cLRsmI7Rwa0/AJv
EV8kExhzowmpQwoUdZN7FE3pJGJiLMzIL24Kt2yvWuTa4TZTKKX3O1AO0XHxQY0Q0LLotWifbe0D
dghIHgg4X6WQshfNYFnKkHz8INVuekhGbuvY9I3HODudu7ErAcmkiGvMo0jAsoj4uSfHbRuEkUz+
INgmLMG9Qf3fphoWL3x9i70XNe022GEHd5ZflhcdhMkDawArPuWXNxwm8NEccFigStlLVkNiwYFG
eElnMBAiS3Dyh3aDwe9MoBMIAIqj0PPqrEV0LfiA6jkJwTprzLdNXasXTmSBIysQXXxIoH1nZ5pR
sCL0Q26tnIjzsYQ5hYyWFVIAb5G3ChZRZTl4DC1xzUV/W1oCtewiDzZ4EktF4fhyRMkXWC34khbo
eIWk0G2H/tUONIS+BhtnJ2Qd29jcv9OopxlztfDSL42e00ZUt3bcdRhnPGuzO/CTSYHO3yczz6KS
08Ku6MwGDsbP4fo31A8cB2E406Zbe7kBxpJb7eclpcUvNh2RwZUVyuZtkxV7AABRvSk5MjT/tnFQ
E8BuRvZb82C4JXbR0T5HqULf3DpQvlVF7l0EdUMelnvGywkVyrL6vmFZoFoiqsFeBX2jyDme/GJP
7bNwBOjC34diRvOUNw6QiWO9hhjNgVlgqpC6BpSGHi2vqY4F1KnkNSqaaMoE40wlC2KVmRKeRy4y
p3c066JBHfOEa/nZNkKl/ryz98g7oIcf+IH7icbJVDYW28w7GKip+MBGX7fbUPG13zYu3rJ/sW8q
68zRKENTbLZo8kUadr6M4nBB8hjlPuqJF6hV44M4gDCvt2YR3BgxTU9DMCzn/JMv9mAar6PNIXvH
688/wY0Prra7QPljr3jhtVKRM9qVApTbujHq3ahEt3uHxE1NB1FUAOxFooruZI73xmzL5TyPjY++
i0k3Ch8dSpWqUHHQ4rNiv8+vUpTXzvwq0j6hXgofGjcEauyuCCG54ZHQEWr7DfSeRRv7dHnpHdI4
RKx6R8YoLZs5VuEbnLdvStS+9/Zmc8W6xjGocxUR90x9b8XQB3cqYurISyKVaOXn+MbLz3tSaa83
HKKLTR40JIPN96Zame+AjScfeducyzQVvubkiy8QW1eoP6FJ4MY2rN7oXb2l2GIwVe/VNvNBK9v1
FzrxGjfpDqL/HPwRDiR9jyIvShb27oMRa5/w/JDypUb0zbKRWxe6BHRyjHVvo5LLdhrKLaBbDmsr
t3khyLv629fo/TTBIq5VQM54BLtsrnACoyWCriQWJBBtkDs+iFNtqJDnunJlG22OCDkwouwMbCGV
f7tgRR52Ql8YPmEADRoWP8Uegch8OWwTUccoKkE5iIDDIrGgkYI4DfsPO32D4qCRXWYdXAE3ljI+
fct/hO1/Eq0BjkOzh1wGYb9J4DaOfrwl9KFNWmWXUWILsIvjaLcgD4FgmHvK/bYpQpfOHL78fE9C
f36X4irUOiJTk0hx/LuE5JFBVjW77GCWlUIHMPT66DvSIA1WnKdx0n6y7QBbnO+El/vyr49ZQsT+
XJRVTVKPNjfRETOOguK23JA90ez0skFSQD87uIV+6wqri9ID1r7yM/6tCopDB6zsQWTdLfx/xu4H
GTuRFTt6WU9EvxZhWRXhffUq/fYKAbA6/hqujpN3/d9/zN3Bz0Tgmq6j7ncq5iBk5DgzTSOP5dBP
0vY0dL6+5+4MF5UvUnTknclxQcTgoyF3x0fIH+B4kGoDXKbz0U8IgHUicse7mPqqhUCZZukQfGxD
PPlx8qUF1KMBZlQvt/t0HvvfIl95j1jjFQrhC+TkLhG8uC7V5TnduP7QsIwbo/yBHRGYiJEhEbdA
mp0GXzyzTlu58S2k7MDMdX0VH6dVb5bmH62XwXjZIgkLAEfPztSKpuVehkyDGS3fZZmPFpluJvC3
v5gUiQ84EJniv6Nl3lmYuq8rDxqCo93kgSBw4JpSF1koO8RS1exeKNeGKWXUJDhTtn9uKOqK/2xR
GzBR7y0P6UUYE8Ar563lXYISo+QKweMtyaGkJSKrqHooKPHQzALJnNZI7hCsBDSjGZd728ULJirW
jTd+3cD43xxgriPK4NKNMUSywrLQHDAqo0TP9a2p1B+jIKnP94lQ5faqj7b3RTOU89J3VoeSO4g3
GmQSELa2M49zD7JMcF6n0QJQ3Lyot5/wVm83eVOcb8v4HAjhnzUW5SKM6g9+6bwB60DkACBxs4Vx
2UQXSGy7Z01VEaEnyX28N9WL7QaJh1Zt7hNBrbfr8m1SNhaoiww3rOTHkDLeGojKb/zevv2fMS7D
g4jNf96xuT/W66L9tC5rRK8eN5z4tKMk3yJRX4VV+7NfenmgV+tu0B+YKw1CBGfTCGbU3VR3My+N
Ea245/ph/esvhj6zBVzIJLXeXVQsIgA7w8eKa8xA/hjwAN3+c+P4KHlpGl5+wn4+X/7O6AnuU5hd
4j0ATB3R4rus6D+Zg5MRjubAQzwOrVAe8/szHs+BB3Me3ixZcQyzuPpJP1oof7cUXn6+n56D1UOM
ePhwCB0fPM/gzX52IaA8aSE12xVznlsIjo6mAAulkxRguif09DpVBGoV/2QNnMzg0Rrg8RAociiK
DdfJPvBmtoVcABWhfo1wLk9tFvAoJGfBdGa4JBZ6CjRXFBe7/XgnIDqKuaAiiWM8uec3KGXLPz9C
wZRGNTyS7jp9fuqnNj6Yjhzq8Pm0VgF+nE6RWG4vWDMXdww1zcHms7mOV4FrzwwTOSKNHdNdfZV7
QhaBpfBEh/RnDSLutk3/B8qvTIW4CE9Hs6DO8FyRAlWHk/N/62Q8sWm963D18OsvGhXO/qb6Cun3
0/pn/AMBGuYB8dL7WcDEHM8CmqxU5V3QjXQ8Fdfk7ILmWacojJ9eCiYPCUSGYKl/SAKV0SToM9Pw
NMuiJ3Z39TtwQhsCCLkmPQuoBBkCMmIMr/pkQzjejMbg4E0AgnTX5I5IDUAFNy1lHFEaBhEiugU/
f0R6Bs4k+0VDkGKis9Ad61KTQNRAZgJfSD9ZAxwNIlNHi+XBaPYeyaR2wlNU1s/aA9aAB/XBFM/Z
XSdukmPNOIBIILLgumtyOwFOvC57NJgqVtEmwdXPgaqehI5kuRAbIsvlDPYCqzktZ0nsUUlzYJsz
jQDZgf7Sv2rOv+OjgfTaTIeIgzjZ9LYCiXXpuMmd0UuPcw8uWned+IoeR6MjVGUePebJHY1kYIUV
k7KHwiAAKcMlft5B0FRnZqGaJgSK+mUyta0AhFOXXQumydGIJrxundpDkkxMDqDCIaya3CJASc+T
tYcG/hHgSXyDwSCe2EOPNaCCJlLJ1kxzEWikAmUNosFTwoenRDF4ACe+smvNwDNjEqi1dNfk1oIG
4UPSHhjmjPVEUPToAJy4SZqmsSOorpNT6iah982n5SYJ9KycVVRn5FHQzzKePxsccwa62dLVx9By
erGjCYBedhbMGcB1lbrU8JgnG0LTmAYBxXfVyW0F8p3SAZOoaGIR4ByMPSPHnjkquZXvWfV+oie0
BwgUhLaj1B7g6REnRP0UL/hxpx/7hx7+k0t1gfpDfyb0m25Cs0CBVuDkpWYBz4DqCYYA5dHHo+94
FlzILBS2UUsfDoXJrQX09kR5WnYWTPIwdMcaHIDTU0FVZzo6pR7ncPdTU1oFTID0qaiRPDfAQ2jD
eXDqIHkz9EfEVvnLdWDCJzQLQCWeULp+OnlgkDxAy9Am8HhuL1DVJVYg59pJek/s+dkF0lGCqB4A
eoHe+7xFJKJGg0vFfZrcJoBt16dyJBLqLHKdhp4IQPePfxIwd64hTfk6fI+wN1Na/pomRKtljaCL
zACKws+7Q8QHcF89LOTw+eRyZ+IokI6SMAIqno/+aAo58EYHositgblgNfQ2YnKzoGOfpF1jfUYN
EXAJb/w55wgJHNSWSScPTuiEtgKcTFfWEhoeHRyomLmPZaPTRWATKiPvQyTZT8/04gPMtLRXgEGk
GSogxL/SxMdbQdNs4iPqSrRwfFwkEzOL4PpkDQLJdJMCouhk0W/4kyjRpeIC+NOBb92vhel5yHj3
snGCSB4JZSpSys/OgkNNHrfBIpzuP5/cLOC6SNcUaMcCI5r00FFMeLwjbG8G8B7YsDNVPBqnmpDN
kHIUdHcGh5ak+XA2nJaX2BFCgswE4zDRHcEZIY1CwS4IAjjow+Fdn2RRiJz5GbrPfAeuTc1pxjYK
6IzUWjCNGSIXlNAoU3TXyUmJo0BQDWsZlnx3TS50ILXR1/8kIgdnpqPzAWFgeMiT8BlXEUSSo9PB
YXAap7cUaIQuuRRIreM1izYVA8rkZCloqj2DLkTeWXRcn5ijQFlEdhUInC6vWESQ35f68eEAWJnc
gcigTBWL5Lqi9ZiUPcBzVgHrgmEYsqYnVhEABvwpJDBRU++u6XnOAj8jOQssBTqakzYdHlLwa46X
grCKkIhUUWjqrsl5S7RNk80niPKChwASyOx+P5xaRVU0t3MEfH9q5oBDWzT0k9oJILZRQ4K84A4e
8WlOucsmirruANCYnFHUDIqgkrPQnXwYhI4jerwFCKmEuRRro4fj/cTj/4Nsw3c+0Bx124eOCRSu
y+e4QH/3hUeGyNPPB/aLAPIKisvoi4IY1P/2X0Sh/4xwwF3a8OjDxzRi9zvDXx8e8OlPj37r8ake
//AyXBer4h6OeMdRGm7zZhXDJvqfaPV1Fa+OqSmk+tl4f93Jr7+M7vPoxf9g4HJ7Mq6Is6THLWgl
mIwH7sr/8gNvUcdclY+32OOxBRJZduT5KkJOuEjG1NPev5QeO6XV+eohfbxLcde9jZYf+SXF679n
u303ji+tjsU6WjWrYn18272XIXvbj2SrHzB+Je//NbMePoxXYR9By97/xTot/PFKGViDsiNfMuNh
eDzjgyGXHfjqYRWMFqDWgzCkx6VfUZKG4x3ZR+jSQycP4erEivT5YemR02a8LHoEu+ywb57aph7r
ID0wA9T323a0LnpUmezQb9M6LJ9Mc09xkR373SpMRtZjSOPJj1u00Sp5OJ6OAVMjP3RZru6DulxX
1WhND4UZ6fHD+yD0V2OqbV//kx+as6BMq9HK1vvSsvzYZYnWPZ1hRrZpoIj+G6OndXE6tKiJSw+d
JtWJDdGFRoT8yDfrrwUt/saz3WciZG/6Zr1bjc8tsn2iIiQ/cPPqchVnZRCOj/Uhm/hvjH+9Lsr1
yFIhvitAj//G4O/W+/B+dIwxuEh+/RuD/51osKQbcoOUWPBqvipSTsrxcunpY9L33v3AYrU93fs9
dVd2+PdBOJ7xvi4nPew2wiMZRzUDXlx66GLtn6oZdAgj2YE/rJOkpC/H6iRMGHg/ssN/CtKH9aur
8snZ1me1ZIf/nNZ/sxAH7MW/8wNPF+KA8pMd/pbZX5fleuRSDMxs+bH346jS6JF5suP+Vq2CR+sk
wj4qkALrJDvs3RqBxaR6HKgbuaeaSI8cEtmcLG+jr0HLDv37inOHZnTjrTmk66QHX5fVq7vnbr4n
rUuPH5b3aVKGI89tAPFKj00rZyZm9DZ7+tTLIz+XafqObHuaf3oURnnur42Ta+Ib99F6VfznvwAA
AP//</cx:binary>
              </cx:geoCache>
            </cx:geography>
          </cx:layoutPr>
          <cx:valueColors>
            <cx:minColor>
              <a:schemeClr val="accent6">
                <a:lumMod val="20000"/>
                <a:lumOff val="80000"/>
              </a:schemeClr>
            </cx:minColor>
            <cx:maxColor>
              <a:schemeClr val="accent6">
                <a:lumMod val="75000"/>
              </a:schemeClr>
            </cx:maxColor>
          </cx:valueColors>
        </cx:series>
      </cx:plotAreaRegion>
    </cx:plotArea>
    <cx:legend pos="r" align="ctr" overlay="0"/>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Sheet1!$A$2:$B$51</cx:f>
        <cx:lvl ptCount="50">
          <cx:pt idx="0">AL</cx:pt>
          <cx:pt idx="1">AK</cx:pt>
          <cx:pt idx="2">AZ</cx:pt>
          <cx:pt idx="3">AR</cx:pt>
          <cx:pt idx="4">GA</cx:pt>
          <cx:pt idx="5">ID</cx:pt>
          <cx:pt idx="6">IA</cx:pt>
          <cx:pt idx="7">KS</cx:pt>
          <cx:pt idx="8">KY</cx:pt>
          <cx:pt idx="9">LA</cx:pt>
          <cx:pt idx="10">MS</cx:pt>
          <cx:pt idx="11">MO</cx:pt>
          <cx:pt idx="12">MT</cx:pt>
          <cx:pt idx="13">ND</cx:pt>
          <cx:pt idx="14">OK</cx:pt>
          <cx:pt idx="15">SD</cx:pt>
          <cx:pt idx="16">TN</cx:pt>
          <cx:pt idx="17">TX</cx:pt>
          <cx:pt idx="18">UT</cx:pt>
          <cx:pt idx="19">WV</cx:pt>
          <cx:pt idx="20">WY</cx:pt>
          <cx:pt idx="21">FL</cx:pt>
          <cx:pt idx="22">IN</cx:pt>
          <cx:pt idx="23">ME</cx:pt>
          <cx:pt idx="24">NH</cx:pt>
          <cx:pt idx="25">OH</cx:pt>
          <cx:pt idx="26">SC</cx:pt>
          <cx:pt idx="27">NE</cx:pt>
          <cx:pt idx="28">NM</cx:pt>
          <cx:pt idx="29">NC</cx:pt>
          <cx:pt idx="30">WI</cx:pt>
          <cx:pt idx="31">DE</cx:pt>
          <cx:pt idx="32">MI</cx:pt>
          <cx:pt idx="33">MN</cx:pt>
          <cx:pt idx="34">NV</cx:pt>
          <cx:pt idx="35">PA</cx:pt>
          <cx:pt idx="36">RI</cx:pt>
          <cx:pt idx="37">VT</cx:pt>
          <cx:pt idx="38">VA</cx:pt>
          <cx:pt idx="39">CA</cx:pt>
          <cx:pt idx="40">CO</cx:pt>
          <cx:pt idx="41">CT</cx:pt>
          <cx:pt idx="42">HI</cx:pt>
          <cx:pt idx="43">IL</cx:pt>
          <cx:pt idx="44">MD</cx:pt>
          <cx:pt idx="45">MA</cx:pt>
          <cx:pt idx="46">NJ</cx:pt>
          <cx:pt idx="47">NY</cx:pt>
          <cx:pt idx="48">OR</cx:pt>
          <cx:pt idx="49">WA</cx:pt>
        </cx:lvl>
        <cx:lvl ptCount="50">
          <cx:pt idx="0">1</cx:pt>
          <cx:pt idx="1">1</cx:pt>
          <cx:pt idx="2">1</cx:pt>
          <cx:pt idx="3">1</cx:pt>
          <cx:pt idx="4">1</cx:pt>
          <cx:pt idx="5">1</cx:pt>
          <cx:pt idx="6">1</cx:pt>
          <cx:pt idx="7">1</cx:pt>
          <cx:pt idx="8">1</cx:pt>
          <cx:pt idx="9">1</cx:pt>
          <cx:pt idx="10">1</cx:pt>
          <cx:pt idx="11">1</cx:pt>
          <cx:pt idx="12">1</cx:pt>
          <cx:pt idx="13">1</cx:pt>
          <cx:pt idx="14">1</cx:pt>
          <cx:pt idx="15">1</cx:pt>
          <cx:pt idx="16">1</cx:pt>
          <cx:pt idx="17">1</cx:pt>
          <cx:pt idx="18">1</cx:pt>
          <cx:pt idx="19">1</cx:pt>
          <cx:pt idx="20">1</cx:pt>
          <cx:pt idx="21">2</cx:pt>
          <cx:pt idx="22">2</cx:pt>
          <cx:pt idx="23">2</cx:pt>
          <cx:pt idx="24">2</cx:pt>
          <cx:pt idx="25">2</cx:pt>
          <cx:pt idx="26">2</cx:pt>
          <cx:pt idx="27">3</cx:pt>
          <cx:pt idx="28">3</cx:pt>
          <cx:pt idx="29">3</cx:pt>
          <cx:pt idx="30">3</cx:pt>
          <cx:pt idx="31">4</cx:pt>
          <cx:pt idx="32">4</cx:pt>
          <cx:pt idx="33">4</cx:pt>
          <cx:pt idx="34">4</cx:pt>
          <cx:pt idx="35">4</cx:pt>
          <cx:pt idx="36">4</cx:pt>
          <cx:pt idx="37">4</cx:pt>
          <cx:pt idx="38">4</cx:pt>
          <cx:pt idx="39">5</cx:pt>
          <cx:pt idx="40">5</cx:pt>
          <cx:pt idx="41">5</cx:pt>
          <cx:pt idx="42">5</cx:pt>
          <cx:pt idx="43">5</cx:pt>
          <cx:pt idx="44">5</cx:pt>
          <cx:pt idx="45">5</cx:pt>
          <cx:pt idx="46">5</cx:pt>
          <cx:pt idx="47">5</cx:pt>
          <cx:pt idx="48">5</cx:pt>
          <cx:pt idx="49">5</cx:pt>
        </cx:lvl>
      </cx:strDim>
      <cx:numDim type="size">
        <cx:f>Sheet1!$C$2:$C$51</cx:f>
        <cx:lvl ptCount="50" formatCode="General">
          <cx:pt idx="0">25.600000000000001</cx:pt>
          <cx:pt idx="1">23.5</cx:pt>
          <cx:pt idx="2">18.5</cx:pt>
          <cx:pt idx="3">21.899999999999999</cx:pt>
          <cx:pt idx="4">18.600000000000001</cx:pt>
          <cx:pt idx="5">17.899999999999999</cx:pt>
          <cx:pt idx="6">10.5</cx:pt>
          <cx:pt idx="7">16.300000000000001</cx:pt>
          <cx:pt idx="8">18.399999999999999</cx:pt>
          <cx:pt idx="9">28.300000000000001</cx:pt>
          <cx:pt idx="10">29.399999999999999</cx:pt>
          <cx:pt idx="11">21.399999999999999</cx:pt>
          <cx:pt idx="12">21.5</cx:pt>
          <cx:pt idx="13">12.800000000000001</cx:pt>
          <cx:pt idx="14">19.899999999999999</cx:pt>
          <cx:pt idx="15">12.300000000000001</cx:pt>
          <cx:pt idx="16">22</cx:pt>
          <cx:pt idx="17">14.9</cx:pt>
          <cx:pt idx="18">14.800000000000001</cx:pt>
          <cx:pt idx="19">16.800000000000001</cx:pt>
          <cx:pt idx="20">21.5</cx:pt>
          <cx:pt idx="21">13.699999999999999</cx:pt>
          <cx:pt idx="22">18.300000000000001</cx:pt>
          <cx:pt idx="23">14</cx:pt>
          <cx:pt idx="24">9.5999999999999996</cx:pt>
          <cx:pt idx="25">15</cx:pt>
          <cx:pt idx="26">19.100000000000001</cx:pt>
          <cx:pt idx="27">10.6</cx:pt>
          <cx:pt idx="28">25.300000000000001</cx:pt>
          <cx:pt idx="29">16.399999999999999</cx:pt>
          <cx:pt idx="30">12.699999999999999</cx:pt>
          <cx:pt idx="31">12</cx:pt>
          <cx:pt idx="32">13.9</cx:pt>
          <cx:pt idx="33">8.9000000000000004</cx:pt>
          <cx:pt idx="34">18.399999999999999</cx:pt>
          <cx:pt idx="35">13.6</cx:pt>
          <cx:pt idx="36">4.7999999999999998</cx:pt>
          <cx:pt idx="37">12</cx:pt>
          <cx:pt idx="38">13.800000000000001</cx:pt>
          <cx:pt idx="39">8</cx:pt>
          <cx:pt idx="40">16.600000000000001</cx:pt>
          <cx:pt idx="41">6.2000000000000002</cx:pt>
          <cx:pt idx="42">4.9000000000000004</cx:pt>
          <cx:pt idx="43">13.5</cx:pt>
          <cx:pt idx="44">12.300000000000001</cx:pt>
          <cx:pt idx="45">3.7000000000000002</cx:pt>
          <cx:pt idx="46">4.5999999999999996</cx:pt>
          <cx:pt idx="47">4.7000000000000002</cx:pt>
          <cx:pt idx="48">14.199999999999999</cx:pt>
          <cx:pt idx="49">13</cx:pt>
        </cx:lvl>
      </cx:numDim>
    </cx:data>
    <cx:data id="1">
      <cx:numDim type="size">
        <cx:f>Sheet1!$B$2:$B$51</cx:f>
        <cx:lvl ptCount="50" formatCode="General">
          <cx:pt idx="0">0</cx:pt>
          <cx:pt idx="1">0</cx:pt>
          <cx:pt idx="2">0</cx:pt>
          <cx:pt idx="3">0</cx:pt>
          <cx:pt idx="4">0</cx:pt>
          <cx:pt idx="5">0</cx:pt>
          <cx:pt idx="6">0</cx:pt>
          <cx:pt idx="7">0</cx:pt>
          <cx:pt idx="8">0</cx:pt>
          <cx:pt idx="9">0</cx:pt>
          <cx:pt idx="10">0</cx:pt>
          <cx:pt idx="11">0</cx:pt>
          <cx:pt idx="12">0</cx:pt>
          <cx:pt idx="13">0</cx:pt>
          <cx:pt idx="14">0</cx:pt>
          <cx:pt idx="15">0</cx:pt>
          <cx:pt idx="16">0</cx:pt>
          <cx:pt idx="17">0</cx:pt>
          <cx:pt idx="18">0</cx:pt>
          <cx:pt idx="19">0</cx:pt>
          <cx:pt idx="20">0</cx:pt>
          <cx:pt idx="21">0</cx:pt>
          <cx:pt idx="22">0</cx:pt>
          <cx:pt idx="23">0</cx:pt>
          <cx:pt idx="24">0</cx:pt>
          <cx:pt idx="25">0</cx:pt>
          <cx:pt idx="26">0</cx:pt>
          <cx:pt idx="27">0</cx:pt>
          <cx:pt idx="28">0</cx:pt>
          <cx:pt idx="29">0</cx:pt>
          <cx:pt idx="30">0</cx:pt>
          <cx:pt idx="31">0</cx:pt>
          <cx:pt idx="32">0</cx:pt>
          <cx:pt idx="33">0</cx:pt>
          <cx:pt idx="34">0</cx:pt>
          <cx:pt idx="35">0</cx:pt>
          <cx:pt idx="36">0</cx:pt>
          <cx:pt idx="37">0</cx:pt>
          <cx:pt idx="38">0</cx:pt>
          <cx:pt idx="39">0</cx:pt>
          <cx:pt idx="40">0</cx:pt>
          <cx:pt idx="41">0</cx:pt>
          <cx:pt idx="42">0</cx:pt>
          <cx:pt idx="43">0</cx:pt>
          <cx:pt idx="44">0</cx:pt>
          <cx:pt idx="45">0</cx:pt>
          <cx:pt idx="46">0</cx:pt>
          <cx:pt idx="47">0</cx:pt>
          <cx:pt idx="48">0</cx:pt>
          <cx:pt idx="49">0</cx:pt>
        </cx:lvl>
      </cx:numDim>
    </cx:data>
  </cx:chartData>
  <cx:chart>
    <cx:title pos="t" align="ctr" overlay="0">
      <cx:tx>
        <cx:txData>
          <cx:v>States With Strict Gun Laws Show Lower Mortality Rates</cx:v>
        </cx:txData>
      </cx:tx>
      <cx:txPr>
        <a:bodyPr spcFirstLastPara="1" vertOverflow="ellipsis" horzOverflow="overflow" wrap="square" lIns="0" tIns="0" rIns="0" bIns="0" anchor="ctr" anchorCtr="1"/>
        <a:lstStyle/>
        <a:p>
          <a:pPr algn="ctr" rtl="0">
            <a:defRPr/>
          </a:pPr>
          <a:r>
            <a:rPr lang="en-US" sz="1862" b="0" i="0" u="none" strike="noStrike" baseline="0" dirty="0">
              <a:solidFill>
                <a:prstClr val="black">
                  <a:lumMod val="65000"/>
                  <a:lumOff val="35000"/>
                </a:prstClr>
              </a:solidFill>
              <a:latin typeface="Calibri" panose="020F0502020204030204"/>
            </a:rPr>
            <a:t>States With Strict Gun Laws Show Lower Mortality Rates</a:t>
          </a:r>
        </a:p>
      </cx:txPr>
    </cx:title>
    <cx:plotArea>
      <cx:plotAreaRegion>
        <cx:plotSurface>
          <cx:spPr>
            <a:noFill/>
          </cx:spPr>
        </cx:plotSurface>
        <cx:series layoutId="treemap" uniqueId="{B83A59BE-3159-45E4-B69C-30F513A80AF1}" formatIdx="0">
          <cx:tx>
            <cx:txData>
              <cx:f>Sheet1!$C$1</cx:f>
              <cx:v>Mortality Rate</cx:v>
            </cx:txData>
          </cx:tx>
          <cx:dataPt idx="0">
            <cx:spPr>
              <a:solidFill>
                <a:srgbClr val="A5A5A5">
                  <a:lumMod val="40000"/>
                  <a:lumOff val="60000"/>
                </a:srgbClr>
              </a:solidFill>
            </cx:spPr>
          </cx:dataPt>
          <cx:dataPt idx="22">
            <cx:spPr>
              <a:solidFill>
                <a:srgbClr val="A5A5A5">
                  <a:lumMod val="40000"/>
                  <a:lumOff val="60000"/>
                </a:srgbClr>
              </a:solidFill>
            </cx:spPr>
          </cx:dataPt>
          <cx:dataPt idx="29">
            <cx:spPr>
              <a:solidFill>
                <a:srgbClr val="70AD47">
                  <a:lumMod val="60000"/>
                  <a:lumOff val="40000"/>
                </a:srgbClr>
              </a:solidFill>
            </cx:spPr>
          </cx:dataPt>
          <cx:dataPt idx="34">
            <cx:spPr>
              <a:solidFill>
                <a:srgbClr val="70AD47">
                  <a:lumMod val="75000"/>
                </a:srgbClr>
              </a:solidFill>
            </cx:spPr>
          </cx:dataPt>
          <cx:dataPt idx="43">
            <cx:spPr>
              <a:solidFill>
                <a:srgbClr val="70AD47">
                  <a:lumMod val="50000"/>
                </a:srgbClr>
              </a:solidFill>
            </cx:spPr>
          </cx:dataPt>
          <cx:dataLabels>
            <cx:spPr>
              <a:noFill/>
              <a:ln>
                <a:noFill/>
              </a:ln>
            </cx:spPr>
            <cx:visibility seriesName="0" categoryName="1" value="1"/>
            <cx:separator>, </cx:separator>
          </cx:dataLabels>
          <cx:dataId val="0"/>
          <cx:layoutPr/>
        </cx:series>
        <cx:series layoutId="treemap" hidden="1" uniqueId="{00000002-2F97-48D2-95C2-C8FD5B8202E2}" formatIdx="1">
          <cx:tx>
            <cx:txData>
              <cx:f>Sheet1!$B$1</cx:f>
              <cx:v>State</cx:v>
            </cx:txData>
          </cx:tx>
          <cx:dataLabels>
            <cx:visibility seriesName="0" categoryName="1" value="0"/>
          </cx:dataLabels>
          <cx:dataId val="1"/>
          <cx:layoutPr/>
        </cx:series>
      </cx:plotAreaRegion>
    </cx:plotArea>
    <cx:legend pos="t" align="ctr" overlay="0"/>
  </cx:chart>
</cx: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31"/>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31"/>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E7E102-3C39-4F4E-B975-8D81A8D1AF06}"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640457-427F-42E4-9BCC-B8A41E68107B}" type="slidenum">
              <a:rPr lang="en-US" smtClean="0"/>
              <a:t>‹#›</a:t>
            </a:fld>
            <a:endParaRPr lang="en-US"/>
          </a:p>
        </p:txBody>
      </p:sp>
    </p:spTree>
    <p:extLst>
      <p:ext uri="{BB962C8B-B14F-4D97-AF65-F5344CB8AC3E}">
        <p14:creationId xmlns:p14="http://schemas.microsoft.com/office/powerpoint/2010/main" val="4177852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visualization highlights the States with the greatest firearm mortality rates. I choose in this visualization to apply color only to States from the top half of the range to help not overwhelm the viewer, and to have color contrast from the States at the top of the spectrum when compared to the bottom.</a:t>
            </a:r>
          </a:p>
          <a:p>
            <a:endParaRPr lang="en-US" dirty="0"/>
          </a:p>
          <a:p>
            <a:r>
              <a:rPr lang="en-US" dirty="0"/>
              <a:t>From our initial visualization of the data, we can tell that certain states are outliers and have extremely high firearm mortality rates. MS, LA, AL, and NM all are at the high end of the mortality spectrum, and it is also pertinent that states on the east and west coasts are at the bottom end of the spectrum along with the States that are more central-north. TX and FL stand out as well as they are surrounded by high firearm mortality rate States but seem to not have as high of a mortality rate. In terms of our research question, the stark contract naturally begs the question that if the difference seen here could be attributed to strict gun laws.  </a:t>
            </a:r>
          </a:p>
        </p:txBody>
      </p:sp>
      <p:sp>
        <p:nvSpPr>
          <p:cNvPr id="4" name="Slide Number Placeholder 3"/>
          <p:cNvSpPr>
            <a:spLocks noGrp="1"/>
          </p:cNvSpPr>
          <p:nvPr>
            <p:ph type="sldNum" sz="quarter" idx="5"/>
          </p:nvPr>
        </p:nvSpPr>
        <p:spPr/>
        <p:txBody>
          <a:bodyPr/>
          <a:lstStyle/>
          <a:p>
            <a:fld id="{B9640457-427F-42E4-9BCC-B8A41E68107B}" type="slidenum">
              <a:rPr lang="en-US" smtClean="0"/>
              <a:t>3</a:t>
            </a:fld>
            <a:endParaRPr lang="en-US"/>
          </a:p>
        </p:txBody>
      </p:sp>
    </p:spTree>
    <p:extLst>
      <p:ext uri="{BB962C8B-B14F-4D97-AF65-F5344CB8AC3E}">
        <p14:creationId xmlns:p14="http://schemas.microsoft.com/office/powerpoint/2010/main" val="1396670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compared to the previous visualization, the visualization here shows that in general States with stricter gun laws can be seen to have lower firearm mortality rates. The west and east coasts, along with the central-north area where we previously saw lower mortality rates show to have stricter gun laws. CO surprisingly has strong gun control laws but had a mortality rate of 16.6. </a:t>
            </a:r>
          </a:p>
          <a:p>
            <a:endParaRPr lang="en-US" dirty="0"/>
          </a:p>
          <a:p>
            <a:r>
              <a:rPr lang="en-US" dirty="0"/>
              <a:t>Our Likert scale was created in line with the Gifford’s gun law strength annual scorecard. A score of A equates to 5, B equates to 4, C equates to 3, D equates to 2, and F equates to 1. </a:t>
            </a:r>
          </a:p>
        </p:txBody>
      </p:sp>
      <p:sp>
        <p:nvSpPr>
          <p:cNvPr id="4" name="Slide Number Placeholder 3"/>
          <p:cNvSpPr>
            <a:spLocks noGrp="1"/>
          </p:cNvSpPr>
          <p:nvPr>
            <p:ph type="sldNum" sz="quarter" idx="5"/>
          </p:nvPr>
        </p:nvSpPr>
        <p:spPr/>
        <p:txBody>
          <a:bodyPr/>
          <a:lstStyle/>
          <a:p>
            <a:fld id="{B9640457-427F-42E4-9BCC-B8A41E68107B}" type="slidenum">
              <a:rPr lang="en-US" smtClean="0"/>
              <a:t>4</a:t>
            </a:fld>
            <a:endParaRPr lang="en-US"/>
          </a:p>
        </p:txBody>
      </p:sp>
    </p:spTree>
    <p:extLst>
      <p:ext uri="{BB962C8B-B14F-4D97-AF65-F5344CB8AC3E}">
        <p14:creationId xmlns:p14="http://schemas.microsoft.com/office/powerpoint/2010/main" val="1769537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have found in our study is that stricter firearm control laws can be seen to help reduce firearm mortality. As a concluding visualization, our heat map above highlights that although Likert scale 5, 4, and 3, are the minority of States, they report the lowest mortality rates. A significant change in firearm mortality rate can be seen going from 5 to 4 and  to 3. Our States that scored a 5 show multiple single digit rates.  </a:t>
            </a:r>
          </a:p>
        </p:txBody>
      </p:sp>
      <p:sp>
        <p:nvSpPr>
          <p:cNvPr id="4" name="Slide Number Placeholder 3"/>
          <p:cNvSpPr>
            <a:spLocks noGrp="1"/>
          </p:cNvSpPr>
          <p:nvPr>
            <p:ph type="sldNum" sz="quarter" idx="5"/>
          </p:nvPr>
        </p:nvSpPr>
        <p:spPr/>
        <p:txBody>
          <a:bodyPr/>
          <a:lstStyle/>
          <a:p>
            <a:fld id="{B9640457-427F-42E4-9BCC-B8A41E68107B}" type="slidenum">
              <a:rPr lang="en-US" smtClean="0"/>
              <a:t>5</a:t>
            </a:fld>
            <a:endParaRPr lang="en-US"/>
          </a:p>
        </p:txBody>
      </p:sp>
    </p:spTree>
    <p:extLst>
      <p:ext uri="{BB962C8B-B14F-4D97-AF65-F5344CB8AC3E}">
        <p14:creationId xmlns:p14="http://schemas.microsoft.com/office/powerpoint/2010/main" val="3735799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50643A-84E4-43E2-9B0A-8A65E3AA866F}"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349053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50643A-84E4-43E2-9B0A-8A65E3AA866F}"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2572700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50643A-84E4-43E2-9B0A-8A65E3AA866F}"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1595889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643A-84E4-43E2-9B0A-8A65E3AA866F}"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2380439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50643A-84E4-43E2-9B0A-8A65E3AA866F}"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244264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50643A-84E4-43E2-9B0A-8A65E3AA866F}" type="datetimeFigureOut">
              <a:rPr lang="en-US" smtClean="0"/>
              <a:t>10/12/2025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606774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50643A-84E4-43E2-9B0A-8A65E3AA866F}" type="datetimeFigureOut">
              <a:rPr lang="en-US" smtClean="0"/>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332322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50643A-84E4-43E2-9B0A-8A65E3AA866F}"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3281544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50643A-84E4-43E2-9B0A-8A65E3AA866F}"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3486239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50643A-84E4-43E2-9B0A-8A65E3AA866F}"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1512702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50643A-84E4-43E2-9B0A-8A65E3AA866F}"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356C76-AE37-4280-9A5C-34E7FAC3B752}" type="slidenum">
              <a:rPr lang="en-US" smtClean="0"/>
              <a:t>‹#›</a:t>
            </a:fld>
            <a:endParaRPr lang="en-US"/>
          </a:p>
        </p:txBody>
      </p:sp>
    </p:spTree>
    <p:extLst>
      <p:ext uri="{BB962C8B-B14F-4D97-AF65-F5344CB8AC3E}">
        <p14:creationId xmlns:p14="http://schemas.microsoft.com/office/powerpoint/2010/main" val="2805492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50643A-84E4-43E2-9B0A-8A65E3AA866F}" type="datetimeFigureOut">
              <a:rPr lang="en-US" smtClean="0"/>
              <a:t>10/12/2025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356C76-AE37-4280-9A5C-34E7FAC3B752}" type="slidenum">
              <a:rPr lang="en-US" smtClean="0"/>
              <a:t>‹#›</a:t>
            </a:fld>
            <a:endParaRPr lang="en-US"/>
          </a:p>
        </p:txBody>
      </p:sp>
    </p:spTree>
    <p:extLst>
      <p:ext uri="{BB962C8B-B14F-4D97-AF65-F5344CB8AC3E}">
        <p14:creationId xmlns:p14="http://schemas.microsoft.com/office/powerpoint/2010/main" val="1473624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ffords.org/lawcenter/resources/scorecard/?scorecard=CA" TargetMode="External"/><Relationship Id="rId2" Type="http://schemas.openxmlformats.org/officeDocument/2006/relationships/hyperlink" Target="https://www.cdc.gov/nchs/state-stats/deaths/firearms.html?CDC_AAref_Val=https://www.cdc.gov/nchs/pressroom/sosmap/firearm_mortality/firearm.ht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microsoft.com/office/2014/relationships/chartEx" Target="../charts/chartEx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4/relationships/chartEx" Target="../charts/chartEx3.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E1C79-65AB-C0B6-07BB-E2DEF805C696}"/>
              </a:ext>
            </a:extLst>
          </p:cNvPr>
          <p:cNvSpPr>
            <a:spLocks noGrp="1"/>
          </p:cNvSpPr>
          <p:nvPr>
            <p:ph type="ctrTitle"/>
          </p:nvPr>
        </p:nvSpPr>
        <p:spPr/>
        <p:txBody>
          <a:bodyPr>
            <a:normAutofit/>
          </a:bodyPr>
          <a:lstStyle/>
          <a:p>
            <a:r>
              <a:rPr lang="en-US" sz="5400" dirty="0"/>
              <a:t>Data Story 3: Firearm Deaths and Gun Laws</a:t>
            </a:r>
          </a:p>
        </p:txBody>
      </p:sp>
      <p:sp>
        <p:nvSpPr>
          <p:cNvPr id="3" name="Subtitle 2">
            <a:extLst>
              <a:ext uri="{FF2B5EF4-FFF2-40B4-BE49-F238E27FC236}">
                <a16:creationId xmlns:a16="http://schemas.microsoft.com/office/drawing/2014/main" id="{8B6176D4-C283-5A45-378F-E959E64A116E}"/>
              </a:ext>
            </a:extLst>
          </p:cNvPr>
          <p:cNvSpPr>
            <a:spLocks noGrp="1"/>
          </p:cNvSpPr>
          <p:nvPr>
            <p:ph type="subTitle" idx="1"/>
          </p:nvPr>
        </p:nvSpPr>
        <p:spPr/>
        <p:txBody>
          <a:bodyPr>
            <a:normAutofit/>
          </a:bodyPr>
          <a:lstStyle/>
          <a:p>
            <a:r>
              <a:rPr lang="en-US" dirty="0"/>
              <a:t>Brandon Chung</a:t>
            </a:r>
          </a:p>
          <a:p>
            <a:r>
              <a:rPr lang="en-US" dirty="0"/>
              <a:t>10/12/2025</a:t>
            </a:r>
          </a:p>
        </p:txBody>
      </p:sp>
    </p:spTree>
    <p:extLst>
      <p:ext uri="{BB962C8B-B14F-4D97-AF65-F5344CB8AC3E}">
        <p14:creationId xmlns:p14="http://schemas.microsoft.com/office/powerpoint/2010/main" val="3906373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D36F0-33EF-8CE1-5E0B-6B5265A70D83}"/>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B81796C1-8F66-371E-DCF0-9E6F85B39679}"/>
              </a:ext>
            </a:extLst>
          </p:cNvPr>
          <p:cNvSpPr>
            <a:spLocks noGrp="1"/>
          </p:cNvSpPr>
          <p:nvPr>
            <p:ph idx="1"/>
          </p:nvPr>
        </p:nvSpPr>
        <p:spPr/>
        <p:txBody>
          <a:bodyPr/>
          <a:lstStyle/>
          <a:p>
            <a:r>
              <a:rPr lang="en-US" dirty="0"/>
              <a:t>Research Question:</a:t>
            </a:r>
          </a:p>
          <a:p>
            <a:pPr lvl="1"/>
            <a:r>
              <a:rPr lang="en-US" b="1" dirty="0"/>
              <a:t>“Do stricter firearm control laws help reduce firearm mortality?”</a:t>
            </a:r>
          </a:p>
          <a:p>
            <a:pPr lvl="1"/>
            <a:endParaRPr lang="en-US" dirty="0"/>
          </a:p>
          <a:p>
            <a:pPr lvl="1"/>
            <a:endParaRPr lang="en-US" dirty="0"/>
          </a:p>
          <a:p>
            <a:r>
              <a:rPr lang="en-US" dirty="0"/>
              <a:t>Data Obtained:</a:t>
            </a:r>
          </a:p>
          <a:p>
            <a:pPr marL="914400" lvl="1" indent="-457200">
              <a:buAutoNum type="arabicPeriod"/>
            </a:pPr>
            <a:r>
              <a:rPr lang="en-US" b="1" dirty="0"/>
              <a:t>Mortality Rate </a:t>
            </a:r>
            <a:r>
              <a:rPr lang="en-US" dirty="0"/>
              <a:t>by State data obtained via exporting from CDC </a:t>
            </a:r>
            <a:r>
              <a:rPr lang="en-US" dirty="0">
                <a:hlinkClick r:id="rId2"/>
              </a:rPr>
              <a:t>website.</a:t>
            </a:r>
            <a:endParaRPr lang="en-US" dirty="0"/>
          </a:p>
          <a:p>
            <a:pPr marL="914400" lvl="1" indent="-457200">
              <a:buAutoNum type="arabicPeriod"/>
            </a:pPr>
            <a:r>
              <a:rPr lang="en-US" b="1" dirty="0"/>
              <a:t>Gun Law Strength Rankings </a:t>
            </a:r>
            <a:r>
              <a:rPr lang="en-US" dirty="0"/>
              <a:t>by state obtained via manual extraction from Gifford’s gun law strength</a:t>
            </a:r>
            <a:r>
              <a:rPr lang="en-US" dirty="0">
                <a:hlinkClick r:id="rId3"/>
              </a:rPr>
              <a:t> 2023 annual scorecard.</a:t>
            </a:r>
            <a:endParaRPr lang="en-US" b="1" dirty="0"/>
          </a:p>
        </p:txBody>
      </p:sp>
    </p:spTree>
    <p:extLst>
      <p:ext uri="{BB962C8B-B14F-4D97-AF65-F5344CB8AC3E}">
        <p14:creationId xmlns:p14="http://schemas.microsoft.com/office/powerpoint/2010/main" val="366912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4="http://schemas.microsoft.com/office/drawing/2016/5/10/chartex">
        <mc:Choice Requires="cx4">
          <p:graphicFrame>
            <p:nvGraphicFramePr>
              <p:cNvPr id="13" name="Content Placeholder 12">
                <a:extLst>
                  <a:ext uri="{FF2B5EF4-FFF2-40B4-BE49-F238E27FC236}">
                    <a16:creationId xmlns:a16="http://schemas.microsoft.com/office/drawing/2014/main" id="{555023FC-CA6E-7820-FDF9-8BC90A70DAD8}"/>
                  </a:ext>
                </a:extLst>
              </p:cNvPr>
              <p:cNvGraphicFramePr>
                <a:graphicFrameLocks noGrp="1"/>
              </p:cNvGraphicFramePr>
              <p:nvPr>
                <p:ph idx="1"/>
                <p:extLst>
                  <p:ext uri="{D42A27DB-BD31-4B8C-83A1-F6EECF244321}">
                    <p14:modId xmlns:p14="http://schemas.microsoft.com/office/powerpoint/2010/main" val="2908364141"/>
                  </p:ext>
                </p:extLst>
              </p:nvPr>
            </p:nvGraphicFramePr>
            <p:xfrm>
              <a:off x="838200" y="501445"/>
              <a:ext cx="10515600" cy="5675518"/>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3" name="Content Placeholder 12">
                <a:extLst>
                  <a:ext uri="{FF2B5EF4-FFF2-40B4-BE49-F238E27FC236}">
                    <a16:creationId xmlns:a16="http://schemas.microsoft.com/office/drawing/2014/main" id="{555023FC-CA6E-7820-FDF9-8BC90A70DAD8}"/>
                  </a:ext>
                </a:extLst>
              </p:cNvPr>
              <p:cNvPicPr>
                <a:picLocks noGrp="1" noRot="1" noChangeAspect="1" noMove="1" noResize="1" noEditPoints="1" noAdjustHandles="1" noChangeArrowheads="1" noChangeShapeType="1"/>
              </p:cNvPicPr>
              <p:nvPr/>
            </p:nvPicPr>
            <p:blipFill>
              <a:blip r:embed="rId4"/>
              <a:stretch>
                <a:fillRect/>
              </a:stretch>
            </p:blipFill>
            <p:spPr>
              <a:xfrm>
                <a:off x="838200" y="501445"/>
                <a:ext cx="10515600" cy="5675518"/>
              </a:xfrm>
              <a:prstGeom prst="rect">
                <a:avLst/>
              </a:prstGeom>
            </p:spPr>
          </p:pic>
        </mc:Fallback>
      </mc:AlternateContent>
    </p:spTree>
    <p:extLst>
      <p:ext uri="{BB962C8B-B14F-4D97-AF65-F5344CB8AC3E}">
        <p14:creationId xmlns:p14="http://schemas.microsoft.com/office/powerpoint/2010/main" val="814256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4="http://schemas.microsoft.com/office/drawing/2016/5/10/chartex">
        <mc:Choice Requires="cx4">
          <p:graphicFrame>
            <p:nvGraphicFramePr>
              <p:cNvPr id="6" name="Content Placeholder 5">
                <a:extLst>
                  <a:ext uri="{FF2B5EF4-FFF2-40B4-BE49-F238E27FC236}">
                    <a16:creationId xmlns:a16="http://schemas.microsoft.com/office/drawing/2014/main" id="{91209D55-CD71-8420-F42A-BE4B7650EF8C}"/>
                  </a:ext>
                </a:extLst>
              </p:cNvPr>
              <p:cNvGraphicFramePr>
                <a:graphicFrameLocks noGrp="1"/>
              </p:cNvGraphicFramePr>
              <p:nvPr>
                <p:ph idx="1"/>
                <p:extLst>
                  <p:ext uri="{D42A27DB-BD31-4B8C-83A1-F6EECF244321}">
                    <p14:modId xmlns:p14="http://schemas.microsoft.com/office/powerpoint/2010/main" val="2224462144"/>
                  </p:ext>
                </p:extLst>
              </p:nvPr>
            </p:nvGraphicFramePr>
            <p:xfrm>
              <a:off x="838200" y="548640"/>
              <a:ext cx="10515600" cy="5628323"/>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6" name="Content Placeholder 5">
                <a:extLst>
                  <a:ext uri="{FF2B5EF4-FFF2-40B4-BE49-F238E27FC236}">
                    <a16:creationId xmlns:a16="http://schemas.microsoft.com/office/drawing/2014/main" id="{91209D55-CD71-8420-F42A-BE4B7650EF8C}"/>
                  </a:ext>
                </a:extLst>
              </p:cNvPr>
              <p:cNvPicPr>
                <a:picLocks noGrp="1" noRot="1" noChangeAspect="1" noMove="1" noResize="1" noEditPoints="1" noAdjustHandles="1" noChangeArrowheads="1" noChangeShapeType="1"/>
              </p:cNvPicPr>
              <p:nvPr/>
            </p:nvPicPr>
            <p:blipFill>
              <a:blip r:embed="rId4"/>
              <a:stretch>
                <a:fillRect/>
              </a:stretch>
            </p:blipFill>
            <p:spPr>
              <a:xfrm>
                <a:off x="838200" y="548640"/>
                <a:ext cx="10515600" cy="5628323"/>
              </a:xfrm>
              <a:prstGeom prst="rect">
                <a:avLst/>
              </a:prstGeom>
            </p:spPr>
          </p:pic>
        </mc:Fallback>
      </mc:AlternateContent>
    </p:spTree>
    <p:extLst>
      <p:ext uri="{BB962C8B-B14F-4D97-AF65-F5344CB8AC3E}">
        <p14:creationId xmlns:p14="http://schemas.microsoft.com/office/powerpoint/2010/main" val="2639875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6" name="Content Placeholder 5">
                <a:extLst>
                  <a:ext uri="{FF2B5EF4-FFF2-40B4-BE49-F238E27FC236}">
                    <a16:creationId xmlns:a16="http://schemas.microsoft.com/office/drawing/2014/main" id="{4D987E8A-C696-0CFD-4C68-A1AB86638443}"/>
                  </a:ext>
                </a:extLst>
              </p:cNvPr>
              <p:cNvGraphicFramePr>
                <a:graphicFrameLocks noGrp="1"/>
              </p:cNvGraphicFramePr>
              <p:nvPr>
                <p:ph idx="1"/>
                <p:extLst>
                  <p:ext uri="{D42A27DB-BD31-4B8C-83A1-F6EECF244321}">
                    <p14:modId xmlns:p14="http://schemas.microsoft.com/office/powerpoint/2010/main" val="490515491"/>
                  </p:ext>
                </p:extLst>
              </p:nvPr>
            </p:nvGraphicFramePr>
            <p:xfrm>
              <a:off x="838200" y="322729"/>
              <a:ext cx="10515600" cy="585423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6" name="Content Placeholder 5">
                <a:extLst>
                  <a:ext uri="{FF2B5EF4-FFF2-40B4-BE49-F238E27FC236}">
                    <a16:creationId xmlns:a16="http://schemas.microsoft.com/office/drawing/2014/main" id="{4D987E8A-C696-0CFD-4C68-A1AB86638443}"/>
                  </a:ext>
                </a:extLst>
              </p:cNvPr>
              <p:cNvPicPr>
                <a:picLocks noGrp="1" noRot="1" noChangeAspect="1" noMove="1" noResize="1" noEditPoints="1" noAdjustHandles="1" noChangeArrowheads="1" noChangeShapeType="1"/>
              </p:cNvPicPr>
              <p:nvPr/>
            </p:nvPicPr>
            <p:blipFill>
              <a:blip r:embed="rId4"/>
              <a:stretch>
                <a:fillRect/>
              </a:stretch>
            </p:blipFill>
            <p:spPr>
              <a:xfrm>
                <a:off x="838200" y="322729"/>
                <a:ext cx="10515600" cy="5854234"/>
              </a:xfrm>
              <a:prstGeom prst="rect">
                <a:avLst/>
              </a:prstGeom>
            </p:spPr>
          </p:pic>
        </mc:Fallback>
      </mc:AlternateContent>
    </p:spTree>
    <p:extLst>
      <p:ext uri="{BB962C8B-B14F-4D97-AF65-F5344CB8AC3E}">
        <p14:creationId xmlns:p14="http://schemas.microsoft.com/office/powerpoint/2010/main" val="928697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0FDE8-E9C7-F8DC-3338-123380F1BC8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73D3E90-68CC-22B0-3660-0549B50F4EA0}"/>
              </a:ext>
            </a:extLst>
          </p:cNvPr>
          <p:cNvSpPr>
            <a:spLocks noGrp="1"/>
          </p:cNvSpPr>
          <p:nvPr>
            <p:ph idx="1"/>
          </p:nvPr>
        </p:nvSpPr>
        <p:spPr/>
        <p:txBody>
          <a:bodyPr/>
          <a:lstStyle/>
          <a:p>
            <a:r>
              <a:rPr lang="en-US" dirty="0"/>
              <a:t>States with a </a:t>
            </a:r>
            <a:r>
              <a:rPr lang="en-US" b="1" dirty="0"/>
              <a:t>higher Likert score </a:t>
            </a:r>
            <a:r>
              <a:rPr lang="en-US" dirty="0"/>
              <a:t>for firearm control law strength boasted </a:t>
            </a:r>
            <a:r>
              <a:rPr lang="en-US" b="1" dirty="0"/>
              <a:t>lower firearm mortality </a:t>
            </a:r>
            <a:r>
              <a:rPr lang="en-US" dirty="0"/>
              <a:t>rates in 2023. </a:t>
            </a:r>
          </a:p>
          <a:p>
            <a:endParaRPr lang="en-US" dirty="0"/>
          </a:p>
          <a:p>
            <a:r>
              <a:rPr lang="en-US" dirty="0"/>
              <a:t>A correlation calculation done on the 1-5 Likert created, and the firearms mortality rate shows a </a:t>
            </a:r>
            <a:r>
              <a:rPr lang="en-US" u="sng" dirty="0"/>
              <a:t>-0.6564 correlation</a:t>
            </a:r>
            <a:r>
              <a:rPr lang="en-US" dirty="0"/>
              <a:t>. In real world terms, for each point a state increases on our Likert scale, the state’s mortality rate per 100,000 people decreases by 0.6564. </a:t>
            </a:r>
          </a:p>
          <a:p>
            <a:endParaRPr lang="en-US" dirty="0"/>
          </a:p>
          <a:p>
            <a:endParaRPr lang="en-US" dirty="0"/>
          </a:p>
        </p:txBody>
      </p:sp>
    </p:spTree>
    <p:extLst>
      <p:ext uri="{BB962C8B-B14F-4D97-AF65-F5344CB8AC3E}">
        <p14:creationId xmlns:p14="http://schemas.microsoft.com/office/powerpoint/2010/main" val="3709459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164</TotalTime>
  <Words>549</Words>
  <Application>Microsoft Office PowerPoint</Application>
  <PresentationFormat>Widescreen</PresentationFormat>
  <Paragraphs>28</Paragraphs>
  <Slides>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Calibri Light</vt:lpstr>
      <vt:lpstr>Office 2013 - 2022 Theme</vt:lpstr>
      <vt:lpstr>Data Story 3: Firearm Deaths and Gun Laws</vt:lpstr>
      <vt:lpstr>Introduction </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Brandon Chung</dc:creator>
  <cp:lastModifiedBy>Brandon Chung</cp:lastModifiedBy>
  <cp:revision>3</cp:revision>
  <dcterms:created xsi:type="dcterms:W3CDTF">2025-10-12T20:54:31Z</dcterms:created>
  <dcterms:modified xsi:type="dcterms:W3CDTF">2025-10-12T23:40:58Z</dcterms:modified>
</cp:coreProperties>
</file>